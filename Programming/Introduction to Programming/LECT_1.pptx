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65" r:id="rId17"/>
    <p:sldId id="274" r:id="rId18"/>
    <p:sldId id="275" r:id="rId19"/>
    <p:sldId id="276" r:id="rId20"/>
    <p:sldId id="264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0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2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26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0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1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3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72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6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2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20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3F8D6C7-2C03-4C87-AC61-ABBEA32B571B}" type="datetimeFigureOut">
              <a:rPr lang="en-US" smtClean="0"/>
              <a:t>2020-12-10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784E322-48FC-4B1E-AC81-391E9E1F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5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CP%20111.docx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An overview of programming languages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LECT_ONE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584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Descriptions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Course </a:t>
            </a:r>
            <a:r>
              <a:rPr lang="en-US" dirty="0" smtClean="0">
                <a:hlinkClick r:id="rId2" action="ppaction://hlinkfile"/>
              </a:rPr>
              <a:t>Descriptions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11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What is computer?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Arial Rounded MT Bold" panose="020F0704030504030204" pitchFamily="34" charset="0"/>
              </a:rPr>
              <a:t>A computer is an electronic device that accepts data, store the data, manipulate data and give the output</a:t>
            </a:r>
          </a:p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A</a:t>
            </a:r>
            <a:r>
              <a:rPr lang="en-US" sz="2400" dirty="0" smtClean="0">
                <a:latin typeface="Arial Rounded MT Bold" panose="020F0704030504030204" pitchFamily="34" charset="0"/>
              </a:rPr>
              <a:t>n </a:t>
            </a:r>
            <a:r>
              <a:rPr lang="en-US" sz="2400" dirty="0">
                <a:latin typeface="Arial Rounded MT Bold" panose="020F0704030504030204" pitchFamily="34" charset="0"/>
              </a:rPr>
              <a:t>electronic device for storing and processing data, typically in binary form, according to instructions given to it in a variable program</a:t>
            </a:r>
            <a:endParaRPr lang="en-US" sz="24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A </a:t>
            </a:r>
            <a:r>
              <a:rPr lang="en-US" sz="2400" b="1" dirty="0">
                <a:latin typeface="Arial Rounded MT Bold" panose="020F0704030504030204" pitchFamily="34" charset="0"/>
              </a:rPr>
              <a:t>computer</a:t>
            </a:r>
            <a:r>
              <a:rPr lang="en-US" sz="2400" dirty="0">
                <a:latin typeface="Arial Rounded MT Bold" panose="020F0704030504030204" pitchFamily="34" charset="0"/>
              </a:rPr>
              <a:t> is a machine that can be instructed to carry out sequences of arithmetic or logical operations automatically via </a:t>
            </a:r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computer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programming.</a:t>
            </a:r>
          </a:p>
        </p:txBody>
      </p:sp>
    </p:spTree>
    <p:extLst>
      <p:ext uri="{BB962C8B-B14F-4D97-AF65-F5344CB8AC3E}">
        <p14:creationId xmlns:p14="http://schemas.microsoft.com/office/powerpoint/2010/main" val="162328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Computer Programming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A </a:t>
            </a:r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computer program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latin typeface="Arial Rounded MT Bold" panose="020F0704030504030204" pitchFamily="34" charset="0"/>
              </a:rPr>
              <a:t>is a collection of instructions that can be executed by a </a:t>
            </a:r>
            <a:r>
              <a:rPr lang="en-US" sz="2400" b="1" dirty="0">
                <a:latin typeface="Arial Rounded MT Bold" panose="020F0704030504030204" pitchFamily="34" charset="0"/>
              </a:rPr>
              <a:t>computer</a:t>
            </a:r>
            <a:r>
              <a:rPr lang="en-US" sz="2400" dirty="0">
                <a:latin typeface="Arial Rounded MT Bold" panose="020F0704030504030204" pitchFamily="34" charset="0"/>
              </a:rPr>
              <a:t> to perform a specific task</a:t>
            </a:r>
            <a:r>
              <a:rPr lang="en-US" sz="2400" dirty="0" smtClean="0">
                <a:latin typeface="Arial Rounded MT Bold" panose="020F0704030504030204" pitchFamily="34" charset="0"/>
              </a:rPr>
              <a:t>.</a:t>
            </a:r>
          </a:p>
          <a:p>
            <a:pPr algn="just"/>
            <a:r>
              <a:rPr lang="en-US" sz="2400" dirty="0" smtClean="0"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latin typeface="Arial Rounded MT Bold" panose="020F0704030504030204" pitchFamily="34" charset="0"/>
              </a:rPr>
              <a:t>A </a:t>
            </a:r>
            <a:r>
              <a:rPr lang="en-US" sz="2400" b="1" dirty="0">
                <a:latin typeface="Arial Rounded MT Bold" panose="020F0704030504030204" pitchFamily="34" charset="0"/>
              </a:rPr>
              <a:t>computer program</a:t>
            </a:r>
            <a:r>
              <a:rPr lang="en-US" sz="2400" dirty="0">
                <a:latin typeface="Arial Rounded MT Bold" panose="020F0704030504030204" pitchFamily="34" charset="0"/>
              </a:rPr>
              <a:t> is usually written by a </a:t>
            </a:r>
            <a:r>
              <a:rPr lang="en-US" sz="2400" b="1" dirty="0">
                <a:latin typeface="Arial Rounded MT Bold" panose="020F0704030504030204" pitchFamily="34" charset="0"/>
              </a:rPr>
              <a:t>computer programmer</a:t>
            </a:r>
            <a:r>
              <a:rPr lang="en-US" sz="2400" dirty="0">
                <a:latin typeface="Arial Rounded MT Bold" panose="020F0704030504030204" pitchFamily="34" charset="0"/>
              </a:rPr>
              <a:t> in a </a:t>
            </a:r>
            <a:r>
              <a:rPr lang="en-US" sz="2400" b="1" dirty="0">
                <a:latin typeface="Arial Rounded MT Bold" panose="020F0704030504030204" pitchFamily="34" charset="0"/>
              </a:rPr>
              <a:t>programming</a:t>
            </a:r>
            <a:r>
              <a:rPr lang="en-US" sz="2400" dirty="0">
                <a:latin typeface="Arial Rounded MT Bold" panose="020F0704030504030204" pitchFamily="34" charset="0"/>
              </a:rPr>
              <a:t> language.</a:t>
            </a:r>
            <a:endParaRPr lang="en-US" sz="2400" b="1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4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Computer </a:t>
            </a:r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programming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latin typeface="Arial Rounded MT Bold" panose="020F0704030504030204" pitchFamily="34" charset="0"/>
              </a:rPr>
              <a:t>is the process that professionals use to write code that instructs how a </a:t>
            </a:r>
            <a:r>
              <a:rPr lang="en-US" sz="2400" b="1" dirty="0">
                <a:latin typeface="Arial Rounded MT Bold" panose="020F0704030504030204" pitchFamily="34" charset="0"/>
              </a:rPr>
              <a:t>computer</a:t>
            </a:r>
            <a:r>
              <a:rPr lang="en-US" sz="2400" dirty="0">
                <a:latin typeface="Arial Rounded MT Bold" panose="020F0704030504030204" pitchFamily="34" charset="0"/>
              </a:rPr>
              <a:t>, application or software </a:t>
            </a:r>
            <a:r>
              <a:rPr lang="en-US" sz="2400" b="1" dirty="0">
                <a:latin typeface="Arial Rounded MT Bold" panose="020F0704030504030204" pitchFamily="34" charset="0"/>
              </a:rPr>
              <a:t>program</a:t>
            </a:r>
            <a:r>
              <a:rPr lang="en-US" sz="2400" dirty="0">
                <a:latin typeface="Arial Rounded MT Bold" panose="020F0704030504030204" pitchFamily="34" charset="0"/>
              </a:rPr>
              <a:t> performs. </a:t>
            </a:r>
          </a:p>
          <a:p>
            <a:pPr algn="just"/>
            <a:r>
              <a:rPr lang="en-US" sz="2400" dirty="0" smtClean="0">
                <a:latin typeface="Arial Rounded MT Bold" panose="020F070403050403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Computer programmers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latin typeface="Arial Rounded MT Bold" panose="020F0704030504030204" pitchFamily="34" charset="0"/>
              </a:rPr>
              <a:t>create instructions for a </a:t>
            </a:r>
            <a:r>
              <a:rPr lang="en-US" sz="2400" b="1" dirty="0">
                <a:latin typeface="Arial Rounded MT Bold" panose="020F0704030504030204" pitchFamily="34" charset="0"/>
              </a:rPr>
              <a:t>computer</a:t>
            </a:r>
            <a:r>
              <a:rPr lang="en-US" sz="2400" dirty="0">
                <a:latin typeface="Arial Rounded MT Bold" panose="020F0704030504030204" pitchFamily="34" charset="0"/>
              </a:rPr>
              <a:t> to execute by writing and testing code that enables applications and software programs to operate successfully.</a:t>
            </a:r>
          </a:p>
        </p:txBody>
      </p:sp>
    </p:spTree>
    <p:extLst>
      <p:ext uri="{BB962C8B-B14F-4D97-AF65-F5344CB8AC3E}">
        <p14:creationId xmlns:p14="http://schemas.microsoft.com/office/powerpoint/2010/main" val="393803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3361" y="1441894"/>
            <a:ext cx="7126287" cy="310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4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 smtClean="0">
                <a:latin typeface="Arial Rounded MT Bold" panose="020F0704030504030204" pitchFamily="34" charset="0"/>
              </a:rPr>
              <a:t>The </a:t>
            </a:r>
            <a:r>
              <a:rPr lang="en-US" sz="2400" dirty="0">
                <a:latin typeface="Arial Rounded MT Bold" panose="020F0704030504030204" pitchFamily="34" charset="0"/>
              </a:rPr>
              <a:t>term 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problem</a:t>
            </a:r>
            <a:r>
              <a:rPr lang="en-US" sz="2400" dirty="0">
                <a:latin typeface="Arial Rounded MT Bold" panose="020F0704030504030204" pitchFamily="34" charset="0"/>
              </a:rPr>
              <a:t> is used to refer to a situation where it is not immediately obvious how to reach the goal. </a:t>
            </a:r>
            <a:endParaRPr lang="en-US" sz="24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400" dirty="0" smtClean="0">
                <a:latin typeface="Arial Rounded MT Bold" panose="020F0704030504030204" pitchFamily="34" charset="0"/>
              </a:rPr>
              <a:t>The </a:t>
            </a:r>
            <a:r>
              <a:rPr lang="en-US" sz="2400" dirty="0">
                <a:latin typeface="Arial Rounded MT Bold" panose="020F0704030504030204" pitchFamily="34" charset="0"/>
              </a:rPr>
              <a:t>exact same situation can be a problem for one person and not a problem (perhaps just a simple activity or routine exercise) for another person.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33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Arial Rounded MT Bold" panose="020F0704030504030204" pitchFamily="34" charset="0"/>
              </a:rPr>
              <a:t>Problem solving consists of moving from a given initial situation to a desired goal situation.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That </a:t>
            </a:r>
            <a:r>
              <a:rPr lang="en-US" sz="2800" dirty="0">
                <a:latin typeface="Arial Rounded MT Bold" panose="020F0704030504030204" pitchFamily="34" charset="0"/>
              </a:rPr>
              <a:t>is, problem solving is the process of designing and carrying out a set of steps to reach a goal</a:t>
            </a:r>
          </a:p>
        </p:txBody>
      </p:sp>
    </p:spTree>
    <p:extLst>
      <p:ext uri="{BB962C8B-B14F-4D97-AF65-F5344CB8AC3E}">
        <p14:creationId xmlns:p14="http://schemas.microsoft.com/office/powerpoint/2010/main" val="1005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The </a:t>
            </a:r>
            <a:r>
              <a:rPr lang="en-US" sz="2800" dirty="0">
                <a:latin typeface="Arial Rounded MT Bold" panose="020F0704030504030204" pitchFamily="34" charset="0"/>
              </a:rPr>
              <a:t>aspect of moving toward a well-defined problem and solving a problem is very important.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It </a:t>
            </a:r>
            <a:r>
              <a:rPr lang="en-US" sz="2800" dirty="0">
                <a:latin typeface="Arial Rounded MT Bold" panose="020F0704030504030204" pitchFamily="34" charset="0"/>
              </a:rPr>
              <a:t>is a higher-order thinking aspect of problem solving.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There </a:t>
            </a:r>
            <a:r>
              <a:rPr lang="en-US" sz="2800" dirty="0">
                <a:latin typeface="Arial Rounded MT Bold" panose="020F0704030504030204" pitchFamily="34" charset="0"/>
              </a:rPr>
              <a:t>are many complex problems that simply overwhelm a brain’s ability to hold in active mind the various components and to think through the various possibilities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11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Arial Rounded MT Bold" panose="020F0704030504030204" pitchFamily="34" charset="0"/>
              </a:rPr>
              <a:t>Other problem representations, such as through writing and mathematics, are useful because they are a supplement to your brain.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Written </a:t>
            </a:r>
            <a:r>
              <a:rPr lang="en-US" sz="2800" dirty="0">
                <a:latin typeface="Arial Rounded MT Bold" panose="020F0704030504030204" pitchFamily="34" charset="0"/>
              </a:rPr>
              <a:t>representations of problems facilitate sharing with yourself and others over time and distance</a:t>
            </a:r>
            <a:r>
              <a:rPr lang="en-US" sz="2800" dirty="0" smtClean="0">
                <a:latin typeface="Arial Rounded MT Bold" panose="020F0704030504030204" pitchFamily="34" charset="0"/>
              </a:rPr>
              <a:t>.</a:t>
            </a: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latin typeface="Arial Rounded MT Bold" panose="020F0704030504030204" pitchFamily="34" charset="0"/>
              </a:rPr>
              <a:t>However, a written model is not as easily changed as a mental model. 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70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800" dirty="0">
                <a:latin typeface="Arial Rounded MT Bold" panose="020F0704030504030204" pitchFamily="34" charset="0"/>
              </a:rPr>
              <a:t>Many problems can be represented in a form so that a computer can process the representation and perhaps help to solve the problem.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For </a:t>
            </a:r>
            <a:r>
              <a:rPr lang="en-US" sz="2800" dirty="0">
                <a:latin typeface="Arial Rounded MT Bold" panose="020F0704030504030204" pitchFamily="34" charset="0"/>
              </a:rPr>
              <a:t>example, a </a:t>
            </a:r>
            <a:r>
              <a:rPr lang="en-US" sz="2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spreadsheet</a:t>
            </a:r>
            <a:r>
              <a:rPr lang="en-US" sz="2800" dirty="0">
                <a:latin typeface="Arial Rounded MT Bold" panose="020F0704030504030204" pitchFamily="34" charset="0"/>
              </a:rPr>
              <a:t> can be used to represent payroll problems and can be used to explore the cost of possible changes in rates of pay.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A </a:t>
            </a:r>
            <a:r>
              <a:rPr lang="en-US" sz="2800" dirty="0">
                <a:latin typeface="Arial Rounded MT Bold" panose="020F0704030504030204" pitchFamily="34" charset="0"/>
              </a:rPr>
              <a:t>computer can be used to represent a </a:t>
            </a:r>
            <a:r>
              <a:rPr lang="en-US" sz="2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photograph, </a:t>
            </a:r>
            <a:r>
              <a:rPr lang="en-US" sz="2800" dirty="0">
                <a:latin typeface="Arial Rounded MT Bold" panose="020F0704030504030204" pitchFamily="34" charset="0"/>
              </a:rPr>
              <a:t>and then used to manipulate the photograph to change certain features.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A </a:t>
            </a:r>
            <a:r>
              <a:rPr lang="en-US" sz="2800" dirty="0">
                <a:latin typeface="Arial Rounded MT Bold" panose="020F0704030504030204" pitchFamily="34" charset="0"/>
              </a:rPr>
              <a:t>computer can store maps of a territory in a manner that facilitates using a computer to help solve problems concerning the territory. 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59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Arial Rounded MT Bold" panose="020F0704030504030204" pitchFamily="34" charset="0"/>
              </a:rPr>
              <a:t>All of these are examples of computer modeling—the computer representation of problems.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For </a:t>
            </a:r>
            <a:r>
              <a:rPr lang="en-US" sz="2800" dirty="0">
                <a:latin typeface="Arial Rounded MT Bold" panose="020F0704030504030204" pitchFamily="34" charset="0"/>
              </a:rPr>
              <a:t>some problems, a computer model has some of the same characteristics as a mental model</a:t>
            </a:r>
            <a:r>
              <a:rPr lang="en-US" sz="2800" dirty="0" smtClean="0">
                <a:latin typeface="Arial Rounded MT Bold" panose="020F0704030504030204" pitchFamily="34" charset="0"/>
              </a:rPr>
              <a:t>.</a:t>
            </a: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latin typeface="Arial Rounded MT Bold" panose="020F0704030504030204" pitchFamily="34" charset="0"/>
              </a:rPr>
              <a:t>Some computer models are easy to change and allow easy exploration of alternatives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33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Arial Rounded MT Bold" panose="020F0704030504030204" pitchFamily="34" charset="0"/>
              </a:rPr>
              <a:t>For example, suppose the problem that you face (that is, the task you want to accomplish) is writing a report on some work that you have done.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You </a:t>
            </a:r>
            <a:r>
              <a:rPr lang="en-US" sz="2800" dirty="0">
                <a:latin typeface="Arial Rounded MT Bold" panose="020F0704030504030204" pitchFamily="34" charset="0"/>
              </a:rPr>
              <a:t>are probably familiar with the six steps of process </a:t>
            </a:r>
            <a:r>
              <a:rPr lang="en-US" sz="2800" dirty="0" smtClean="0">
                <a:latin typeface="Arial Rounded MT Bold" panose="020F0704030504030204" pitchFamily="34" charset="0"/>
              </a:rPr>
              <a:t>writing</a:t>
            </a:r>
          </a:p>
          <a:p>
            <a:r>
              <a:rPr lang="en-US" sz="2800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Brainstorming, organizing the </a:t>
            </a:r>
            <a:r>
              <a:rPr lang="en-US" sz="2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brainstormed </a:t>
            </a:r>
            <a:r>
              <a:rPr lang="en-US" sz="2800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ideas, developing </a:t>
            </a:r>
            <a:r>
              <a:rPr lang="en-US" sz="2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a </a:t>
            </a:r>
            <a:r>
              <a:rPr lang="en-US" sz="2800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draft, </a:t>
            </a:r>
            <a:r>
              <a:rPr lang="en-US" sz="2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obtaining </a:t>
            </a:r>
            <a:r>
              <a:rPr lang="en-US" sz="2800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feedback, revising (which </a:t>
            </a:r>
            <a:r>
              <a:rPr lang="en-US" sz="2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may involve going back to earlier </a:t>
            </a:r>
            <a:r>
              <a:rPr lang="en-US" sz="2800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steps),  </a:t>
            </a:r>
            <a:r>
              <a:rPr lang="en-US" sz="2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publishing </a:t>
            </a:r>
            <a:endParaRPr lang="en-US" sz="28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09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800" dirty="0">
                <a:latin typeface="Arial Rounded MT Bold" panose="020F0704030504030204" pitchFamily="34" charset="0"/>
              </a:rPr>
              <a:t>When you write using a word processor, you are producing a computer model of a written document.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You </a:t>
            </a:r>
            <a:r>
              <a:rPr lang="en-US" sz="2800" dirty="0">
                <a:latin typeface="Arial Rounded MT Bold" panose="020F0704030504030204" pitchFamily="34" charset="0"/>
              </a:rPr>
              <a:t>know, of course, that a key to high quality writing is "revise, revise, revise."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This </a:t>
            </a:r>
            <a:r>
              <a:rPr lang="en-US" sz="2800" dirty="0">
                <a:latin typeface="Arial Rounded MT Bold" panose="020F0704030504030204" pitchFamily="34" charset="0"/>
              </a:rPr>
              <a:t>is much more easily done with a computer model of a document than it is with a paper and pencil model of a document.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In </a:t>
            </a:r>
            <a:r>
              <a:rPr lang="en-US" sz="2800" dirty="0">
                <a:latin typeface="Arial Rounded MT Bold" panose="020F0704030504030204" pitchFamily="34" charset="0"/>
              </a:rPr>
              <a:t>addition, a computer can assist in spell checking and grammar checking, and it can be used to produce a nicely formatted final product</a:t>
            </a:r>
            <a:endParaRPr lang="en-US" sz="28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6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Arial Rounded MT Bold" panose="020F0704030504030204" pitchFamily="34" charset="0"/>
              </a:rPr>
              <a:t>In the representation of problems, computers are very useful in some cases and not at all useful in others</a:t>
            </a:r>
            <a:r>
              <a:rPr lang="en-US" sz="2800" dirty="0" smtClean="0">
                <a:latin typeface="Arial Rounded MT Bold" panose="020F0704030504030204" pitchFamily="34" charset="0"/>
              </a:rPr>
              <a:t>.</a:t>
            </a: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latin typeface="Arial Rounded MT Bold" panose="020F0704030504030204" pitchFamily="34" charset="0"/>
              </a:rPr>
              <a:t>For example, a computer can easily present data in a variety of graphical formats, such as line graph, bar graph, or in the form of graphs of two- and three-dimensional mathematical functions. </a:t>
            </a:r>
            <a:endParaRPr lang="en-US" sz="2800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</a:rPr>
              <a:t>This </a:t>
            </a:r>
            <a:r>
              <a:rPr lang="en-US" sz="2800" dirty="0">
                <a:latin typeface="Arial Rounded MT Bold" panose="020F0704030504030204" pitchFamily="34" charset="0"/>
              </a:rPr>
              <a:t>can be very useful in solving problems that involve a lot of data. </a:t>
            </a:r>
            <a:endParaRPr lang="en-US" sz="28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98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computers and computer Programming in problem solving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But a computer may not be a good </a:t>
            </a:r>
            <a:endParaRPr lang="en-US" sz="2800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Suppose </a:t>
            </a:r>
            <a:r>
              <a:rPr lang="en-US"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that one's mental representation of a problem is in </a:t>
            </a:r>
            <a:r>
              <a:rPr lang="en-US" sz="28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terms </a:t>
            </a:r>
            <a:r>
              <a:rPr lang="en-US" sz="28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smells, and feelings. </a:t>
            </a:r>
            <a:endParaRPr lang="en-US" sz="2800" dirty="0" smtClean="0">
              <a:solidFill>
                <a:srgbClr val="00B0F0"/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Research </a:t>
            </a:r>
            <a:r>
              <a:rPr lang="en-US"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that delved into the inner workings of the minds of successful researchers and inventors suggests this is common and perhaps necessary</a:t>
            </a:r>
            <a:r>
              <a:rPr lang="en-US" sz="28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 computer may be of little use in representing such a mental model. </a:t>
            </a:r>
            <a:endParaRPr lang="en-US" sz="28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72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 of Computer Models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One of the two winners of the 1998 Nobel Prize in Chemistry was awarded the prize for his work in Computational Chemistry</a:t>
            </a:r>
            <a:r>
              <a:rPr lang="en-US" sz="24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For more than 15 years, he had been developing computer models of chemistry processes</a:t>
            </a:r>
            <a:r>
              <a:rPr lang="en-US" sz="24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Similar progress has occurred in all of the sciences. </a:t>
            </a:r>
            <a:endParaRPr lang="en-US" sz="2400" dirty="0" smtClean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example, in Physics it used to be that a research physicist was classified as either a theoretical physicist or an experimental physicist. </a:t>
            </a:r>
            <a:endParaRPr lang="en-US" sz="2400" dirty="0" smtClean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Now </a:t>
            </a:r>
            <a:r>
              <a:rPr lang="en-US" sz="24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there is a third category—a computational physicist. </a:t>
            </a:r>
            <a:endParaRPr lang="en-US" sz="2400" dirty="0" smtClean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There </a:t>
            </a:r>
            <a:r>
              <a:rPr lang="en-US" sz="24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are computational biologists, computational mathematicians, and so on. </a:t>
            </a:r>
          </a:p>
        </p:txBody>
      </p:sp>
    </p:spTree>
    <p:extLst>
      <p:ext uri="{BB962C8B-B14F-4D97-AF65-F5344CB8AC3E}">
        <p14:creationId xmlns:p14="http://schemas.microsoft.com/office/powerpoint/2010/main" val="342291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 of Computer Models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Computer modeling is now an essential component of architecture, business, engineering, industrial manufacturing, and military operations. </a:t>
            </a:r>
            <a:endParaRPr lang="en-US" sz="2800" dirty="0" smtClean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Indeed, computer modeling is such a powerful aid to representing and solving problems that it has become an integral tool in almost every academic discipline</a:t>
            </a:r>
          </a:p>
        </p:txBody>
      </p:sp>
    </p:spTree>
    <p:extLst>
      <p:ext uri="{BB962C8B-B14F-4D97-AF65-F5344CB8AC3E}">
        <p14:creationId xmlns:p14="http://schemas.microsoft.com/office/powerpoint/2010/main" val="185395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 of Computer Models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Many computer scientists work in the field of Artificial Intelligence (AI). </a:t>
            </a:r>
            <a:endParaRPr lang="en-US" sz="2800" dirty="0" smtClean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This </a:t>
            </a:r>
            <a:r>
              <a:rPr lang="en-US" sz="28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field is also called Machine Intelligence. </a:t>
            </a:r>
            <a:endParaRPr lang="en-US" sz="2800" dirty="0" smtClean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In </a:t>
            </a:r>
            <a:r>
              <a:rPr lang="en-US" sz="28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essence, AI researchers work to develop computer programs and computer systems that can solve a wide range of problems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604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 of Computer Models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One can think of a handheld calculator as having some Artificial Intelligence</a:t>
            </a:r>
            <a:r>
              <a:rPr lang="en-US" sz="28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More sophisticated calculators can solve a wide range of math problems</a:t>
            </a:r>
            <a:r>
              <a:rPr lang="en-US" sz="28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A spelling checker in a word processor has a certain level of intelligence, as does a grammar checker. </a:t>
            </a:r>
            <a:endParaRPr lang="en-US" sz="2800" dirty="0" smtClean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A </a:t>
            </a:r>
            <a:r>
              <a:rPr lang="en-US" sz="28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robot working on an assembly line (for example, doing welding or spray painting ) has a certain level of intelligence</a:t>
            </a:r>
          </a:p>
        </p:txBody>
      </p:sp>
    </p:spTree>
    <p:extLst>
      <p:ext uri="{BB962C8B-B14F-4D97-AF65-F5344CB8AC3E}">
        <p14:creationId xmlns:p14="http://schemas.microsoft.com/office/powerpoint/2010/main" val="413919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Turn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Arial Rounded MT Bold" panose="020F0704030504030204" pitchFamily="34" charset="0"/>
              </a:rPr>
              <a:t>How can a computer be applied in your Field/ Program?</a:t>
            </a:r>
            <a:endParaRPr lang="en-US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86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15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87</TotalTime>
  <Words>1193</Words>
  <Application>Microsoft Office PowerPoint</Application>
  <PresentationFormat>Widescreen</PresentationFormat>
  <Paragraphs>77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 Rounded MT Bold</vt:lpstr>
      <vt:lpstr>Corbel</vt:lpstr>
      <vt:lpstr>Times New Roman</vt:lpstr>
      <vt:lpstr>Wingdings 2</vt:lpstr>
      <vt:lpstr>Frame</vt:lpstr>
      <vt:lpstr>An overview of programming languages</vt:lpstr>
      <vt:lpstr>Course Descriptions</vt:lpstr>
      <vt:lpstr>What is computer?</vt:lpstr>
      <vt:lpstr>Computer Programming</vt:lpstr>
      <vt:lpstr>Roles of computers and computer Programming in problem solving</vt:lpstr>
      <vt:lpstr>Roles of computers and computer Programming in problem solving</vt:lpstr>
      <vt:lpstr>Roles of computers and computer Programming in problem solving</vt:lpstr>
      <vt:lpstr>Roles of computers and computer Programming in problem solving</vt:lpstr>
      <vt:lpstr>Roles of computers and computer Programming in problem solving</vt:lpstr>
      <vt:lpstr>Roles of computers and computer Programming in problem solving</vt:lpstr>
      <vt:lpstr>Roles of computers and computer Programming in problem solving</vt:lpstr>
      <vt:lpstr>Roles of computers and computer Programming in problem solving</vt:lpstr>
      <vt:lpstr>Roles of computers and computer Programming in problem solving</vt:lpstr>
      <vt:lpstr>Roles of computers and computer Programming in problem solving</vt:lpstr>
      <vt:lpstr>Roles of computers and computer Programming in problem solving</vt:lpstr>
      <vt:lpstr>Some Applications of Computer Models </vt:lpstr>
      <vt:lpstr>Some Applications of Computer Models </vt:lpstr>
      <vt:lpstr>Some Applications of Computer Models </vt:lpstr>
      <vt:lpstr>Some Applications of Computer Models </vt:lpstr>
      <vt:lpstr>Your Turn</vt:lpstr>
      <vt:lpstr>END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overview of programming languages</dc:title>
  <dc:creator>Siphael Betuel</dc:creator>
  <cp:lastModifiedBy>Siphael Betuel</cp:lastModifiedBy>
  <cp:revision>16</cp:revision>
  <dcterms:created xsi:type="dcterms:W3CDTF">2020-11-27T13:21:31Z</dcterms:created>
  <dcterms:modified xsi:type="dcterms:W3CDTF">2020-12-10T05:22:39Z</dcterms:modified>
</cp:coreProperties>
</file>