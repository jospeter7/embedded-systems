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317" r:id="rId4"/>
    <p:sldId id="316" r:id="rId5"/>
    <p:sldId id="318" r:id="rId6"/>
    <p:sldId id="268" r:id="rId7"/>
    <p:sldId id="269" r:id="rId8"/>
    <p:sldId id="259" r:id="rId9"/>
    <p:sldId id="321" r:id="rId10"/>
    <p:sldId id="260" r:id="rId11"/>
    <p:sldId id="261" r:id="rId12"/>
    <p:sldId id="262" r:id="rId13"/>
    <p:sldId id="263" r:id="rId14"/>
    <p:sldId id="272" r:id="rId15"/>
    <p:sldId id="273" r:id="rId16"/>
    <p:sldId id="264" r:id="rId17"/>
    <p:sldId id="320" r:id="rId18"/>
    <p:sldId id="265" r:id="rId19"/>
    <p:sldId id="274" r:id="rId20"/>
    <p:sldId id="276" r:id="rId21"/>
    <p:sldId id="322" r:id="rId22"/>
    <p:sldId id="278" r:id="rId23"/>
    <p:sldId id="312" r:id="rId24"/>
    <p:sldId id="314" r:id="rId25"/>
    <p:sldId id="266" r:id="rId26"/>
    <p:sldId id="267" r:id="rId27"/>
    <p:sldId id="279" r:id="rId28"/>
    <p:sldId id="280" r:id="rId29"/>
    <p:sldId id="339" r:id="rId30"/>
    <p:sldId id="340" r:id="rId31"/>
    <p:sldId id="308" r:id="rId32"/>
    <p:sldId id="282" r:id="rId33"/>
    <p:sldId id="283" r:id="rId34"/>
    <p:sldId id="284" r:id="rId35"/>
    <p:sldId id="285" r:id="rId36"/>
    <p:sldId id="286" r:id="rId37"/>
    <p:sldId id="287" r:id="rId38"/>
    <p:sldId id="310" r:id="rId39"/>
    <p:sldId id="315" r:id="rId40"/>
    <p:sldId id="290" r:id="rId41"/>
    <p:sldId id="292" r:id="rId42"/>
    <p:sldId id="293" r:id="rId43"/>
    <p:sldId id="294" r:id="rId44"/>
    <p:sldId id="328" r:id="rId45"/>
    <p:sldId id="295" r:id="rId46"/>
    <p:sldId id="296" r:id="rId47"/>
    <p:sldId id="297" r:id="rId48"/>
    <p:sldId id="298" r:id="rId49"/>
    <p:sldId id="299" r:id="rId50"/>
    <p:sldId id="327" r:id="rId51"/>
    <p:sldId id="300" r:id="rId52"/>
    <p:sldId id="301" r:id="rId53"/>
    <p:sldId id="323" r:id="rId54"/>
    <p:sldId id="324" r:id="rId55"/>
    <p:sldId id="325" r:id="rId56"/>
    <p:sldId id="303" r:id="rId57"/>
    <p:sldId id="305" r:id="rId58"/>
    <p:sldId id="306" r:id="rId59"/>
    <p:sldId id="326" r:id="rId60"/>
    <p:sldId id="341" r:id="rId61"/>
    <p:sldId id="329" r:id="rId62"/>
    <p:sldId id="330" r:id="rId63"/>
    <p:sldId id="331" r:id="rId64"/>
    <p:sldId id="332" r:id="rId65"/>
    <p:sldId id="333" r:id="rId66"/>
    <p:sldId id="335" r:id="rId67"/>
    <p:sldId id="336" r:id="rId68"/>
    <p:sldId id="334" r:id="rId69"/>
    <p:sldId id="337" r:id="rId70"/>
    <p:sldId id="338" r:id="rId71"/>
    <p:sldId id="307" r:id="rId72"/>
    <p:sldId id="319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" y="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2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0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4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2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1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4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4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5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1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5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BEACEAA-028C-4FA3-930E-180743FC797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CB4DE7C-49F2-48A3-8BD6-BA29477C4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0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CP 111: Principles of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 smtClean="0"/>
              <a:t>Flow of Controls/ Control Structures  </a:t>
            </a:r>
          </a:p>
          <a:p>
            <a:pPr algn="ctr"/>
            <a:r>
              <a:rPr lang="en-US" sz="2800" b="1" dirty="0" smtClean="0"/>
              <a:t>+ Programming Error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2658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25" y="97771"/>
            <a:ext cx="10058400" cy="1144875"/>
          </a:xfrm>
        </p:spPr>
        <p:txBody>
          <a:bodyPr>
            <a:normAutofit/>
          </a:bodyPr>
          <a:lstStyle/>
          <a:p>
            <a:r>
              <a:rPr lang="en-US" dirty="0" smtClean="0"/>
              <a:t>Flow of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629508"/>
            <a:ext cx="10058400" cy="454269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 program consists of a number of statements which are usually executed in sequence. </a:t>
            </a:r>
          </a:p>
          <a:p>
            <a:pPr algn="just"/>
            <a:r>
              <a:rPr lang="en-US" sz="2800" dirty="0" smtClean="0"/>
              <a:t>Programs </a:t>
            </a:r>
            <a:r>
              <a:rPr lang="en-US" sz="2800" dirty="0"/>
              <a:t>can be much more powerful if we can control the order in which statements are run. </a:t>
            </a:r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Branching Statements or Control Statements let the program makes a decision about what to do next.</a:t>
            </a:r>
          </a:p>
        </p:txBody>
      </p:sp>
    </p:spTree>
    <p:extLst>
      <p:ext uri="{BB962C8B-B14F-4D97-AF65-F5344CB8AC3E}">
        <p14:creationId xmlns:p14="http://schemas.microsoft.com/office/powerpoint/2010/main" val="91477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24" y="187568"/>
            <a:ext cx="10058400" cy="1296807"/>
          </a:xfrm>
        </p:spPr>
        <p:txBody>
          <a:bodyPr>
            <a:normAutofit/>
          </a:bodyPr>
          <a:lstStyle/>
          <a:p>
            <a:r>
              <a:rPr lang="en-US" dirty="0" smtClean="0"/>
              <a:t>Flow of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570892"/>
            <a:ext cx="10058400" cy="4601308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In computer science, </a:t>
            </a:r>
            <a:r>
              <a:rPr lang="en-US" sz="3200" dirty="0">
                <a:solidFill>
                  <a:srgbClr val="FF0000"/>
                </a:solidFill>
              </a:rPr>
              <a:t>control flow (or flow of control) </a:t>
            </a:r>
            <a:r>
              <a:rPr lang="en-US" sz="3200" dirty="0"/>
              <a:t>is the order in which individual statements, instructions or function calls of </a:t>
            </a:r>
            <a:r>
              <a:rPr lang="en-US" sz="3200" dirty="0" smtClean="0"/>
              <a:t>a program </a:t>
            </a:r>
            <a:r>
              <a:rPr lang="en-US" sz="3200" dirty="0"/>
              <a:t>are executed or </a:t>
            </a:r>
            <a:r>
              <a:rPr lang="en-US" sz="3200" dirty="0" smtClean="0"/>
              <a:t>evaluated.</a:t>
            </a:r>
          </a:p>
          <a:p>
            <a:pPr algn="just"/>
            <a:r>
              <a:rPr lang="en-US" sz="3200" dirty="0"/>
              <a:t>The program flow of control is the order in which the computer executes the statements in a </a:t>
            </a:r>
            <a:r>
              <a:rPr lang="en-US" sz="3200" dirty="0" smtClean="0"/>
              <a:t>program.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7705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571" y="132939"/>
            <a:ext cx="10058400" cy="1226938"/>
          </a:xfrm>
        </p:spPr>
        <p:txBody>
          <a:bodyPr>
            <a:normAutofit/>
          </a:bodyPr>
          <a:lstStyle/>
          <a:p>
            <a:r>
              <a:rPr lang="en-US" dirty="0" smtClean="0"/>
              <a:t>Flow of controls -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195754"/>
            <a:ext cx="10058400" cy="4976446"/>
          </a:xfrm>
        </p:spPr>
        <p:txBody>
          <a:bodyPr>
            <a:normAutofit/>
          </a:bodyPr>
          <a:lstStyle/>
          <a:p>
            <a:pPr algn="just"/>
            <a:r>
              <a:rPr lang="en-US" sz="4000" dirty="0" smtClean="0"/>
              <a:t>Sequential</a:t>
            </a:r>
          </a:p>
          <a:p>
            <a:pPr algn="just"/>
            <a:r>
              <a:rPr lang="en-US" sz="4000" dirty="0" smtClean="0"/>
              <a:t>Decision/selection</a:t>
            </a:r>
          </a:p>
          <a:p>
            <a:pPr algn="just"/>
            <a:r>
              <a:rPr lang="en-US" sz="4000" dirty="0" smtClean="0"/>
              <a:t>Repetition/Loops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6630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66800"/>
          </a:xfrm>
        </p:spPr>
        <p:txBody>
          <a:bodyPr/>
          <a:lstStyle/>
          <a:p>
            <a:r>
              <a:rPr lang="en-US" dirty="0" smtClean="0"/>
              <a:t>Sequential flow of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87" y="973015"/>
            <a:ext cx="11565228" cy="5640896"/>
          </a:xfrm>
        </p:spPr>
        <p:txBody>
          <a:bodyPr>
            <a:normAutofit/>
          </a:bodyPr>
          <a:lstStyle/>
          <a:p>
            <a:r>
              <a:rPr lang="en-US" sz="2800" b="1" dirty="0"/>
              <a:t>Sequence</a:t>
            </a:r>
            <a:r>
              <a:rPr lang="en-US" sz="2800" dirty="0"/>
              <a:t> is composed of a series of statements which are executed one by one from top to bottom</a:t>
            </a:r>
            <a:r>
              <a:rPr lang="en-US" sz="2800" dirty="0" smtClean="0"/>
              <a:t>.</a:t>
            </a:r>
          </a:p>
          <a:p>
            <a:pPr lvl="1"/>
            <a:r>
              <a:rPr lang="en-US" sz="2600" dirty="0" smtClean="0"/>
              <a:t>OR:</a:t>
            </a:r>
          </a:p>
          <a:p>
            <a:pPr lvl="2"/>
            <a:r>
              <a:rPr lang="en-US" sz="2400" b="1" dirty="0" smtClean="0"/>
              <a:t>Sequential flow of control </a:t>
            </a:r>
            <a:r>
              <a:rPr lang="en-US" sz="2400" dirty="0" smtClean="0"/>
              <a:t>is </a:t>
            </a:r>
            <a:r>
              <a:rPr lang="en-US" sz="2400" dirty="0"/>
              <a:t>composed of a series of statements which are executed one by one from top to </a:t>
            </a:r>
            <a:r>
              <a:rPr lang="en-US" sz="2400" dirty="0" smtClean="0"/>
              <a:t>bottom.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Sequence is the default flow of control for many programming languages</a:t>
            </a:r>
            <a:r>
              <a:rPr lang="en-US" sz="2800" dirty="0" smtClean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183" y="3984008"/>
            <a:ext cx="2629903" cy="262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5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212" y="0"/>
            <a:ext cx="10058400" cy="1146220"/>
          </a:xfrm>
        </p:spPr>
        <p:txBody>
          <a:bodyPr/>
          <a:lstStyle/>
          <a:p>
            <a:r>
              <a:rPr lang="en-US" dirty="0" smtClean="0"/>
              <a:t>Decision flow of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9" y="1004552"/>
            <a:ext cx="11320530" cy="5460642"/>
          </a:xfrm>
        </p:spPr>
        <p:txBody>
          <a:bodyPr>
            <a:normAutofit/>
          </a:bodyPr>
          <a:lstStyle/>
          <a:p>
            <a:r>
              <a:rPr lang="en-US" sz="3600" dirty="0"/>
              <a:t>A statement or set of statements that is executed when a </a:t>
            </a:r>
            <a:r>
              <a:rPr lang="en-US" sz="3600" dirty="0" smtClean="0"/>
              <a:t>particular </a:t>
            </a:r>
            <a:r>
              <a:rPr lang="en-US" sz="3600" dirty="0"/>
              <a:t>condition is </a:t>
            </a:r>
            <a:r>
              <a:rPr lang="en-US" sz="3600" b="1" dirty="0"/>
              <a:t>True</a:t>
            </a:r>
            <a:r>
              <a:rPr lang="en-US" sz="3600" dirty="0"/>
              <a:t> and ignored when the </a:t>
            </a:r>
            <a:r>
              <a:rPr lang="en-US" sz="3600" dirty="0" smtClean="0"/>
              <a:t>condition </a:t>
            </a:r>
            <a:r>
              <a:rPr lang="en-US" sz="3600" dirty="0"/>
              <a:t>is </a:t>
            </a:r>
            <a:r>
              <a:rPr lang="en-US" sz="3600" b="1" dirty="0"/>
              <a:t>False</a:t>
            </a:r>
            <a:r>
              <a:rPr lang="en-US" sz="3600" dirty="0"/>
              <a:t> is called </a:t>
            </a:r>
            <a:r>
              <a:rPr lang="en-US" sz="3600" b="1" dirty="0"/>
              <a:t>Decision Control </a:t>
            </a:r>
            <a:r>
              <a:rPr lang="en-US" sz="3600" b="1" dirty="0" smtClean="0"/>
              <a:t>Structure</a:t>
            </a:r>
            <a:r>
              <a:rPr lang="en-US" sz="3600" dirty="0" smtClean="0"/>
              <a:t>.</a:t>
            </a:r>
          </a:p>
          <a:p>
            <a:pPr lvl="1"/>
            <a:r>
              <a:rPr lang="en-US" sz="3200" dirty="0" smtClean="0"/>
              <a:t>The </a:t>
            </a:r>
            <a:r>
              <a:rPr lang="en-US" sz="3200" dirty="0"/>
              <a:t>decision to execute a particular section is based on </a:t>
            </a:r>
            <a:r>
              <a:rPr lang="en-US" sz="3200" dirty="0" smtClean="0"/>
              <a:t> checking </a:t>
            </a:r>
            <a:r>
              <a:rPr lang="en-US" sz="3200" dirty="0"/>
              <a:t>a </a:t>
            </a:r>
            <a:r>
              <a:rPr lang="en-US" sz="3200" dirty="0" smtClean="0"/>
              <a:t>condition.</a:t>
            </a:r>
          </a:p>
          <a:p>
            <a:pPr lvl="2"/>
            <a:r>
              <a:rPr lang="en-US" sz="2800" dirty="0" smtClean="0"/>
              <a:t>A </a:t>
            </a:r>
            <a:r>
              <a:rPr lang="en-US" sz="2800" dirty="0"/>
              <a:t>condition is an expression that will be either </a:t>
            </a:r>
            <a:r>
              <a:rPr lang="en-US" sz="2800" b="1" dirty="0" smtClean="0"/>
              <a:t>True</a:t>
            </a:r>
            <a:r>
              <a:rPr lang="en-US" sz="2800" dirty="0" smtClean="0"/>
              <a:t> or </a:t>
            </a:r>
            <a:r>
              <a:rPr lang="en-US" sz="2800" b="1" dirty="0" smtClean="0"/>
              <a:t>False</a:t>
            </a:r>
            <a:r>
              <a:rPr lang="en-US" sz="2800" dirty="0" smtClean="0"/>
              <a:t>.</a:t>
            </a:r>
          </a:p>
          <a:p>
            <a:pPr lvl="2"/>
            <a:r>
              <a:rPr lang="en-US" sz="2800" dirty="0"/>
              <a:t>This process is known as </a:t>
            </a:r>
            <a:r>
              <a:rPr lang="en-US" sz="2800" b="1" dirty="0"/>
              <a:t>Decision-making</a:t>
            </a:r>
            <a:r>
              <a:rPr lang="en-US" sz="2800" dirty="0"/>
              <a:t> or  </a:t>
            </a:r>
            <a:r>
              <a:rPr lang="en-US" sz="2800" b="1" dirty="0"/>
              <a:t>Selection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697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121" y="0"/>
            <a:ext cx="10058400" cy="1210614"/>
          </a:xfrm>
        </p:spPr>
        <p:txBody>
          <a:bodyPr/>
          <a:lstStyle/>
          <a:p>
            <a:r>
              <a:rPr lang="en-US" dirty="0" smtClean="0"/>
              <a:t>Decision control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51" y="1081825"/>
            <a:ext cx="11513712" cy="5473521"/>
          </a:xfrm>
        </p:spPr>
        <p:txBody>
          <a:bodyPr>
            <a:normAutofit/>
          </a:bodyPr>
          <a:lstStyle/>
          <a:p>
            <a:r>
              <a:rPr lang="en-US" sz="3200" dirty="0"/>
              <a:t>Suppose a script displays </a:t>
            </a:r>
            <a:r>
              <a:rPr lang="en-US" sz="3200" b="1" dirty="0"/>
              <a:t>Pass</a:t>
            </a:r>
            <a:r>
              <a:rPr lang="en-US" sz="3200" dirty="0"/>
              <a:t> if the student gets 40 or </a:t>
            </a:r>
            <a:r>
              <a:rPr lang="en-US" sz="3200" dirty="0" smtClean="0"/>
              <a:t>more </a:t>
            </a:r>
            <a:r>
              <a:rPr lang="en-US" sz="3200" dirty="0"/>
              <a:t>than 40 marks and displays </a:t>
            </a:r>
            <a:r>
              <a:rPr lang="en-US" sz="3200" b="1" dirty="0"/>
              <a:t>Fail</a:t>
            </a:r>
            <a:r>
              <a:rPr lang="en-US" sz="3200" dirty="0"/>
              <a:t> when the marks </a:t>
            </a:r>
            <a:r>
              <a:rPr lang="en-US" sz="3200" dirty="0" smtClean="0"/>
              <a:t>are </a:t>
            </a:r>
            <a:r>
              <a:rPr lang="en-US" sz="3200" dirty="0"/>
              <a:t>below </a:t>
            </a:r>
            <a:r>
              <a:rPr lang="en-US" sz="3200" dirty="0" smtClean="0"/>
              <a:t>40.</a:t>
            </a:r>
          </a:p>
          <a:p>
            <a:pPr lvl="1"/>
            <a:r>
              <a:rPr lang="en-US" sz="3000" dirty="0"/>
              <a:t>A condition uses </a:t>
            </a:r>
            <a:r>
              <a:rPr lang="en-US" sz="3000" dirty="0">
                <a:solidFill>
                  <a:srgbClr val="FF0000"/>
                </a:solidFill>
              </a:rPr>
              <a:t>relational operators</a:t>
            </a:r>
            <a:r>
              <a:rPr lang="en-US" sz="3000" dirty="0" smtClean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sz="3000" dirty="0" smtClean="0">
                <a:solidFill>
                  <a:srgbClr val="FF0000"/>
                </a:solidFill>
              </a:rPr>
              <a:t> </a:t>
            </a:r>
            <a:endParaRPr lang="en-US" sz="30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764" y="3012469"/>
            <a:ext cx="7827942" cy="37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8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211" y="111144"/>
            <a:ext cx="10058400" cy="1215380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1313645"/>
            <a:ext cx="10561578" cy="4858555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/>
              <a:t>The </a:t>
            </a:r>
            <a:r>
              <a:rPr lang="en-US" sz="3200" b="1" dirty="0"/>
              <a:t>IF</a:t>
            </a:r>
            <a:r>
              <a:rPr lang="en-US" sz="3200" dirty="0"/>
              <a:t> Statement is a powerful decision making statement and is used to control the flow of execution of statements. </a:t>
            </a:r>
            <a:endParaRPr lang="en-US" sz="3200" dirty="0" smtClean="0"/>
          </a:p>
          <a:p>
            <a:pPr algn="just"/>
            <a:r>
              <a:rPr lang="en-US" sz="3200" dirty="0" smtClean="0"/>
              <a:t>It </a:t>
            </a:r>
            <a:r>
              <a:rPr lang="en-US" sz="3200" dirty="0"/>
              <a:t>is basically a two-way decision statement and is used in conjunction with an expression.</a:t>
            </a:r>
          </a:p>
        </p:txBody>
      </p:sp>
    </p:spTree>
    <p:extLst>
      <p:ext uri="{BB962C8B-B14F-4D97-AF65-F5344CB8AC3E}">
        <p14:creationId xmlns:p14="http://schemas.microsoft.com/office/powerpoint/2010/main" val="402101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224" y="-26355"/>
            <a:ext cx="10058400" cy="1061780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024" y="942998"/>
            <a:ext cx="11873752" cy="5876365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b="1" dirty="0" smtClean="0"/>
              <a:t>IF </a:t>
            </a:r>
            <a:r>
              <a:rPr lang="en-US" sz="2400" dirty="0" smtClean="0"/>
              <a:t>statement is a decision making statement.</a:t>
            </a:r>
          </a:p>
          <a:p>
            <a:pPr lvl="1"/>
            <a:r>
              <a:rPr lang="en-US" sz="2000" dirty="0" smtClean="0"/>
              <a:t>It is a single alternative statement that has a single choice that will be executed/selected if the condition after the </a:t>
            </a:r>
            <a:r>
              <a:rPr lang="en-US" sz="2000" b="1" dirty="0" smtClean="0"/>
              <a:t>if </a:t>
            </a:r>
            <a:r>
              <a:rPr lang="en-US" sz="2000" dirty="0" smtClean="0"/>
              <a:t>statement is true, and will be skipped/ignored otherwise (if the condition is false)</a:t>
            </a:r>
          </a:p>
          <a:p>
            <a:pPr lvl="2"/>
            <a:r>
              <a:rPr lang="en-US" sz="1800" dirty="0" smtClean="0"/>
              <a:t>if condition met (true)</a:t>
            </a:r>
          </a:p>
          <a:p>
            <a:pPr lvl="3"/>
            <a:r>
              <a:rPr lang="en-US" sz="1800" dirty="0" smtClean="0"/>
              <a:t>Statement/statements the body of </a:t>
            </a:r>
            <a:r>
              <a:rPr lang="en-US" sz="1800" dirty="0"/>
              <a:t>structure</a:t>
            </a:r>
            <a:r>
              <a:rPr lang="en-US" sz="1800" dirty="0" smtClean="0"/>
              <a:t> are executed</a:t>
            </a:r>
          </a:p>
          <a:p>
            <a:pPr lvl="3"/>
            <a:endParaRPr lang="en-US" sz="1800" dirty="0" smtClean="0"/>
          </a:p>
          <a:p>
            <a:pPr lvl="2"/>
            <a:r>
              <a:rPr lang="en-US" sz="1800" dirty="0"/>
              <a:t>if condition </a:t>
            </a:r>
            <a:r>
              <a:rPr lang="en-US" sz="1800" dirty="0" smtClean="0"/>
              <a:t>not met (false)</a:t>
            </a:r>
            <a:endParaRPr lang="en-US" sz="1800" dirty="0"/>
          </a:p>
          <a:p>
            <a:pPr lvl="3"/>
            <a:r>
              <a:rPr lang="en-US" sz="1800" dirty="0" smtClean="0"/>
              <a:t>Statement/statements in </a:t>
            </a:r>
            <a:r>
              <a:rPr lang="en-US" sz="1800" dirty="0"/>
              <a:t>body </a:t>
            </a:r>
            <a:r>
              <a:rPr lang="en-US" sz="1800" dirty="0" smtClean="0"/>
              <a:t>of </a:t>
            </a:r>
            <a:r>
              <a:rPr lang="en-US" sz="1800" dirty="0"/>
              <a:t>structure </a:t>
            </a:r>
            <a:r>
              <a:rPr lang="en-US" sz="1800" dirty="0" smtClean="0"/>
              <a:t>are skipped/ignored.</a:t>
            </a:r>
          </a:p>
          <a:p>
            <a:r>
              <a:rPr lang="en-US" sz="2400" dirty="0" smtClean="0"/>
              <a:t>Format:</a:t>
            </a:r>
          </a:p>
          <a:p>
            <a:pPr marL="274320" lvl="1" indent="0">
              <a:buNone/>
            </a:pPr>
            <a:r>
              <a:rPr lang="en-US" i="1" dirty="0" smtClean="0"/>
              <a:t>if (condition) {</a:t>
            </a:r>
          </a:p>
          <a:p>
            <a:pPr marL="548640" lvl="2" indent="0">
              <a:buNone/>
            </a:pPr>
            <a:r>
              <a:rPr lang="en-US" sz="1800" i="1" dirty="0" smtClean="0"/>
              <a:t>statement;</a:t>
            </a:r>
          </a:p>
          <a:p>
            <a:pPr marL="548640" lvl="2" indent="0">
              <a:buNone/>
            </a:pPr>
            <a:r>
              <a:rPr lang="en-US" sz="1800" i="1" dirty="0" smtClean="0"/>
              <a:t>(additional statements); }</a:t>
            </a:r>
          </a:p>
          <a:p>
            <a:r>
              <a:rPr lang="en-US" sz="2400" dirty="0" smtClean="0"/>
              <a:t>NOTE:</a:t>
            </a:r>
          </a:p>
          <a:p>
            <a:pPr lvl="1"/>
            <a:r>
              <a:rPr lang="en-US" sz="2000" dirty="0" smtClean="0"/>
              <a:t>The semicolon (;)</a:t>
            </a:r>
          </a:p>
          <a:p>
            <a:pPr lvl="2"/>
            <a:r>
              <a:rPr lang="en-US" sz="1800" dirty="0" smtClean="0"/>
              <a:t>Do not place it after the condition.</a:t>
            </a:r>
          </a:p>
          <a:p>
            <a:pPr lvl="2"/>
            <a:r>
              <a:rPr lang="en-US" sz="1800" dirty="0" smtClean="0"/>
              <a:t>Place it after every statement in the body of structure.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5610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211" y="111144"/>
            <a:ext cx="10058400" cy="1279774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59099"/>
            <a:ext cx="11539470" cy="5241701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It </a:t>
            </a:r>
            <a:r>
              <a:rPr lang="en-US" sz="2800" dirty="0"/>
              <a:t>allows the computer to evaluate the expression first and then, depending on whether the value of the expression (</a:t>
            </a:r>
            <a:r>
              <a:rPr lang="en-US" sz="2800" dirty="0" smtClean="0"/>
              <a:t>relational </a:t>
            </a:r>
            <a:r>
              <a:rPr lang="en-US" sz="2800" dirty="0"/>
              <a:t>or </a:t>
            </a:r>
            <a:r>
              <a:rPr lang="en-US" sz="2800" dirty="0" smtClean="0"/>
              <a:t>conditional) </a:t>
            </a:r>
            <a:r>
              <a:rPr lang="en-US" sz="2800" dirty="0"/>
              <a:t>is ' </a:t>
            </a:r>
            <a:r>
              <a:rPr lang="en-US" sz="2800" b="1" dirty="0"/>
              <a:t>true</a:t>
            </a:r>
            <a:r>
              <a:rPr lang="en-US" sz="2800" dirty="0"/>
              <a:t> ' (non-zero) or ' </a:t>
            </a:r>
            <a:r>
              <a:rPr lang="en-US" sz="2800" b="1" dirty="0"/>
              <a:t>false</a:t>
            </a:r>
            <a:r>
              <a:rPr lang="en-US" sz="2800" dirty="0"/>
              <a:t> ' (zero), it transfers the control to a particular statement. </a:t>
            </a:r>
            <a:endParaRPr lang="en-US" sz="2800" dirty="0" smtClean="0"/>
          </a:p>
          <a:p>
            <a:pPr lvl="1" algn="just"/>
            <a:r>
              <a:rPr lang="en-US" sz="2600" dirty="0" smtClean="0"/>
              <a:t>This </a:t>
            </a:r>
            <a:r>
              <a:rPr lang="en-US" sz="2600" dirty="0"/>
              <a:t>point of program has two paths to follow, one for the true condition and the other for the false condition. </a:t>
            </a:r>
            <a:endParaRPr lang="en-US" sz="2600" dirty="0" smtClean="0"/>
          </a:p>
          <a:p>
            <a:pPr lvl="1" algn="just"/>
            <a:r>
              <a:rPr lang="en-US" sz="2600" dirty="0" smtClean="0"/>
              <a:t>The </a:t>
            </a:r>
            <a:r>
              <a:rPr lang="en-US" sz="2600" dirty="0"/>
              <a:t>if statement may be implemented in different forms depending on the complexity of the conditions to be tested.</a:t>
            </a:r>
          </a:p>
        </p:txBody>
      </p:sp>
    </p:spTree>
    <p:extLst>
      <p:ext uri="{BB962C8B-B14F-4D97-AF65-F5344CB8AC3E}">
        <p14:creationId xmlns:p14="http://schemas.microsoft.com/office/powerpoint/2010/main" val="183865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36902"/>
            <a:ext cx="10058400" cy="1099469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87" y="1146219"/>
            <a:ext cx="11423561" cy="5422005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/>
              <a:t>Three </a:t>
            </a:r>
            <a:r>
              <a:rPr lang="en-US" sz="3200" dirty="0"/>
              <a:t>types of IF </a:t>
            </a:r>
            <a:r>
              <a:rPr lang="en-US" sz="3200" dirty="0" smtClean="0"/>
              <a:t>Statement:</a:t>
            </a:r>
          </a:p>
          <a:p>
            <a:pPr lvl="1" algn="just"/>
            <a:r>
              <a:rPr lang="en-US" sz="3000" dirty="0" smtClean="0"/>
              <a:t>Simple </a:t>
            </a:r>
            <a:r>
              <a:rPr lang="en-US" sz="3000" b="1" dirty="0" smtClean="0"/>
              <a:t>if </a:t>
            </a:r>
            <a:r>
              <a:rPr lang="en-US" sz="3000" dirty="0"/>
              <a:t>s</a:t>
            </a:r>
            <a:r>
              <a:rPr lang="en-US" sz="3000" dirty="0" smtClean="0"/>
              <a:t>tatement</a:t>
            </a:r>
          </a:p>
          <a:p>
            <a:pPr lvl="1" algn="just"/>
            <a:r>
              <a:rPr lang="en-US" sz="3200" b="1" dirty="0" smtClean="0"/>
              <a:t>if-else</a:t>
            </a:r>
            <a:r>
              <a:rPr lang="en-US" sz="3200" dirty="0" smtClean="0"/>
              <a:t> statement</a:t>
            </a:r>
          </a:p>
          <a:p>
            <a:pPr lvl="1" algn="just"/>
            <a:r>
              <a:rPr lang="en-US" sz="3200" b="1" dirty="0" smtClean="0"/>
              <a:t>if –else –if </a:t>
            </a:r>
            <a:r>
              <a:rPr lang="en-US" sz="3200" dirty="0" smtClean="0"/>
              <a:t>statement(</a:t>
            </a:r>
            <a:r>
              <a:rPr lang="en-US" sz="3200" b="1" dirty="0" smtClean="0"/>
              <a:t>nested if</a:t>
            </a:r>
            <a:r>
              <a:rPr lang="en-US" sz="3200" dirty="0" smtClean="0"/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18333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122" y="136902"/>
            <a:ext cx="10058400" cy="1047954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90" y="1017432"/>
            <a:ext cx="11694016" cy="5615188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Simple</a:t>
            </a:r>
            <a:r>
              <a:rPr lang="en-US" sz="3200" b="1" dirty="0"/>
              <a:t> </a:t>
            </a:r>
            <a:r>
              <a:rPr lang="en-US" sz="3200" b="1" dirty="0" smtClean="0"/>
              <a:t>if </a:t>
            </a:r>
            <a:r>
              <a:rPr lang="en-US" sz="3200" dirty="0" smtClean="0"/>
              <a:t>statement</a:t>
            </a:r>
            <a:endParaRPr lang="en-US" sz="3200" dirty="0"/>
          </a:p>
          <a:p>
            <a:pPr lvl="1" algn="just"/>
            <a:r>
              <a:rPr lang="en-US" sz="3000" dirty="0" smtClean="0"/>
              <a:t>The </a:t>
            </a:r>
            <a:r>
              <a:rPr lang="en-US" sz="3000" dirty="0"/>
              <a:t>statement-block may be a single statement or a group of statements. </a:t>
            </a:r>
          </a:p>
          <a:p>
            <a:pPr lvl="1" algn="just"/>
            <a:r>
              <a:rPr lang="en-US" sz="3200" dirty="0" smtClean="0"/>
              <a:t>If </a:t>
            </a:r>
            <a:r>
              <a:rPr lang="en-US" sz="3200" dirty="0"/>
              <a:t>the test expression is true, the statement-block will be executed; </a:t>
            </a:r>
            <a:endParaRPr lang="en-US" sz="3200" dirty="0" smtClean="0"/>
          </a:p>
          <a:p>
            <a:pPr lvl="2" algn="just"/>
            <a:r>
              <a:rPr lang="en-US" sz="3000" dirty="0" smtClean="0"/>
              <a:t>Otherwise </a:t>
            </a:r>
            <a:r>
              <a:rPr lang="en-US" sz="3000" dirty="0"/>
              <a:t>the statement-block will be skipped and the execution will jump to </a:t>
            </a:r>
            <a:r>
              <a:rPr lang="en-US" sz="3000" dirty="0" smtClean="0"/>
              <a:t>statement-x (the next part of the program). </a:t>
            </a:r>
            <a:endParaRPr lang="en-US" sz="3000" dirty="0"/>
          </a:p>
          <a:p>
            <a:pPr lvl="1" algn="just"/>
            <a:r>
              <a:rPr lang="en-US" sz="3400" dirty="0" smtClean="0"/>
              <a:t>Remember</a:t>
            </a:r>
            <a:r>
              <a:rPr lang="en-US" sz="3400" dirty="0"/>
              <a:t>, when the condition is true both the statement-block and the statement-x are executed in sequence.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3148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090" y="44006"/>
            <a:ext cx="10058400" cy="909032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3" y="1030310"/>
            <a:ext cx="11526592" cy="5827690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/>
              <a:t>Simple </a:t>
            </a:r>
            <a:r>
              <a:rPr lang="en-US" sz="3200" b="1" dirty="0" smtClean="0"/>
              <a:t>if</a:t>
            </a:r>
            <a:r>
              <a:rPr lang="en-US" sz="3200" dirty="0" smtClean="0"/>
              <a:t> statement (Flowchart)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498" y="2258656"/>
            <a:ext cx="6080188" cy="431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8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211" y="111145"/>
            <a:ext cx="10058400" cy="1125227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043189"/>
            <a:ext cx="10857792" cy="5129011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Example:</a:t>
            </a:r>
            <a:endParaRPr lang="en-US" sz="2800" dirty="0"/>
          </a:p>
          <a:p>
            <a:pPr lvl="1" algn="just"/>
            <a:r>
              <a:rPr lang="en-US" sz="2600" dirty="0" smtClean="0"/>
              <a:t>Suppose </a:t>
            </a:r>
            <a:r>
              <a:rPr lang="en-US" sz="2600" dirty="0"/>
              <a:t>a </a:t>
            </a:r>
            <a:r>
              <a:rPr lang="en-US" sz="2600" dirty="0" smtClean="0"/>
              <a:t>program displays </a:t>
            </a:r>
            <a:r>
              <a:rPr lang="en-US" sz="2600" dirty="0"/>
              <a:t>Pass if the student gets </a:t>
            </a:r>
            <a:r>
              <a:rPr lang="en-US" sz="2600" dirty="0" smtClean="0"/>
              <a:t>60 </a:t>
            </a:r>
            <a:r>
              <a:rPr lang="en-US" sz="2600" dirty="0"/>
              <a:t>or more than </a:t>
            </a:r>
            <a:r>
              <a:rPr lang="en-US" sz="2600" dirty="0" smtClean="0"/>
              <a:t>60 </a:t>
            </a:r>
            <a:r>
              <a:rPr lang="en-US" sz="2600" dirty="0"/>
              <a:t>marks </a:t>
            </a:r>
          </a:p>
          <a:p>
            <a:pPr lvl="2" algn="just"/>
            <a:r>
              <a:rPr lang="en-US" sz="2600" dirty="0" smtClean="0"/>
              <a:t>Pseudocode:</a:t>
            </a:r>
          </a:p>
          <a:p>
            <a:pPr lvl="3" algn="just"/>
            <a:r>
              <a:rPr lang="en-US" sz="2600" dirty="0" smtClean="0"/>
              <a:t>Task: Evaluating student performance</a:t>
            </a:r>
          </a:p>
          <a:p>
            <a:pPr lvl="3" algn="just"/>
            <a:r>
              <a:rPr lang="en-US" sz="2600" dirty="0" smtClean="0"/>
              <a:t>Step 1: Start</a:t>
            </a:r>
          </a:p>
          <a:p>
            <a:pPr lvl="3" algn="just"/>
            <a:r>
              <a:rPr lang="en-US" sz="2600" dirty="0" smtClean="0"/>
              <a:t>Step 2: Get student score: x</a:t>
            </a:r>
          </a:p>
          <a:p>
            <a:pPr lvl="3" algn="just"/>
            <a:r>
              <a:rPr lang="en-US" sz="2600" dirty="0" smtClean="0"/>
              <a:t>Step 3: If student score (x) is equal or greater than 60, print: Passed</a:t>
            </a:r>
          </a:p>
          <a:p>
            <a:pPr lvl="3" algn="just"/>
            <a:r>
              <a:rPr lang="en-US" sz="2600" dirty="0" smtClean="0"/>
              <a:t>Step 4: Stop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96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49251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885" y="978793"/>
            <a:ext cx="10444766" cy="534473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Example:</a:t>
            </a:r>
          </a:p>
          <a:p>
            <a:pPr lvl="1" algn="just"/>
            <a:r>
              <a:rPr lang="en-US" sz="2600" dirty="0"/>
              <a:t>Suppose a program </a:t>
            </a:r>
            <a:r>
              <a:rPr lang="en-US" sz="2600" dirty="0" smtClean="0"/>
              <a:t>displays </a:t>
            </a:r>
            <a:r>
              <a:rPr lang="en-US" sz="2600" dirty="0"/>
              <a:t>Pass if the student gets 60 or more than 60 marks </a:t>
            </a:r>
          </a:p>
          <a:p>
            <a:pPr lvl="2" algn="just"/>
            <a:r>
              <a:rPr lang="en-US" sz="2400" dirty="0" smtClean="0"/>
              <a:t>Flow Chart of the solution: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941" y="3622690"/>
            <a:ext cx="8672347" cy="312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9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53" y="206062"/>
            <a:ext cx="9943392" cy="1223493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913" y="1378039"/>
            <a:ext cx="11178862" cy="5177307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smtClean="0"/>
              <a:t>if-else</a:t>
            </a:r>
            <a:r>
              <a:rPr lang="en-US" sz="3200" dirty="0" smtClean="0"/>
              <a:t> statement</a:t>
            </a:r>
          </a:p>
          <a:p>
            <a:pPr lvl="1" algn="just"/>
            <a:r>
              <a:rPr lang="en-US" sz="3000" dirty="0" smtClean="0"/>
              <a:t>The if....else statement is an extension of the simple if statement. </a:t>
            </a:r>
          </a:p>
          <a:p>
            <a:pPr lvl="1" algn="just"/>
            <a:r>
              <a:rPr lang="en-US" sz="3200" dirty="0" smtClean="0"/>
              <a:t>If </a:t>
            </a:r>
            <a:r>
              <a:rPr lang="en-US" sz="3200" dirty="0"/>
              <a:t>the test expression is true , then the </a:t>
            </a:r>
            <a:r>
              <a:rPr lang="en-US" sz="3200" b="1" dirty="0"/>
              <a:t>true-block statement(s)</a:t>
            </a:r>
            <a:r>
              <a:rPr lang="en-US" sz="3200" dirty="0"/>
              <a:t>, immediately following the if statement are executed; otherwise the </a:t>
            </a:r>
            <a:r>
              <a:rPr lang="en-US" sz="3200" b="1" dirty="0"/>
              <a:t>false-block statement(s) </a:t>
            </a:r>
            <a:r>
              <a:rPr lang="en-US" sz="3200" dirty="0"/>
              <a:t>are executed. </a:t>
            </a:r>
          </a:p>
          <a:p>
            <a:pPr lvl="1" algn="just"/>
            <a:r>
              <a:rPr lang="en-US" sz="3200" dirty="0" smtClean="0"/>
              <a:t>NOTE:</a:t>
            </a:r>
          </a:p>
          <a:p>
            <a:pPr lvl="2" algn="just"/>
            <a:r>
              <a:rPr lang="en-US" sz="3000" dirty="0" smtClean="0"/>
              <a:t>In </a:t>
            </a:r>
            <a:r>
              <a:rPr lang="en-US" sz="3000" dirty="0"/>
              <a:t>either case, either true-block or false-block will be executed, </a:t>
            </a:r>
            <a:r>
              <a:rPr lang="en-US" sz="3000" b="1" dirty="0"/>
              <a:t>not both</a:t>
            </a:r>
            <a:r>
              <a:rPr lang="en-US" sz="3000" dirty="0"/>
              <a:t>.</a:t>
            </a: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419092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8485" y="124023"/>
            <a:ext cx="10058400" cy="1035076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18" y="1081825"/>
            <a:ext cx="11178862" cy="5434885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smtClean="0"/>
              <a:t>if-else</a:t>
            </a:r>
            <a:r>
              <a:rPr lang="en-US" sz="3200" dirty="0" smtClean="0"/>
              <a:t> statement  (syntax)</a:t>
            </a:r>
          </a:p>
          <a:p>
            <a:pPr marL="0" indent="0" algn="just">
              <a:buNone/>
            </a:pPr>
            <a:r>
              <a:rPr lang="en-US" sz="3200" i="1" dirty="0" smtClean="0">
                <a:solidFill>
                  <a:srgbClr val="FF0000"/>
                </a:solidFill>
              </a:rPr>
              <a:t> </a:t>
            </a:r>
            <a:r>
              <a:rPr lang="en-US" sz="3200" i="1" dirty="0">
                <a:solidFill>
                  <a:srgbClr val="FF0000"/>
                </a:solidFill>
              </a:rPr>
              <a:t>if(condition){</a:t>
            </a:r>
          </a:p>
          <a:p>
            <a:pPr marL="0" indent="0" algn="just">
              <a:buNone/>
            </a:pPr>
            <a:r>
              <a:rPr lang="en-US" sz="3200" i="1" dirty="0">
                <a:solidFill>
                  <a:srgbClr val="FF0000"/>
                </a:solidFill>
              </a:rPr>
              <a:t>     body of the if statement;</a:t>
            </a:r>
          </a:p>
          <a:p>
            <a:pPr marL="0" indent="0" algn="just">
              <a:buNone/>
            </a:pPr>
            <a:r>
              <a:rPr lang="en-US" sz="3200" i="1" dirty="0">
                <a:solidFill>
                  <a:srgbClr val="FF0000"/>
                </a:solidFill>
              </a:rPr>
              <a:t>      }else</a:t>
            </a:r>
            <a:r>
              <a:rPr lang="en-US" sz="3200" i="1" dirty="0" smtClean="0">
                <a:solidFill>
                  <a:srgbClr val="FF0000"/>
                </a:solidFill>
              </a:rPr>
              <a:t>{</a:t>
            </a:r>
            <a:endParaRPr lang="en-US" sz="3200" i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3200" i="1" dirty="0">
                <a:solidFill>
                  <a:srgbClr val="FF0000"/>
                </a:solidFill>
              </a:rPr>
              <a:t>        body of the else </a:t>
            </a:r>
            <a:r>
              <a:rPr lang="en-US" sz="3200" i="1" dirty="0" smtClean="0">
                <a:solidFill>
                  <a:srgbClr val="FF0000"/>
                </a:solidFill>
              </a:rPr>
              <a:t>statement;</a:t>
            </a:r>
            <a:endParaRPr lang="en-US" sz="3200" i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3200" i="1" dirty="0">
                <a:solidFill>
                  <a:srgbClr val="FF0000"/>
                </a:solidFill>
              </a:rPr>
              <a:t>       }</a:t>
            </a:r>
          </a:p>
        </p:txBody>
      </p:sp>
    </p:spTree>
    <p:extLst>
      <p:ext uri="{BB962C8B-B14F-4D97-AF65-F5344CB8AC3E}">
        <p14:creationId xmlns:p14="http://schemas.microsoft.com/office/powerpoint/2010/main" val="45652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178" y="0"/>
            <a:ext cx="10058400" cy="1120462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397" y="914399"/>
            <a:ext cx="11204620" cy="561518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IF-ELSE </a:t>
            </a:r>
            <a:r>
              <a:rPr lang="en-US" sz="3200" dirty="0" smtClean="0"/>
              <a:t>Statement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67" y="1767872"/>
            <a:ext cx="5524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4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637" y="0"/>
            <a:ext cx="10058400" cy="1210614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276" y="1146219"/>
            <a:ext cx="11088710" cy="5215943"/>
          </a:xfrm>
        </p:spPr>
        <p:txBody>
          <a:bodyPr>
            <a:normAutofit/>
          </a:bodyPr>
          <a:lstStyle/>
          <a:p>
            <a:pPr algn="just"/>
            <a:r>
              <a:rPr lang="en-US" sz="3200" dirty="0" smtClean="0"/>
              <a:t>Example:</a:t>
            </a:r>
          </a:p>
          <a:p>
            <a:pPr lvl="1" algn="just"/>
            <a:r>
              <a:rPr lang="en-US" sz="3000" i="1" dirty="0" smtClean="0"/>
              <a:t>Suppose </a:t>
            </a:r>
            <a:r>
              <a:rPr lang="en-US" sz="3000" i="1" dirty="0"/>
              <a:t>a </a:t>
            </a:r>
            <a:r>
              <a:rPr lang="en-US" sz="3000" i="1" dirty="0" smtClean="0"/>
              <a:t>program displays </a:t>
            </a:r>
            <a:r>
              <a:rPr lang="en-US" sz="3000" i="1" dirty="0"/>
              <a:t>Pass if the student gets </a:t>
            </a:r>
            <a:r>
              <a:rPr lang="en-US" sz="3000" i="1" dirty="0" smtClean="0"/>
              <a:t>60 </a:t>
            </a:r>
            <a:r>
              <a:rPr lang="en-US" sz="3000" i="1" dirty="0"/>
              <a:t>or more than </a:t>
            </a:r>
            <a:r>
              <a:rPr lang="en-US" sz="3000" i="1" dirty="0" smtClean="0"/>
              <a:t>60 </a:t>
            </a:r>
            <a:r>
              <a:rPr lang="en-US" sz="3000" i="1" dirty="0"/>
              <a:t>marks and displays Fail when the marks are below </a:t>
            </a:r>
            <a:r>
              <a:rPr lang="en-US" sz="3000" i="1" dirty="0" smtClean="0"/>
              <a:t>60</a:t>
            </a:r>
            <a:r>
              <a:rPr lang="en-US" sz="3000" dirty="0" smtClean="0"/>
              <a:t>.</a:t>
            </a:r>
          </a:p>
          <a:p>
            <a:pPr lvl="2" algn="just"/>
            <a:r>
              <a:rPr lang="en-US" sz="2800" dirty="0" smtClean="0"/>
              <a:t>Pseudocode </a:t>
            </a:r>
            <a:r>
              <a:rPr lang="en-US" sz="2800" dirty="0"/>
              <a:t>of the solution:</a:t>
            </a:r>
            <a:endParaRPr lang="en-US" sz="2800" dirty="0" smtClean="0"/>
          </a:p>
          <a:p>
            <a:pPr lvl="3" algn="just"/>
            <a:r>
              <a:rPr lang="en-US" sz="2600" dirty="0" smtClean="0"/>
              <a:t>Task: Evaluating student performance</a:t>
            </a:r>
          </a:p>
          <a:p>
            <a:pPr lvl="3" algn="just"/>
            <a:r>
              <a:rPr lang="en-US" sz="2600" dirty="0" smtClean="0"/>
              <a:t>Step </a:t>
            </a:r>
            <a:r>
              <a:rPr lang="en-US" sz="2600" dirty="0"/>
              <a:t>1: Start</a:t>
            </a:r>
          </a:p>
          <a:p>
            <a:pPr lvl="3" algn="just"/>
            <a:r>
              <a:rPr lang="en-US" sz="2600" dirty="0"/>
              <a:t>Step 2: Get student’s score: x</a:t>
            </a:r>
          </a:p>
          <a:p>
            <a:pPr lvl="3" algn="just"/>
            <a:r>
              <a:rPr lang="en-US" sz="2600" dirty="0"/>
              <a:t>Step 3: If student’s score (x) is equal or greater than 60, print: </a:t>
            </a:r>
            <a:r>
              <a:rPr lang="en-US" sz="2600" dirty="0" smtClean="0"/>
              <a:t>Passed, </a:t>
            </a:r>
            <a:r>
              <a:rPr lang="en-US" sz="2600" dirty="0"/>
              <a:t>otherwise print : </a:t>
            </a:r>
            <a:r>
              <a:rPr lang="en-US" sz="2600" dirty="0" smtClean="0"/>
              <a:t>Failed</a:t>
            </a:r>
            <a:endParaRPr lang="en-US" sz="2600" dirty="0"/>
          </a:p>
          <a:p>
            <a:pPr lvl="3" algn="just"/>
            <a:r>
              <a:rPr lang="en-US" sz="2600" dirty="0"/>
              <a:t>Step 4: </a:t>
            </a:r>
            <a:r>
              <a:rPr lang="en-US" sz="2600" dirty="0" smtClean="0"/>
              <a:t>Stop</a:t>
            </a:r>
            <a:endParaRPr lang="en-US" sz="32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86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38106"/>
          </a:xfrm>
        </p:spPr>
        <p:txBody>
          <a:bodyPr/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275" y="965915"/>
            <a:ext cx="11513713" cy="5589431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Example:</a:t>
            </a:r>
          </a:p>
          <a:p>
            <a:pPr lvl="1" algn="just"/>
            <a:r>
              <a:rPr lang="en-US" sz="3000" i="1" dirty="0"/>
              <a:t>Suppose a program displays Pass if the student gets 60 or more than 60 marks and displays Fail when the marks are below </a:t>
            </a:r>
            <a:r>
              <a:rPr lang="en-US" sz="3000" i="1" dirty="0" smtClean="0"/>
              <a:t>60</a:t>
            </a:r>
            <a:r>
              <a:rPr lang="en-US" sz="3000" dirty="0" smtClean="0"/>
              <a:t>.</a:t>
            </a:r>
          </a:p>
          <a:p>
            <a:pPr lvl="2" algn="just"/>
            <a:r>
              <a:rPr lang="en-US" sz="3000" dirty="0" smtClean="0"/>
              <a:t>Flowchart of the solution:</a:t>
            </a:r>
          </a:p>
          <a:p>
            <a:pPr marL="0" indent="0" algn="just">
              <a:buNone/>
            </a:pPr>
            <a:endParaRPr lang="en-US" sz="3200" i="1" dirty="0" smtClean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675" y="2964459"/>
            <a:ext cx="7283633" cy="302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0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606" y="0"/>
            <a:ext cx="10058400" cy="850006"/>
          </a:xfrm>
        </p:spPr>
        <p:txBody>
          <a:bodyPr/>
          <a:lstStyle/>
          <a:p>
            <a:r>
              <a:rPr lang="en-US" dirty="0" smtClean="0"/>
              <a:t>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245" y="978793"/>
            <a:ext cx="11539470" cy="5731099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if-else if </a:t>
            </a:r>
            <a:r>
              <a:rPr lang="en-US" sz="3200" dirty="0" smtClean="0"/>
              <a:t>statement</a:t>
            </a:r>
          </a:p>
          <a:p>
            <a:pPr lvl="1"/>
            <a:r>
              <a:rPr lang="en-US" sz="3000" dirty="0" smtClean="0"/>
              <a:t>The </a:t>
            </a:r>
            <a:r>
              <a:rPr lang="en-US" sz="2800" b="1" dirty="0"/>
              <a:t>if-else if </a:t>
            </a:r>
            <a:r>
              <a:rPr lang="en-US" sz="2800" dirty="0" smtClean="0"/>
              <a:t>statement is a multi-alternative statement that can be used to choose one block of statements from many blocks of statements, if the condition is true.</a:t>
            </a:r>
          </a:p>
          <a:p>
            <a:pPr lvl="2"/>
            <a:r>
              <a:rPr lang="en-US" sz="2600" dirty="0" smtClean="0"/>
              <a:t>Each </a:t>
            </a:r>
            <a:r>
              <a:rPr lang="en-US" sz="2600" b="1" dirty="0" smtClean="0"/>
              <a:t>if</a:t>
            </a:r>
            <a:r>
              <a:rPr lang="en-US" sz="2600" dirty="0" smtClean="0"/>
              <a:t> and </a:t>
            </a:r>
            <a:r>
              <a:rPr lang="en-US" sz="2600" b="1" dirty="0" smtClean="0"/>
              <a:t>else if </a:t>
            </a:r>
            <a:r>
              <a:rPr lang="en-US" sz="2600" dirty="0" smtClean="0"/>
              <a:t>part contains a condition.</a:t>
            </a:r>
            <a:endParaRPr lang="en-US" sz="2800" dirty="0"/>
          </a:p>
          <a:p>
            <a:pPr lvl="2"/>
            <a:r>
              <a:rPr lang="en-US" sz="2800" dirty="0" smtClean="0"/>
              <a:t>Only one block will be selected and the rest will be ignored/skipped.</a:t>
            </a:r>
          </a:p>
          <a:p>
            <a:pPr lvl="1"/>
            <a:r>
              <a:rPr lang="en-US" sz="2800" dirty="0" smtClean="0"/>
              <a:t>The </a:t>
            </a:r>
            <a:r>
              <a:rPr lang="en-US" sz="2800" b="1" dirty="0"/>
              <a:t>if-else if </a:t>
            </a:r>
            <a:r>
              <a:rPr lang="en-US" sz="2800" dirty="0"/>
              <a:t>statement </a:t>
            </a:r>
            <a:r>
              <a:rPr lang="en-US" sz="2800" dirty="0" smtClean="0"/>
              <a:t>is similar to nested </a:t>
            </a:r>
            <a:r>
              <a:rPr lang="en-US" sz="2800" b="1" dirty="0" smtClean="0"/>
              <a:t>if</a:t>
            </a:r>
            <a:r>
              <a:rPr lang="en-US" sz="2800" dirty="0" smtClean="0"/>
              <a:t> statement.</a:t>
            </a:r>
          </a:p>
          <a:p>
            <a:pPr lvl="2"/>
            <a:r>
              <a:rPr lang="en-US" sz="2600" dirty="0" smtClean="0"/>
              <a:t>An </a:t>
            </a:r>
            <a:r>
              <a:rPr lang="en-US" sz="2600" b="1" dirty="0" smtClean="0"/>
              <a:t>if/if – else </a:t>
            </a:r>
            <a:r>
              <a:rPr lang="en-US" sz="2600" dirty="0" smtClean="0"/>
              <a:t>structure inside another </a:t>
            </a:r>
            <a:r>
              <a:rPr lang="en-US" sz="2600" b="1" dirty="0" smtClean="0"/>
              <a:t>if/if – else </a:t>
            </a:r>
            <a:r>
              <a:rPr lang="en-US" sz="2600" dirty="0" smtClean="0"/>
              <a:t>structure.</a:t>
            </a:r>
          </a:p>
          <a:p>
            <a:pPr lvl="2"/>
            <a:r>
              <a:rPr lang="en-US" sz="2600" dirty="0" smtClean="0"/>
              <a:t>Nested </a:t>
            </a:r>
            <a:r>
              <a:rPr lang="en-US" sz="2600" b="1" dirty="0" smtClean="0"/>
              <a:t>if </a:t>
            </a:r>
            <a:r>
              <a:rPr lang="en-US" sz="2600" dirty="0" smtClean="0"/>
              <a:t>statements become difficult to control because of indentation.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3597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if-else if</a:t>
            </a:r>
            <a:endParaRPr lang="en-US" sz="3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367" y="1655545"/>
            <a:ext cx="7027229" cy="498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0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81825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17" y="940158"/>
            <a:ext cx="11191741" cy="5434884"/>
          </a:xfrm>
        </p:spPr>
        <p:txBody>
          <a:bodyPr>
            <a:normAutofit/>
          </a:bodyPr>
          <a:lstStyle/>
          <a:p>
            <a:r>
              <a:rPr lang="en-US" sz="2800" dirty="0"/>
              <a:t>Write an algorithm to determine a student’s final grade and indicate whether it is passing or failing. The final grade is calculated as the average of four marks</a:t>
            </a:r>
            <a:r>
              <a:rPr lang="en-US" sz="2800" dirty="0" smtClean="0"/>
              <a:t>.</a:t>
            </a:r>
          </a:p>
          <a:p>
            <a:pPr lvl="1"/>
            <a:r>
              <a:rPr lang="en-US" sz="2600" dirty="0" smtClean="0"/>
              <a:t>Pseudocode:</a:t>
            </a:r>
          </a:p>
          <a:p>
            <a:pPr lvl="2"/>
            <a:r>
              <a:rPr lang="en-US" sz="2400" dirty="0" smtClean="0"/>
              <a:t>Task: Evaluating students performance</a:t>
            </a:r>
          </a:p>
          <a:p>
            <a:pPr lvl="2"/>
            <a:r>
              <a:rPr lang="en-US" sz="2400" dirty="0" smtClean="0"/>
              <a:t>Step </a:t>
            </a:r>
            <a:r>
              <a:rPr lang="en-US" sz="2400" dirty="0"/>
              <a:t>1: start</a:t>
            </a:r>
          </a:p>
          <a:p>
            <a:pPr lvl="2"/>
            <a:r>
              <a:rPr lang="en-US" sz="2400" dirty="0"/>
              <a:t>Step 2: Input M1,M2,M3,M4</a:t>
            </a:r>
          </a:p>
          <a:p>
            <a:pPr lvl="2"/>
            <a:r>
              <a:rPr lang="en-US" sz="2400" dirty="0"/>
              <a:t>Step 3: GRADE </a:t>
            </a:r>
            <a:r>
              <a:rPr lang="en-US" sz="2400" dirty="0">
                <a:sym typeface="Wingdings" panose="05000000000000000000" pitchFamily="2" charset="2"/>
              </a:rPr>
              <a:t></a:t>
            </a:r>
            <a:r>
              <a:rPr lang="en-US" sz="2400" dirty="0"/>
              <a:t> M1+M2+M3+M4)/4</a:t>
            </a:r>
          </a:p>
          <a:p>
            <a:pPr lvl="2"/>
            <a:r>
              <a:rPr lang="en-US" sz="2400" dirty="0"/>
              <a:t>Step 4: if (GRADE &lt; 50) </a:t>
            </a:r>
          </a:p>
          <a:p>
            <a:pPr marL="548640" lvl="2" indent="0">
              <a:buNone/>
            </a:pPr>
            <a:r>
              <a:rPr lang="en-US" sz="2400" dirty="0"/>
              <a:t>                     Print “FAIL”</a:t>
            </a:r>
          </a:p>
          <a:p>
            <a:pPr marL="548640" lvl="2" indent="0">
              <a:buNone/>
            </a:pPr>
            <a:r>
              <a:rPr lang="en-US" sz="2400" dirty="0"/>
              <a:t>             else</a:t>
            </a:r>
          </a:p>
          <a:p>
            <a:pPr marL="548640" lvl="2" indent="0">
              <a:buNone/>
            </a:pPr>
            <a:r>
              <a:rPr lang="en-US" sz="2400" dirty="0"/>
              <a:t>                  Print “PASS”</a:t>
            </a:r>
          </a:p>
          <a:p>
            <a:pPr lvl="2"/>
            <a:r>
              <a:rPr lang="en-US" sz="2400" dirty="0"/>
              <a:t>Step 5: end</a:t>
            </a:r>
          </a:p>
        </p:txBody>
      </p:sp>
    </p:spTree>
    <p:extLst>
      <p:ext uri="{BB962C8B-B14F-4D97-AF65-F5344CB8AC3E}">
        <p14:creationId xmlns:p14="http://schemas.microsoft.com/office/powerpoint/2010/main" val="332261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54546"/>
            <a:ext cx="10058400" cy="901522"/>
          </a:xfrm>
        </p:spPr>
        <p:txBody>
          <a:bodyPr>
            <a:normAutofit/>
          </a:bodyPr>
          <a:lstStyle/>
          <a:p>
            <a:r>
              <a:rPr lang="en-US" dirty="0" smtClean="0"/>
              <a:t>Flow chart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250"/>
          <a:stretch/>
        </p:blipFill>
        <p:spPr>
          <a:xfrm>
            <a:off x="3683358" y="906694"/>
            <a:ext cx="4745255" cy="593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5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454" y="0"/>
            <a:ext cx="10058400" cy="1138106"/>
          </a:xfrm>
        </p:spPr>
        <p:txBody>
          <a:bodyPr/>
          <a:lstStyle/>
          <a:p>
            <a:r>
              <a:rPr lang="en-US" dirty="0"/>
              <a:t>SWITCH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5" y="965915"/>
            <a:ext cx="11127346" cy="5615189"/>
          </a:xfrm>
        </p:spPr>
        <p:txBody>
          <a:bodyPr/>
          <a:lstStyle/>
          <a:p>
            <a:pPr algn="just"/>
            <a:r>
              <a:rPr lang="en-US" sz="2800" dirty="0" smtClean="0"/>
              <a:t>In </a:t>
            </a:r>
            <a:r>
              <a:rPr lang="en-US" sz="2800" dirty="0"/>
              <a:t>computer programming, a </a:t>
            </a:r>
            <a:r>
              <a:rPr lang="en-US" sz="2800" b="1" dirty="0" smtClean="0"/>
              <a:t>switch</a:t>
            </a:r>
            <a:r>
              <a:rPr lang="en-US" sz="2800" dirty="0" smtClean="0"/>
              <a:t> statement (</a:t>
            </a:r>
            <a:r>
              <a:rPr lang="en-US" sz="2800" dirty="0"/>
              <a:t>also known as </a:t>
            </a:r>
            <a:r>
              <a:rPr lang="en-US" sz="2800" b="1" dirty="0"/>
              <a:t>Case Statement</a:t>
            </a:r>
            <a:r>
              <a:rPr lang="en-US" sz="2800" dirty="0"/>
              <a:t>) is a type of control statement that exists in most modern </a:t>
            </a:r>
            <a:r>
              <a:rPr lang="en-US" sz="2800" dirty="0" smtClean="0"/>
              <a:t>programming </a:t>
            </a:r>
            <a:r>
              <a:rPr lang="en-US" sz="2800" dirty="0"/>
              <a:t>languages. </a:t>
            </a:r>
            <a:endParaRPr lang="en-US" sz="2800" dirty="0" smtClean="0"/>
          </a:p>
          <a:p>
            <a:pPr lvl="1" algn="just"/>
            <a:r>
              <a:rPr lang="en-US" sz="2600" dirty="0" smtClean="0"/>
              <a:t>This </a:t>
            </a:r>
            <a:r>
              <a:rPr lang="en-US" sz="2600" dirty="0"/>
              <a:t>is another form of the multi way decision. </a:t>
            </a:r>
          </a:p>
          <a:p>
            <a:pPr lvl="1" algn="just"/>
            <a:r>
              <a:rPr lang="en-US" sz="2800" dirty="0" smtClean="0"/>
              <a:t>A </a:t>
            </a:r>
            <a:r>
              <a:rPr lang="en-US" sz="2800" dirty="0"/>
              <a:t>switch statement is a selection statement that lets you transfer control to different statements within the switch body depending on the </a:t>
            </a:r>
            <a:r>
              <a:rPr lang="en-US" sz="2800" b="1" dirty="0"/>
              <a:t>value</a:t>
            </a:r>
            <a:r>
              <a:rPr lang="en-US" sz="2800" dirty="0"/>
              <a:t> of the switch expression.</a:t>
            </a:r>
          </a:p>
        </p:txBody>
      </p:sp>
    </p:spTree>
    <p:extLst>
      <p:ext uri="{BB962C8B-B14F-4D97-AF65-F5344CB8AC3E}">
        <p14:creationId xmlns:p14="http://schemas.microsoft.com/office/powerpoint/2010/main" val="151064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212" y="149781"/>
            <a:ext cx="10058400" cy="970681"/>
          </a:xfrm>
        </p:spPr>
        <p:txBody>
          <a:bodyPr/>
          <a:lstStyle/>
          <a:p>
            <a:r>
              <a:rPr lang="en-US" dirty="0"/>
              <a:t>SWITCH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397" y="1133341"/>
            <a:ext cx="11140226" cy="5241701"/>
          </a:xfrm>
        </p:spPr>
        <p:txBody>
          <a:bodyPr>
            <a:normAutofit/>
          </a:bodyPr>
          <a:lstStyle/>
          <a:p>
            <a:pPr algn="just"/>
            <a:r>
              <a:rPr lang="en-US" sz="4000" dirty="0" smtClean="0"/>
              <a:t>The </a:t>
            </a:r>
            <a:r>
              <a:rPr lang="en-US" sz="4000" b="1" dirty="0" smtClean="0"/>
              <a:t>switch </a:t>
            </a:r>
            <a:r>
              <a:rPr lang="en-US" sz="4000" dirty="0" smtClean="0"/>
              <a:t>Statement </a:t>
            </a:r>
          </a:p>
          <a:p>
            <a:pPr lvl="1" algn="just"/>
            <a:r>
              <a:rPr lang="en-US" sz="3600" dirty="0" smtClean="0"/>
              <a:t>If </a:t>
            </a:r>
            <a:r>
              <a:rPr lang="en-US" sz="3600" dirty="0"/>
              <a:t>the value of the switch expression equals the value of one of the case expressions, the statements following that case expression are </a:t>
            </a:r>
            <a:r>
              <a:rPr lang="en-US" sz="3600" dirty="0" smtClean="0"/>
              <a:t>processed.</a:t>
            </a:r>
          </a:p>
          <a:p>
            <a:pPr lvl="2" algn="just"/>
            <a:r>
              <a:rPr lang="en-US" sz="3600" dirty="0" smtClean="0"/>
              <a:t>If </a:t>
            </a:r>
            <a:r>
              <a:rPr lang="en-US" sz="3600" dirty="0"/>
              <a:t>not, the default label statements, if any, are processed.</a:t>
            </a:r>
          </a:p>
        </p:txBody>
      </p:sp>
    </p:spTree>
    <p:extLst>
      <p:ext uri="{BB962C8B-B14F-4D97-AF65-F5344CB8AC3E}">
        <p14:creationId xmlns:p14="http://schemas.microsoft.com/office/powerpoint/2010/main" val="178246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727" y="98265"/>
            <a:ext cx="10058400" cy="1073712"/>
          </a:xfrm>
        </p:spPr>
        <p:txBody>
          <a:bodyPr/>
          <a:lstStyle/>
          <a:p>
            <a:r>
              <a:rPr lang="en-US" dirty="0"/>
              <a:t>SWITCH Statement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212" y="965189"/>
            <a:ext cx="7415283" cy="590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9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704" y="1491580"/>
            <a:ext cx="7874300" cy="524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8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211" y="136903"/>
            <a:ext cx="10058400" cy="880529"/>
          </a:xfrm>
        </p:spPr>
        <p:txBody>
          <a:bodyPr/>
          <a:lstStyle/>
          <a:p>
            <a:r>
              <a:rPr lang="en-US" dirty="0"/>
              <a:t>SWITCH Statement </a:t>
            </a:r>
            <a:r>
              <a:rPr lang="en-US" dirty="0" smtClean="0"/>
              <a:t>– EXAMPLE 1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788" y="136904"/>
            <a:ext cx="6312112" cy="66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867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211" y="136903"/>
            <a:ext cx="10058400" cy="880529"/>
          </a:xfrm>
        </p:spPr>
        <p:txBody>
          <a:bodyPr/>
          <a:lstStyle/>
          <a:p>
            <a:r>
              <a:rPr lang="en-US" dirty="0"/>
              <a:t>SWITCH Statement </a:t>
            </a:r>
            <a:r>
              <a:rPr lang="en-US" dirty="0" smtClean="0"/>
              <a:t>– EXAMPLE 2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695" y="1622738"/>
            <a:ext cx="6123252" cy="4043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981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6475" y="2785070"/>
            <a:ext cx="10058400" cy="1609344"/>
          </a:xfrm>
        </p:spPr>
        <p:txBody>
          <a:bodyPr/>
          <a:lstStyle/>
          <a:p>
            <a:r>
              <a:rPr lang="en-US" dirty="0" smtClean="0"/>
              <a:t>Flow of control (repetition)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93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122" y="98266"/>
            <a:ext cx="10058400" cy="1138106"/>
          </a:xfrm>
        </p:spPr>
        <p:txBody>
          <a:bodyPr/>
          <a:lstStyle/>
          <a:p>
            <a:r>
              <a:rPr lang="en-US" dirty="0" smtClean="0"/>
              <a:t>Repetition (loops)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5" y="1068946"/>
            <a:ext cx="10613093" cy="5103254"/>
          </a:xfrm>
        </p:spPr>
        <p:txBody>
          <a:bodyPr>
            <a:normAutofit/>
          </a:bodyPr>
          <a:lstStyle/>
          <a:p>
            <a:r>
              <a:rPr lang="en-US" altLang="en-US" sz="3200" b="1" dirty="0" smtClean="0">
                <a:solidFill>
                  <a:srgbClr val="FF0000"/>
                </a:solidFill>
              </a:rPr>
              <a:t>In Everyday </a:t>
            </a:r>
            <a:r>
              <a:rPr lang="en-US" altLang="en-US" sz="3200" b="1" dirty="0">
                <a:solidFill>
                  <a:srgbClr val="FF0000"/>
                </a:solidFill>
              </a:rPr>
              <a:t>Life:   </a:t>
            </a:r>
            <a:r>
              <a:rPr lang="en-US" altLang="en-US" sz="3200" dirty="0"/>
              <a:t>Every second, we are engaged in one or more control structures</a:t>
            </a:r>
            <a:r>
              <a:rPr lang="en-US" altLang="en-US" sz="3200" dirty="0" smtClean="0"/>
              <a:t>.</a:t>
            </a:r>
          </a:p>
          <a:p>
            <a:pPr lvl="1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5864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2400" dirty="0"/>
              <a:t/>
            </a:r>
            <a:br>
              <a:rPr lang="en-US" altLang="en-US" sz="2400" dirty="0"/>
            </a:br>
            <a:r>
              <a:rPr lang="en-US" altLang="en-US" sz="2400" b="1" dirty="0">
                <a:solidFill>
                  <a:srgbClr val="FF0000"/>
                </a:solidFill>
              </a:rPr>
              <a:t>Everyday Life:   </a:t>
            </a:r>
            <a:r>
              <a:rPr lang="en-US" altLang="en-US" sz="2400" dirty="0"/>
              <a:t>Every second, we are engaged in one or more control structures.</a:t>
            </a:r>
            <a:r>
              <a:rPr lang="en-US" altLang="en-US" u="sng" dirty="0" smtClean="0"/>
              <a:t/>
            </a:r>
            <a:br>
              <a:rPr lang="en-US" altLang="en-US" u="sn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6" descr="CMENO0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3810000"/>
            <a:ext cx="120491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2819400" y="2895600"/>
            <a:ext cx="1295400" cy="990600"/>
          </a:xfrm>
          <a:prstGeom prst="wedgeRoundRectCallout">
            <a:avLst>
              <a:gd name="adj1" fmla="val -54287"/>
              <a:gd name="adj2" fmla="val 9919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/>
              <a:t>I smile WHILE I am happy.</a:t>
            </a:r>
          </a:p>
        </p:txBody>
      </p:sp>
      <p:pic>
        <p:nvPicPr>
          <p:cNvPr id="6" name="Picture 8" descr="CCM012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950" y="4343400"/>
            <a:ext cx="13589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4648200" y="3733800"/>
            <a:ext cx="1295400" cy="990600"/>
          </a:xfrm>
          <a:prstGeom prst="wedgeRoundRectCallout">
            <a:avLst>
              <a:gd name="adj1" fmla="val -51347"/>
              <a:gd name="adj2" fmla="val 9406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/>
              <a:t>I yell WHILE I am mad.</a:t>
            </a:r>
          </a:p>
        </p:txBody>
      </p:sp>
      <p:pic>
        <p:nvPicPr>
          <p:cNvPr id="8" name="Picture 10" descr="CMENO15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4267201"/>
            <a:ext cx="1514475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11"/>
          <p:cNvSpPr>
            <a:spLocks noChangeArrowheads="1"/>
          </p:cNvSpPr>
          <p:nvPr/>
        </p:nvSpPr>
        <p:spPr bwMode="auto">
          <a:xfrm>
            <a:off x="6553200" y="2971801"/>
            <a:ext cx="1752600" cy="1222375"/>
          </a:xfrm>
          <a:prstGeom prst="cloudCallout">
            <a:avLst>
              <a:gd name="adj1" fmla="val -14676"/>
              <a:gd name="adj2" fmla="val 68833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/>
              <a:t>I sleep WHILE I am tired</a:t>
            </a:r>
            <a:r>
              <a:rPr lang="en-US" altLang="en-US" sz="1600" dirty="0"/>
              <a:t>.</a:t>
            </a:r>
          </a:p>
        </p:txBody>
      </p:sp>
      <p:pic>
        <p:nvPicPr>
          <p:cNvPr id="10" name="Picture 12" descr="SICKCOL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4440238"/>
            <a:ext cx="1258888" cy="142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8458200" y="3048000"/>
            <a:ext cx="2133600" cy="1219200"/>
          </a:xfrm>
          <a:prstGeom prst="cloudCallout">
            <a:avLst>
              <a:gd name="adj1" fmla="val -13838"/>
              <a:gd name="adj2" fmla="val 91014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/>
              <a:t>I rest WHILE I am sick.</a:t>
            </a:r>
          </a:p>
        </p:txBody>
      </p:sp>
      <p:pic>
        <p:nvPicPr>
          <p:cNvPr id="12" name="Picture 14" descr="CTOFF13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752600"/>
            <a:ext cx="228600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AutoShape 15"/>
          <p:cNvSpPr>
            <a:spLocks noChangeArrowheads="1"/>
          </p:cNvSpPr>
          <p:nvPr/>
        </p:nvSpPr>
        <p:spPr bwMode="auto">
          <a:xfrm>
            <a:off x="6477000" y="1676401"/>
            <a:ext cx="3581400" cy="917575"/>
          </a:xfrm>
          <a:prstGeom prst="cloudCallout">
            <a:avLst>
              <a:gd name="adj1" fmla="val -74912"/>
              <a:gd name="adj2" fmla="val -30449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1" dirty="0"/>
              <a:t>We listen WHILE the boss is talking.</a:t>
            </a:r>
          </a:p>
        </p:txBody>
      </p:sp>
    </p:spTree>
    <p:extLst>
      <p:ext uri="{BB962C8B-B14F-4D97-AF65-F5344CB8AC3E}">
        <p14:creationId xmlns:p14="http://schemas.microsoft.com/office/powerpoint/2010/main" val="153574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1031211" y="98266"/>
            <a:ext cx="10058400" cy="129265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Why Is Repetition Needed?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0457" y="1094704"/>
            <a:ext cx="11500834" cy="537049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 smtClean="0"/>
              <a:t>Repetition allows you to efficiently use variables.</a:t>
            </a:r>
          </a:p>
          <a:p>
            <a:pPr lvl="1"/>
            <a:r>
              <a:rPr lang="en-US" altLang="en-US" sz="3000" dirty="0" smtClean="0"/>
              <a:t>Using repetition one can input, add, and average multiple numbers using a limited number of variables</a:t>
            </a:r>
          </a:p>
          <a:p>
            <a:pPr lvl="1"/>
            <a:r>
              <a:rPr lang="en-US" altLang="en-US" sz="3000" dirty="0" smtClean="0"/>
              <a:t>For example: To add five numbers:</a:t>
            </a:r>
          </a:p>
          <a:p>
            <a:pPr lvl="2"/>
            <a:r>
              <a:rPr lang="en-US" altLang="en-US" sz="2600" dirty="0"/>
              <a:t>Declare a variable for each number, input the numbers and add the variables </a:t>
            </a:r>
            <a:r>
              <a:rPr lang="en-US" altLang="en-US" sz="2600" dirty="0" smtClean="0"/>
              <a:t>together.</a:t>
            </a:r>
          </a:p>
          <a:p>
            <a:pPr marL="548640" lvl="2" indent="0">
              <a:buNone/>
            </a:pPr>
            <a:r>
              <a:rPr lang="en-US" altLang="en-US" sz="2600" dirty="0" smtClean="0"/>
              <a:t>OR</a:t>
            </a:r>
            <a:endParaRPr lang="en-US" altLang="en-US" sz="2600" dirty="0"/>
          </a:p>
          <a:p>
            <a:pPr lvl="2"/>
            <a:r>
              <a:rPr lang="en-US" altLang="en-US" sz="2600" dirty="0"/>
              <a:t>Create a loop that reads a number into a variable and adds it to a variable that contains the sum of the </a:t>
            </a:r>
            <a:r>
              <a:rPr lang="en-US" altLang="en-US" sz="2600" dirty="0" smtClean="0"/>
              <a:t>numbers.</a:t>
            </a: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2258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56068"/>
          </a:xfrm>
        </p:spPr>
        <p:txBody>
          <a:bodyPr/>
          <a:lstStyle/>
          <a:p>
            <a:r>
              <a:rPr lang="en-US" dirty="0" smtClean="0"/>
              <a:t>Loop (repetition)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881" y="914400"/>
            <a:ext cx="11462197" cy="5550794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A </a:t>
            </a:r>
            <a:r>
              <a:rPr lang="en-US" sz="2800" dirty="0"/>
              <a:t>loop is a sequence of instructions that is continually repeated until a certain condition is reached. </a:t>
            </a:r>
            <a:endParaRPr lang="en-US" sz="2800" dirty="0" smtClean="0"/>
          </a:p>
          <a:p>
            <a:pPr algn="just"/>
            <a:r>
              <a:rPr lang="en-US" sz="2800" dirty="0" smtClean="0"/>
              <a:t>Loops </a:t>
            </a:r>
            <a:r>
              <a:rPr lang="en-US" sz="2800" dirty="0"/>
              <a:t>allow for the same statement to be executed a number of times in succession.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/>
          <a:srcRect b="30655"/>
          <a:stretch/>
        </p:blipFill>
        <p:spPr>
          <a:xfrm>
            <a:off x="2003838" y="2843863"/>
            <a:ext cx="7246852" cy="369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8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970" y="0"/>
            <a:ext cx="10058400" cy="1133341"/>
          </a:xfrm>
        </p:spPr>
        <p:txBody>
          <a:bodyPr/>
          <a:lstStyle/>
          <a:p>
            <a:r>
              <a:rPr lang="en-US" dirty="0" smtClean="0"/>
              <a:t>Types of 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882" y="1300765"/>
            <a:ext cx="11269014" cy="5177307"/>
          </a:xfrm>
        </p:spPr>
        <p:txBody>
          <a:bodyPr>
            <a:normAutofit/>
          </a:bodyPr>
          <a:lstStyle/>
          <a:p>
            <a:pPr algn="just"/>
            <a:r>
              <a:rPr lang="en-US" sz="6000" b="1" dirty="0" smtClean="0"/>
              <a:t>for</a:t>
            </a:r>
            <a:r>
              <a:rPr lang="en-US" sz="6000" dirty="0" smtClean="0"/>
              <a:t> </a:t>
            </a:r>
            <a:r>
              <a:rPr lang="en-US" sz="6000" dirty="0"/>
              <a:t>Loop </a:t>
            </a:r>
          </a:p>
          <a:p>
            <a:pPr algn="just"/>
            <a:r>
              <a:rPr lang="en-US" sz="6000" b="1" dirty="0" smtClean="0"/>
              <a:t>while </a:t>
            </a:r>
            <a:r>
              <a:rPr lang="en-US" sz="6000" dirty="0" smtClean="0"/>
              <a:t>Loop </a:t>
            </a:r>
            <a:endParaRPr lang="en-US" sz="6000" dirty="0"/>
          </a:p>
          <a:p>
            <a:pPr algn="just"/>
            <a:r>
              <a:rPr lang="en-US" sz="6000" b="1" dirty="0" smtClean="0"/>
              <a:t>do … while </a:t>
            </a:r>
            <a:r>
              <a:rPr lang="en-US" sz="6000" dirty="0" smtClean="0"/>
              <a:t>Loop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49543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84856"/>
          </a:xfrm>
        </p:spPr>
        <p:txBody>
          <a:bodyPr/>
          <a:lstStyle/>
          <a:p>
            <a:r>
              <a:rPr lang="en-US" dirty="0" smtClean="0"/>
              <a:t>FOR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5" y="1068946"/>
            <a:ext cx="11101589" cy="5447764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 </a:t>
            </a:r>
            <a:r>
              <a:rPr lang="en-US" sz="2800" b="1" dirty="0" smtClean="0"/>
              <a:t>for</a:t>
            </a:r>
            <a:r>
              <a:rPr lang="en-US" sz="2800" dirty="0" smtClean="0"/>
              <a:t> </a:t>
            </a:r>
            <a:r>
              <a:rPr lang="en-US" sz="2800" dirty="0"/>
              <a:t>loop is a loop that repeats a specified number of times. </a:t>
            </a:r>
            <a:endParaRPr lang="en-US" sz="2800" dirty="0" smtClean="0"/>
          </a:p>
          <a:p>
            <a:pPr lvl="1"/>
            <a:r>
              <a:rPr lang="en-US" sz="2600" dirty="0" smtClean="0"/>
              <a:t>The </a:t>
            </a:r>
            <a:r>
              <a:rPr lang="en-US" sz="2600" dirty="0"/>
              <a:t>loop uses a counter to tell it how many times to run the same sequence of activities</a:t>
            </a:r>
            <a:r>
              <a:rPr lang="en-US" sz="2600" dirty="0" smtClean="0"/>
              <a:t>.</a:t>
            </a:r>
          </a:p>
          <a:p>
            <a:pPr lvl="1"/>
            <a:r>
              <a:rPr lang="en-US" sz="2600" dirty="0"/>
              <a:t>The counter has the following three numeric </a:t>
            </a:r>
            <a:r>
              <a:rPr lang="en-US" sz="2600" dirty="0" smtClean="0"/>
              <a:t>values:</a:t>
            </a:r>
          </a:p>
          <a:p>
            <a:pPr lvl="2"/>
            <a:r>
              <a:rPr lang="en-US" sz="2400" dirty="0" smtClean="0"/>
              <a:t>Initial </a:t>
            </a:r>
            <a:r>
              <a:rPr lang="en-US" sz="2400" dirty="0"/>
              <a:t>counter </a:t>
            </a:r>
            <a:r>
              <a:rPr lang="en-US" sz="2400" dirty="0" smtClean="0"/>
              <a:t>value</a:t>
            </a:r>
          </a:p>
          <a:p>
            <a:pPr lvl="2"/>
            <a:r>
              <a:rPr lang="en-US" sz="2600" dirty="0" smtClean="0"/>
              <a:t>Condition</a:t>
            </a:r>
            <a:endParaRPr lang="en-US" sz="2600" dirty="0"/>
          </a:p>
          <a:p>
            <a:pPr lvl="2"/>
            <a:r>
              <a:rPr lang="en-US" sz="2600" dirty="0" smtClean="0"/>
              <a:t>Increment/Decrement </a:t>
            </a:r>
            <a:r>
              <a:rPr lang="en-US" sz="2600" dirty="0"/>
              <a:t>(the amount to </a:t>
            </a:r>
            <a:r>
              <a:rPr lang="en-US" sz="2600" dirty="0" smtClean="0"/>
              <a:t>add to/decrease from  </a:t>
            </a:r>
            <a:r>
              <a:rPr lang="en-US" sz="2600" dirty="0"/>
              <a:t>the counter each time the loop </a:t>
            </a:r>
            <a:r>
              <a:rPr lang="en-US" sz="2600" dirty="0" smtClean="0"/>
              <a:t>runs).</a:t>
            </a:r>
          </a:p>
          <a:p>
            <a:pPr lvl="1"/>
            <a:r>
              <a:rPr lang="en-US" sz="2800" dirty="0" smtClean="0"/>
              <a:t>NOTE:</a:t>
            </a:r>
          </a:p>
          <a:p>
            <a:pPr lvl="2"/>
            <a:r>
              <a:rPr lang="en-US" sz="2800" dirty="0"/>
              <a:t>The loop ends when the counter reaches the </a:t>
            </a:r>
            <a:r>
              <a:rPr lang="en-US" sz="2800" dirty="0" smtClean="0"/>
              <a:t>condition</a:t>
            </a:r>
          </a:p>
          <a:p>
            <a:pPr marL="548640" lvl="2" indent="0">
              <a:buNone/>
            </a:pPr>
            <a:r>
              <a:rPr lang="en-US" sz="2800" dirty="0" smtClean="0"/>
              <a:t>OR</a:t>
            </a:r>
          </a:p>
          <a:p>
            <a:pPr lvl="2"/>
            <a:r>
              <a:rPr lang="en-US" sz="2800" dirty="0" smtClean="0"/>
              <a:t>If </a:t>
            </a:r>
            <a:r>
              <a:rPr lang="en-US" sz="2800" dirty="0"/>
              <a:t>there is an associated test condition, when the test condition is true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499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180" y="42652"/>
            <a:ext cx="10058400" cy="1142204"/>
          </a:xfrm>
        </p:spPr>
        <p:txBody>
          <a:bodyPr/>
          <a:lstStyle/>
          <a:p>
            <a:r>
              <a:rPr lang="en-US" dirty="0" smtClean="0"/>
              <a:t>FOR Loop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965" y="1053388"/>
            <a:ext cx="6757837" cy="580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2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3028" b="1"/>
          <a:stretch/>
        </p:blipFill>
        <p:spPr>
          <a:xfrm>
            <a:off x="4760645" y="211756"/>
            <a:ext cx="5057775" cy="677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0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727" y="98266"/>
            <a:ext cx="10058400" cy="1254016"/>
          </a:xfrm>
        </p:spPr>
        <p:txBody>
          <a:bodyPr/>
          <a:lstStyle/>
          <a:p>
            <a:r>
              <a:rPr lang="en-US" dirty="0" smtClean="0"/>
              <a:t>FOR loop (Pseudocode)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262130"/>
            <a:ext cx="10535820" cy="491007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smtClean="0"/>
              <a:t>for x times </a:t>
            </a:r>
          </a:p>
          <a:p>
            <a:pPr marL="0" indent="0">
              <a:buNone/>
            </a:pPr>
            <a:r>
              <a:rPr lang="en-US" sz="3200" dirty="0" smtClean="0"/>
              <a:t>  Do Something</a:t>
            </a:r>
          </a:p>
          <a:p>
            <a:pPr marL="0" indent="0">
              <a:buNone/>
            </a:pPr>
            <a:r>
              <a:rPr lang="en-US" sz="3200" dirty="0" smtClean="0"/>
              <a:t> Increment/Decrement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35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98266"/>
            <a:ext cx="10058400" cy="1009317"/>
          </a:xfrm>
        </p:spPr>
        <p:txBody>
          <a:bodyPr/>
          <a:lstStyle/>
          <a:p>
            <a:r>
              <a:rPr lang="en-US" dirty="0" smtClean="0"/>
              <a:t>For loop (example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47" y="1068946"/>
            <a:ext cx="10973702" cy="5103254"/>
          </a:xfrm>
        </p:spPr>
        <p:txBody>
          <a:bodyPr/>
          <a:lstStyle/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548640" lvl="2" indent="0">
              <a:buNone/>
            </a:pPr>
            <a:r>
              <a:rPr lang="en-US" sz="4400" dirty="0" smtClean="0"/>
              <a:t>for </a:t>
            </a:r>
            <a:r>
              <a:rPr lang="en-US" sz="4400" dirty="0"/>
              <a:t>(x=1, x&lt;5, x</a:t>
            </a:r>
            <a:r>
              <a:rPr lang="en-US" sz="4400" dirty="0" smtClean="0"/>
              <a:t>++)</a:t>
            </a:r>
          </a:p>
          <a:p>
            <a:pPr marL="548640" lvl="2" indent="0">
              <a:buNone/>
            </a:pPr>
            <a:r>
              <a:rPr lang="en-US" sz="4400" dirty="0" smtClean="0"/>
              <a:t>print </a:t>
            </a:r>
            <a:r>
              <a:rPr lang="en-US" sz="4400" dirty="0"/>
              <a:t>“Hello World</a:t>
            </a:r>
            <a:r>
              <a:rPr lang="en-US" sz="4400" dirty="0" smtClean="0"/>
              <a:t>”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319" y="1846605"/>
            <a:ext cx="41243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5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606" y="162660"/>
            <a:ext cx="10058400" cy="1022196"/>
          </a:xfrm>
        </p:spPr>
        <p:txBody>
          <a:bodyPr/>
          <a:lstStyle/>
          <a:p>
            <a:r>
              <a:rPr lang="en-US" dirty="0" smtClean="0"/>
              <a:t>For loop (Example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84857"/>
            <a:ext cx="10883549" cy="4987344"/>
          </a:xfrm>
        </p:spPr>
        <p:txBody>
          <a:bodyPr/>
          <a:lstStyle/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548640" lvl="2" indent="0">
              <a:buNone/>
            </a:pPr>
            <a:r>
              <a:rPr lang="en-US" sz="4400" dirty="0" smtClean="0"/>
              <a:t>for </a:t>
            </a:r>
            <a:r>
              <a:rPr lang="en-US" sz="4400" dirty="0"/>
              <a:t>(x=1, x&lt;=4, x</a:t>
            </a:r>
            <a:r>
              <a:rPr lang="en-US" sz="4400" dirty="0" smtClean="0"/>
              <a:t>++)</a:t>
            </a:r>
          </a:p>
          <a:p>
            <a:pPr marL="548640" lvl="2" indent="0">
              <a:buNone/>
            </a:pPr>
            <a:r>
              <a:rPr lang="en-US" sz="4400" dirty="0" smtClean="0"/>
              <a:t>print x</a:t>
            </a:r>
            <a:endParaRPr lang="en-US" sz="44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121" y="2337054"/>
            <a:ext cx="401955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8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loop (example 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882" y="1648496"/>
            <a:ext cx="10690366" cy="4523704"/>
          </a:xfrm>
        </p:spPr>
        <p:txBody>
          <a:bodyPr/>
          <a:lstStyle/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pPr marL="548640" lvl="2" indent="0">
              <a:buNone/>
            </a:pPr>
            <a:r>
              <a:rPr lang="en-US" sz="4400" dirty="0" smtClean="0"/>
              <a:t>for </a:t>
            </a:r>
            <a:r>
              <a:rPr lang="en-US" sz="4400" dirty="0"/>
              <a:t>(x=5, x&gt;0, x--) </a:t>
            </a:r>
            <a:endParaRPr lang="en-US" sz="4400" dirty="0" smtClean="0"/>
          </a:p>
          <a:p>
            <a:pPr marL="548640" lvl="2" indent="0">
              <a:buNone/>
            </a:pPr>
            <a:r>
              <a:rPr lang="en-US" sz="4400" dirty="0" smtClean="0"/>
              <a:t>print x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819" y="2234184"/>
            <a:ext cx="398145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4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637" y="0"/>
            <a:ext cx="10058400" cy="1081825"/>
          </a:xfrm>
        </p:spPr>
        <p:txBody>
          <a:bodyPr/>
          <a:lstStyle/>
          <a:p>
            <a:r>
              <a:rPr lang="en-US" dirty="0" smtClean="0"/>
              <a:t>For loop (example 3 - FLOWCHART)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275" y="1081825"/>
            <a:ext cx="11127347" cy="5357612"/>
          </a:xfrm>
        </p:spPr>
        <p:txBody>
          <a:bodyPr/>
          <a:lstStyle/>
          <a:p>
            <a:pPr marL="274320" lvl="1" indent="0">
              <a:buNone/>
            </a:pPr>
            <a:endParaRPr lang="en-US" sz="3000" dirty="0" smtClean="0"/>
          </a:p>
          <a:p>
            <a:pPr marL="274320" lvl="1" indent="0">
              <a:buNone/>
            </a:pPr>
            <a:endParaRPr lang="en-US" sz="3000" dirty="0"/>
          </a:p>
          <a:p>
            <a:pPr marL="274320" lvl="1" indent="0">
              <a:buNone/>
            </a:pPr>
            <a:endParaRPr lang="en-US" sz="3000" dirty="0" smtClean="0"/>
          </a:p>
          <a:p>
            <a:pPr marL="274320" lvl="1" indent="0">
              <a:buNone/>
            </a:pPr>
            <a:r>
              <a:rPr lang="en-US" sz="3600" dirty="0" smtClean="0"/>
              <a:t>for </a:t>
            </a:r>
            <a:r>
              <a:rPr lang="en-US" sz="3600" dirty="0"/>
              <a:t>(x=5, x&gt;0, x--) </a:t>
            </a:r>
            <a:endParaRPr lang="en-US" sz="3600" dirty="0" smtClean="0"/>
          </a:p>
          <a:p>
            <a:pPr marL="274320" lvl="1" indent="0">
              <a:buNone/>
            </a:pPr>
            <a:r>
              <a:rPr lang="en-US" sz="3600" dirty="0" smtClean="0"/>
              <a:t>print x</a:t>
            </a:r>
            <a:endParaRPr lang="en-US" sz="3600" dirty="0"/>
          </a:p>
          <a:p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7856113" y="1339403"/>
            <a:ext cx="991673" cy="2704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 </a:t>
            </a:r>
            <a:endParaRPr lang="en-US" dirty="0"/>
          </a:p>
        </p:txBody>
      </p:sp>
      <p:cxnSp>
        <p:nvCxnSpPr>
          <p:cNvPr id="7" name="Straight Arrow Connector 6"/>
          <p:cNvCxnSpPr>
            <a:stCxn id="5" idx="2"/>
          </p:cNvCxnSpPr>
          <p:nvPr/>
        </p:nvCxnSpPr>
        <p:spPr>
          <a:xfrm flipH="1">
            <a:off x="8351949" y="1609859"/>
            <a:ext cx="1" cy="6439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946265" y="2253803"/>
            <a:ext cx="759853" cy="283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 = 5</a:t>
            </a:r>
            <a:endParaRPr lang="en-US" dirty="0"/>
          </a:p>
        </p:txBody>
      </p:sp>
      <p:cxnSp>
        <p:nvCxnSpPr>
          <p:cNvPr id="10" name="Straight Arrow Connector 9"/>
          <p:cNvCxnSpPr>
            <a:stCxn id="8" idx="2"/>
          </p:cNvCxnSpPr>
          <p:nvPr/>
        </p:nvCxnSpPr>
        <p:spPr>
          <a:xfrm flipH="1">
            <a:off x="8326191" y="2537138"/>
            <a:ext cx="1" cy="5795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Decision 10"/>
          <p:cNvSpPr/>
          <p:nvPr/>
        </p:nvSpPr>
        <p:spPr>
          <a:xfrm>
            <a:off x="7398912" y="3116687"/>
            <a:ext cx="1873876" cy="52803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is x&gt;0?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11" idx="2"/>
          </p:cNvCxnSpPr>
          <p:nvPr/>
        </p:nvCxnSpPr>
        <p:spPr>
          <a:xfrm flipH="1">
            <a:off x="8326192" y="3644721"/>
            <a:ext cx="9658" cy="5795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98912" y="4224270"/>
            <a:ext cx="1873876" cy="73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display x</a:t>
            </a:r>
          </a:p>
          <a:p>
            <a:pPr algn="ctr"/>
            <a:r>
              <a:rPr lang="en-US" dirty="0" smtClean="0"/>
              <a:t>x--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274676" y="3683358"/>
            <a:ext cx="82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True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440214" y="4238360"/>
            <a:ext cx="824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False</a:t>
            </a:r>
            <a:endParaRPr lang="en-US" dirty="0"/>
          </a:p>
        </p:txBody>
      </p:sp>
      <p:cxnSp>
        <p:nvCxnSpPr>
          <p:cNvPr id="21" name="Elbow Connector 20"/>
          <p:cNvCxnSpPr>
            <a:stCxn id="11" idx="3"/>
            <a:endCxn id="30" idx="3"/>
          </p:cNvCxnSpPr>
          <p:nvPr/>
        </p:nvCxnSpPr>
        <p:spPr>
          <a:xfrm flipH="1">
            <a:off x="9098923" y="3380704"/>
            <a:ext cx="173865" cy="2382592"/>
          </a:xfrm>
          <a:prstGeom prst="bentConnector3">
            <a:avLst>
              <a:gd name="adj1" fmla="val -13148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07250" y="5628068"/>
            <a:ext cx="991673" cy="2704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91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969" y="98266"/>
            <a:ext cx="10058400" cy="1060833"/>
          </a:xfrm>
        </p:spPr>
        <p:txBody>
          <a:bodyPr/>
          <a:lstStyle/>
          <a:p>
            <a:r>
              <a:rPr lang="en-US" dirty="0" smtClean="0"/>
              <a:t>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51" y="1094703"/>
            <a:ext cx="11513712" cy="5434885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 A </a:t>
            </a:r>
            <a:r>
              <a:rPr lang="en-US" sz="3600" b="1" dirty="0" smtClean="0"/>
              <a:t>while</a:t>
            </a:r>
            <a:r>
              <a:rPr lang="en-US" sz="3600" dirty="0" smtClean="0"/>
              <a:t> </a:t>
            </a:r>
            <a:r>
              <a:rPr lang="en-US" sz="3600" dirty="0"/>
              <a:t>loop is a loop that repeats while some condition is </a:t>
            </a:r>
            <a:r>
              <a:rPr lang="en-US" sz="3600" dirty="0" smtClean="0"/>
              <a:t>satisfied.</a:t>
            </a:r>
          </a:p>
          <a:p>
            <a:pPr lvl="1" algn="just"/>
            <a:r>
              <a:rPr lang="en-US" sz="3200" dirty="0" smtClean="0"/>
              <a:t>The </a:t>
            </a:r>
            <a:r>
              <a:rPr lang="en-US" sz="3200" b="1" dirty="0" smtClean="0"/>
              <a:t>while</a:t>
            </a:r>
            <a:r>
              <a:rPr lang="en-US" sz="3200" dirty="0" smtClean="0"/>
              <a:t> </a:t>
            </a:r>
            <a:r>
              <a:rPr lang="en-US" sz="3200" dirty="0"/>
              <a:t>loop tests its condition at the beginning of every </a:t>
            </a:r>
            <a:r>
              <a:rPr lang="en-US" sz="3200" dirty="0" smtClean="0"/>
              <a:t>iteration. </a:t>
            </a:r>
            <a:endParaRPr lang="en-US" sz="3200" dirty="0"/>
          </a:p>
          <a:p>
            <a:pPr lvl="1" algn="just"/>
            <a:r>
              <a:rPr lang="en-US" sz="3600" dirty="0" smtClean="0"/>
              <a:t>If </a:t>
            </a:r>
            <a:r>
              <a:rPr lang="en-US" sz="3600" dirty="0"/>
              <a:t>the condition is false from the start, the sequence of activities contained in the loop never runs at </a:t>
            </a:r>
            <a:r>
              <a:rPr lang="en-US" sz="3600" dirty="0" smtClean="0"/>
              <a:t>all.</a:t>
            </a:r>
          </a:p>
          <a:p>
            <a:pPr lvl="2" algn="just"/>
            <a:r>
              <a:rPr lang="en-US" sz="3200" dirty="0" smtClean="0"/>
              <a:t>The while </a:t>
            </a:r>
            <a:r>
              <a:rPr lang="en-US" sz="3200" dirty="0"/>
              <a:t>loop can be both as </a:t>
            </a:r>
            <a:r>
              <a:rPr lang="en-US" sz="3200" dirty="0">
                <a:solidFill>
                  <a:srgbClr val="FF0000"/>
                </a:solidFill>
              </a:rPr>
              <a:t>counter/sentinel controlled </a:t>
            </a:r>
            <a:r>
              <a:rPr lang="en-US" sz="3200" dirty="0" smtClean="0"/>
              <a:t>loop.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9729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454" y="25758"/>
            <a:ext cx="10058400" cy="1068946"/>
          </a:xfrm>
        </p:spPr>
        <p:txBody>
          <a:bodyPr/>
          <a:lstStyle/>
          <a:p>
            <a:r>
              <a:rPr lang="en-US" dirty="0" smtClean="0"/>
              <a:t>While loop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1120461"/>
            <a:ext cx="11475076" cy="5177307"/>
          </a:xfrm>
        </p:spPr>
        <p:txBody>
          <a:bodyPr>
            <a:normAutofit/>
          </a:bodyPr>
          <a:lstStyle/>
          <a:p>
            <a:pPr marL="548640" lvl="2" indent="0">
              <a:buNone/>
            </a:pPr>
            <a:endParaRPr lang="en-US" sz="3200" i="1" dirty="0" smtClean="0">
              <a:solidFill>
                <a:srgbClr val="FF0000"/>
              </a:solidFill>
            </a:endParaRPr>
          </a:p>
          <a:p>
            <a:pPr marL="548640" lvl="2" indent="0">
              <a:buNone/>
            </a:pPr>
            <a:endParaRPr lang="en-US" sz="3200" i="1" dirty="0" smtClean="0">
              <a:solidFill>
                <a:srgbClr val="FF0000"/>
              </a:solidFill>
            </a:endParaRPr>
          </a:p>
          <a:p>
            <a:pPr marL="1717120" lvl="6" indent="0">
              <a:buNone/>
            </a:pPr>
            <a:r>
              <a:rPr lang="en-US" sz="4000" i="1" dirty="0" smtClean="0">
                <a:solidFill>
                  <a:srgbClr val="FF0000"/>
                </a:solidFill>
              </a:rPr>
              <a:t>counter variable initialization;</a:t>
            </a:r>
          </a:p>
          <a:p>
            <a:pPr marL="1717120" lvl="6" indent="0">
              <a:buNone/>
            </a:pPr>
            <a:r>
              <a:rPr lang="en-US" sz="4000" i="1" dirty="0" smtClean="0">
                <a:solidFill>
                  <a:srgbClr val="FF0000"/>
                </a:solidFill>
              </a:rPr>
              <a:t>while(condition){</a:t>
            </a:r>
          </a:p>
          <a:p>
            <a:pPr marL="1717120" lvl="6" indent="0">
              <a:buNone/>
            </a:pPr>
            <a:r>
              <a:rPr lang="en-US" sz="4000" i="1" dirty="0" smtClean="0">
                <a:solidFill>
                  <a:srgbClr val="FF0000"/>
                </a:solidFill>
              </a:rPr>
              <a:t> </a:t>
            </a:r>
            <a:r>
              <a:rPr lang="en-US" sz="4000" i="1" dirty="0">
                <a:solidFill>
                  <a:srgbClr val="FF0000"/>
                </a:solidFill>
              </a:rPr>
              <a:t>s</a:t>
            </a:r>
            <a:r>
              <a:rPr lang="en-US" sz="4000" i="1" dirty="0" smtClean="0">
                <a:solidFill>
                  <a:srgbClr val="FF0000"/>
                </a:solidFill>
              </a:rPr>
              <a:t>tatement </a:t>
            </a:r>
            <a:r>
              <a:rPr lang="en-US" sz="4000" i="1" dirty="0">
                <a:solidFill>
                  <a:srgbClr val="FF0000"/>
                </a:solidFill>
              </a:rPr>
              <a:t>(Do </a:t>
            </a:r>
            <a:r>
              <a:rPr lang="en-US" sz="4000" i="1" dirty="0" smtClean="0">
                <a:solidFill>
                  <a:srgbClr val="FF0000"/>
                </a:solidFill>
              </a:rPr>
              <a:t>Something);</a:t>
            </a:r>
          </a:p>
          <a:p>
            <a:pPr marL="1717120" lvl="6" indent="0">
              <a:buNone/>
            </a:pPr>
            <a:r>
              <a:rPr lang="en-US" sz="4000" i="1" dirty="0">
                <a:solidFill>
                  <a:srgbClr val="FF0000"/>
                </a:solidFill>
              </a:rPr>
              <a:t>c</a:t>
            </a:r>
            <a:r>
              <a:rPr lang="en-US" sz="4000" i="1" dirty="0" smtClean="0">
                <a:solidFill>
                  <a:srgbClr val="FF0000"/>
                </a:solidFill>
              </a:rPr>
              <a:t>ounter variable increment/decrement;</a:t>
            </a:r>
          </a:p>
          <a:p>
            <a:pPr marL="1717120" lvl="6" indent="0">
              <a:buNone/>
            </a:pPr>
            <a:r>
              <a:rPr lang="en-US" sz="4000" i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272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969" y="0"/>
            <a:ext cx="10058400" cy="1086591"/>
          </a:xfrm>
        </p:spPr>
        <p:txBody>
          <a:bodyPr/>
          <a:lstStyle/>
          <a:p>
            <a:r>
              <a:rPr lang="en-US" dirty="0" smtClean="0"/>
              <a:t>While loop (pseudocode)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186" y="953037"/>
            <a:ext cx="10856890" cy="55250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2317120" lvl="8" indent="0">
              <a:buNone/>
            </a:pPr>
            <a:r>
              <a:rPr lang="en-US" sz="4800" dirty="0" smtClean="0"/>
              <a:t>while (condition)</a:t>
            </a:r>
          </a:p>
          <a:p>
            <a:pPr marL="2317120" lvl="8" indent="0">
              <a:buNone/>
            </a:pPr>
            <a:r>
              <a:rPr lang="en-US" sz="4800" dirty="0" smtClean="0"/>
              <a:t>    do Something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63377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While loop (flow chart)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9061" y="1812163"/>
            <a:ext cx="38481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87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090" y="0"/>
            <a:ext cx="10058400" cy="1120462"/>
          </a:xfrm>
        </p:spPr>
        <p:txBody>
          <a:bodyPr/>
          <a:lstStyle/>
          <a:p>
            <a:r>
              <a:rPr lang="en-US" dirty="0" smtClean="0"/>
              <a:t>While loop (example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3" y="1300766"/>
            <a:ext cx="11178862" cy="5100034"/>
          </a:xfrm>
        </p:spPr>
        <p:txBody>
          <a:bodyPr/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3200" dirty="0" err="1" smtClean="0"/>
              <a:t>int</a:t>
            </a:r>
            <a:r>
              <a:rPr lang="en-US" sz="3200" dirty="0" smtClean="0"/>
              <a:t> x=1;</a:t>
            </a:r>
          </a:p>
          <a:p>
            <a:pPr marL="0" indent="0">
              <a:buNone/>
            </a:pPr>
            <a:r>
              <a:rPr lang="en-US" sz="3200" dirty="0" smtClean="0"/>
              <a:t>while(x </a:t>
            </a:r>
            <a:r>
              <a:rPr lang="en-US" sz="3200" dirty="0"/>
              <a:t>&lt; 5) </a:t>
            </a:r>
            <a:r>
              <a:rPr lang="en-US" sz="3200" dirty="0" smtClean="0"/>
              <a:t>{</a:t>
            </a:r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dirty="0" smtClean="0"/>
              <a:t>print “Hello </a:t>
            </a:r>
            <a:r>
              <a:rPr lang="en-US" sz="3200" dirty="0"/>
              <a:t>World</a:t>
            </a:r>
            <a:r>
              <a:rPr lang="en-US" sz="3200" dirty="0" smtClean="0"/>
              <a:t>”;</a:t>
            </a:r>
          </a:p>
          <a:p>
            <a:pPr marL="0" indent="0">
              <a:buNone/>
            </a:pPr>
            <a:r>
              <a:rPr lang="en-US" sz="3200" dirty="0" smtClean="0"/>
              <a:t>	x++;</a:t>
            </a:r>
          </a:p>
          <a:p>
            <a:pPr marL="0" indent="0">
              <a:buNone/>
            </a:pPr>
            <a:r>
              <a:rPr lang="en-US" sz="3200" dirty="0" smtClean="0"/>
              <a:t>}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20" y="1860042"/>
            <a:ext cx="421957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1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090" y="0"/>
            <a:ext cx="10058400" cy="1120462"/>
          </a:xfrm>
        </p:spPr>
        <p:txBody>
          <a:bodyPr/>
          <a:lstStyle/>
          <a:p>
            <a:r>
              <a:rPr lang="en-US" dirty="0" smtClean="0"/>
              <a:t>While loop (example 1 - FLOWCHART)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3" y="901521"/>
            <a:ext cx="11178862" cy="5499279"/>
          </a:xfrm>
        </p:spPr>
        <p:txBody>
          <a:bodyPr/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3200" dirty="0" err="1" smtClean="0"/>
              <a:t>int</a:t>
            </a:r>
            <a:r>
              <a:rPr lang="en-US" sz="3200" dirty="0" smtClean="0"/>
              <a:t> x=1;</a:t>
            </a:r>
          </a:p>
          <a:p>
            <a:pPr marL="0" indent="0">
              <a:buNone/>
            </a:pPr>
            <a:r>
              <a:rPr lang="en-US" sz="3200" dirty="0" smtClean="0"/>
              <a:t>while(x </a:t>
            </a:r>
            <a:r>
              <a:rPr lang="en-US" sz="3200" dirty="0"/>
              <a:t>&lt; 5) </a:t>
            </a:r>
            <a:r>
              <a:rPr lang="en-US" sz="3200" dirty="0" smtClean="0"/>
              <a:t>{</a:t>
            </a:r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dirty="0" smtClean="0"/>
              <a:t>print “Hello </a:t>
            </a:r>
            <a:r>
              <a:rPr lang="en-US" sz="3200" dirty="0"/>
              <a:t>World</a:t>
            </a:r>
            <a:r>
              <a:rPr lang="en-US" sz="3200" dirty="0" smtClean="0"/>
              <a:t>”;</a:t>
            </a:r>
          </a:p>
          <a:p>
            <a:pPr marL="0" indent="0">
              <a:buNone/>
            </a:pPr>
            <a:r>
              <a:rPr lang="en-US" sz="3200" dirty="0" smtClean="0"/>
              <a:t>	x++;</a:t>
            </a:r>
          </a:p>
          <a:p>
            <a:pPr marL="0" indent="0">
              <a:buNone/>
            </a:pPr>
            <a:r>
              <a:rPr lang="en-US" sz="3200" dirty="0" smtClean="0"/>
              <a:t>}</a:t>
            </a: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8371268" y="1184856"/>
            <a:ext cx="1004552" cy="2575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Start </a:t>
            </a:r>
            <a:endParaRPr lang="en-US" dirty="0"/>
          </a:p>
        </p:txBody>
      </p:sp>
      <p:cxnSp>
        <p:nvCxnSpPr>
          <p:cNvPr id="7" name="Straight Arrow Connector 6"/>
          <p:cNvCxnSpPr>
            <a:stCxn id="5" idx="2"/>
          </p:cNvCxnSpPr>
          <p:nvPr/>
        </p:nvCxnSpPr>
        <p:spPr>
          <a:xfrm>
            <a:off x="8873544" y="1442434"/>
            <a:ext cx="0" cy="5537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435662" y="1996225"/>
            <a:ext cx="914400" cy="296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 = 1</a:t>
            </a:r>
            <a:endParaRPr lang="en-US" dirty="0"/>
          </a:p>
        </p:txBody>
      </p:sp>
      <p:cxnSp>
        <p:nvCxnSpPr>
          <p:cNvPr id="10" name="Straight Arrow Connector 9"/>
          <p:cNvCxnSpPr>
            <a:stCxn id="8" idx="2"/>
          </p:cNvCxnSpPr>
          <p:nvPr/>
        </p:nvCxnSpPr>
        <p:spPr>
          <a:xfrm>
            <a:off x="8892862" y="2292439"/>
            <a:ext cx="0" cy="5924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Decision 10"/>
          <p:cNvSpPr/>
          <p:nvPr/>
        </p:nvSpPr>
        <p:spPr>
          <a:xfrm>
            <a:off x="7418234" y="2871988"/>
            <a:ext cx="3000776" cy="82424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  <a:r>
              <a:rPr lang="en-US" dirty="0" smtClean="0"/>
              <a:t>hile (x&lt;5)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929355" y="3696237"/>
            <a:ext cx="0" cy="5537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Process 12"/>
          <p:cNvSpPr/>
          <p:nvPr/>
        </p:nvSpPr>
        <p:spPr>
          <a:xfrm>
            <a:off x="7662928" y="4250028"/>
            <a:ext cx="2562897" cy="77273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display “Hello World”</a:t>
            </a:r>
          </a:p>
          <a:p>
            <a:pPr algn="ctr"/>
            <a:r>
              <a:rPr lang="en-US" dirty="0" smtClean="0"/>
              <a:t>X++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912179" y="3747753"/>
            <a:ext cx="92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True</a:t>
            </a:r>
            <a:endParaRPr lang="en-US" dirty="0"/>
          </a:p>
        </p:txBody>
      </p:sp>
      <p:cxnSp>
        <p:nvCxnSpPr>
          <p:cNvPr id="16" name="Elbow Connector 15"/>
          <p:cNvCxnSpPr/>
          <p:nvPr/>
        </p:nvCxnSpPr>
        <p:spPr>
          <a:xfrm flipH="1">
            <a:off x="9317863" y="3316309"/>
            <a:ext cx="1043190" cy="2640169"/>
          </a:xfrm>
          <a:prstGeom prst="bentConnector4">
            <a:avLst>
              <a:gd name="adj1" fmla="val -30556"/>
              <a:gd name="adj2" fmla="val 8170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622923" y="4117085"/>
            <a:ext cx="92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False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8731876" y="5956477"/>
            <a:ext cx="1107582" cy="4056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Stop</a:t>
            </a:r>
            <a:endParaRPr lang="en-US" dirty="0"/>
          </a:p>
        </p:txBody>
      </p:sp>
      <p:cxnSp>
        <p:nvCxnSpPr>
          <p:cNvPr id="6" name="Elbow Connector 5"/>
          <p:cNvCxnSpPr>
            <a:stCxn id="13" idx="1"/>
            <a:endCxn id="11" idx="1"/>
          </p:cNvCxnSpPr>
          <p:nvPr/>
        </p:nvCxnSpPr>
        <p:spPr>
          <a:xfrm rot="10800000">
            <a:off x="7418234" y="3284113"/>
            <a:ext cx="244694" cy="1352282"/>
          </a:xfrm>
          <a:prstGeom prst="bentConnector3">
            <a:avLst>
              <a:gd name="adj1" fmla="val 1934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82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71069"/>
            <a:ext cx="10058400" cy="949393"/>
          </a:xfrm>
        </p:spPr>
        <p:txBody>
          <a:bodyPr/>
          <a:lstStyle/>
          <a:p>
            <a:r>
              <a:rPr lang="en-US" dirty="0" smtClean="0"/>
              <a:t>While loop (example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186" y="1352282"/>
            <a:ext cx="10510062" cy="4819918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548640" lvl="2" indent="0">
              <a:buNone/>
            </a:pPr>
            <a:r>
              <a:rPr lang="en-US" sz="3200" dirty="0" smtClean="0"/>
              <a:t>while(key </a:t>
            </a:r>
            <a:r>
              <a:rPr lang="en-US" sz="3200" dirty="0"/>
              <a:t>!= Esc</a:t>
            </a:r>
            <a:r>
              <a:rPr lang="en-US" sz="3200" dirty="0" smtClean="0"/>
              <a:t>){</a:t>
            </a:r>
          </a:p>
          <a:p>
            <a:pPr marL="548640" lvl="2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print “Hello </a:t>
            </a:r>
            <a:r>
              <a:rPr lang="en-US" sz="3200" dirty="0"/>
              <a:t>World</a:t>
            </a:r>
            <a:r>
              <a:rPr lang="en-US" sz="3200" dirty="0" smtClean="0"/>
              <a:t>”;</a:t>
            </a:r>
          </a:p>
          <a:p>
            <a:pPr marL="548640" lvl="2" indent="0">
              <a:buNone/>
            </a:pPr>
            <a:r>
              <a:rPr lang="en-US" sz="3200" dirty="0"/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266" y="1780413"/>
            <a:ext cx="39528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9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957802"/>
          </a:xfrm>
        </p:spPr>
        <p:txBody>
          <a:bodyPr>
            <a:normAutofit/>
          </a:bodyPr>
          <a:lstStyle/>
          <a:p>
            <a:r>
              <a:rPr lang="en-US" dirty="0" smtClean="0"/>
              <a:t>DO-WHILE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03" y="798490"/>
            <a:ext cx="11436439" cy="5782614"/>
          </a:xfrm>
        </p:spPr>
        <p:txBody>
          <a:bodyPr>
            <a:normAutofit/>
          </a:bodyPr>
          <a:lstStyle/>
          <a:p>
            <a:pPr algn="just"/>
            <a:r>
              <a:rPr lang="en-US" sz="4000" dirty="0"/>
              <a:t>Like a </a:t>
            </a:r>
            <a:r>
              <a:rPr lang="en-US" sz="4000" b="1" dirty="0"/>
              <a:t>while</a:t>
            </a:r>
            <a:r>
              <a:rPr lang="en-US" sz="4000" dirty="0"/>
              <a:t> loop, a </a:t>
            </a:r>
            <a:r>
              <a:rPr lang="en-US" sz="4000" b="1" dirty="0"/>
              <a:t>do-while</a:t>
            </a:r>
            <a:r>
              <a:rPr lang="en-US" sz="4000" dirty="0"/>
              <a:t> loop is a loop that repeats while some condition is satisfied. </a:t>
            </a:r>
          </a:p>
          <a:p>
            <a:pPr lvl="1" algn="just"/>
            <a:r>
              <a:rPr lang="en-US" sz="3600" dirty="0" smtClean="0"/>
              <a:t>But, unlike the </a:t>
            </a:r>
            <a:r>
              <a:rPr lang="en-US" sz="3600" dirty="0"/>
              <a:t>while loop, a do-while loop tests its condition at the end of the loop. </a:t>
            </a:r>
          </a:p>
          <a:p>
            <a:pPr lvl="2" algn="just"/>
            <a:r>
              <a:rPr lang="en-US" sz="3600" dirty="0" smtClean="0"/>
              <a:t>This </a:t>
            </a:r>
            <a:r>
              <a:rPr lang="en-US" sz="3600" dirty="0"/>
              <a:t>means that its sequence of activities always runs at least once.</a:t>
            </a:r>
          </a:p>
        </p:txBody>
      </p:sp>
    </p:spTree>
    <p:extLst>
      <p:ext uri="{BB962C8B-B14F-4D97-AF65-F5344CB8AC3E}">
        <p14:creationId xmlns:p14="http://schemas.microsoft.com/office/powerpoint/2010/main" val="239963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295" y="0"/>
            <a:ext cx="10058400" cy="954741"/>
          </a:xfrm>
        </p:spPr>
        <p:txBody>
          <a:bodyPr>
            <a:normAutofit/>
          </a:bodyPr>
          <a:lstStyle/>
          <a:p>
            <a:r>
              <a:rPr lang="en-US" dirty="0" smtClean="0"/>
              <a:t>DO-WHILE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927847"/>
            <a:ext cx="10657601" cy="5661212"/>
          </a:xfrm>
        </p:spPr>
        <p:txBody>
          <a:bodyPr>
            <a:noAutofit/>
          </a:bodyPr>
          <a:lstStyle/>
          <a:p>
            <a:r>
              <a:rPr lang="en-US" sz="4000" dirty="0" smtClean="0"/>
              <a:t>The </a:t>
            </a:r>
            <a:r>
              <a:rPr lang="en-US" sz="4000" b="1" dirty="0" smtClean="0"/>
              <a:t>do-while</a:t>
            </a:r>
            <a:r>
              <a:rPr lang="en-US" sz="4000" dirty="0" smtClean="0"/>
              <a:t> loop is similar to the </a:t>
            </a:r>
            <a:r>
              <a:rPr lang="en-US" sz="4000" b="1" dirty="0" smtClean="0"/>
              <a:t>while</a:t>
            </a:r>
            <a:r>
              <a:rPr lang="en-US" sz="4000" dirty="0" smtClean="0"/>
              <a:t> loop.</a:t>
            </a:r>
          </a:p>
          <a:p>
            <a:pPr lvl="1"/>
            <a:r>
              <a:rPr lang="en-US" sz="4000" dirty="0" smtClean="0"/>
              <a:t>The only difference is that the condition is checked after </a:t>
            </a:r>
            <a:r>
              <a:rPr lang="en-US" sz="4000" dirty="0" smtClean="0"/>
              <a:t>executing </a:t>
            </a:r>
            <a:r>
              <a:rPr lang="en-US" sz="4000" dirty="0" smtClean="0"/>
              <a:t>the body of the loop.</a:t>
            </a:r>
          </a:p>
          <a:p>
            <a:pPr lvl="2"/>
            <a:r>
              <a:rPr lang="en-US" sz="3600" dirty="0" smtClean="0"/>
              <a:t>The condition comes after the body of the loop.</a:t>
            </a:r>
          </a:p>
          <a:p>
            <a:pPr lvl="3"/>
            <a:r>
              <a:rPr lang="en-US" sz="3200" dirty="0" smtClean="0"/>
              <a:t>As the condition comes after the body of the </a:t>
            </a:r>
            <a:r>
              <a:rPr lang="en-US" sz="3200" b="1" dirty="0" smtClean="0"/>
              <a:t>do-while</a:t>
            </a:r>
            <a:r>
              <a:rPr lang="en-US" sz="3200" dirty="0" smtClean="0"/>
              <a:t> loop, therefore the body of the </a:t>
            </a:r>
            <a:r>
              <a:rPr lang="en-US" sz="3200" b="1" dirty="0" smtClean="0"/>
              <a:t>do-while </a:t>
            </a:r>
            <a:r>
              <a:rPr lang="en-US" sz="3200" dirty="0" smtClean="0"/>
              <a:t>loop executes at least once.</a:t>
            </a:r>
          </a:p>
        </p:txBody>
      </p:sp>
    </p:spTree>
    <p:extLst>
      <p:ext uri="{BB962C8B-B14F-4D97-AF65-F5344CB8AC3E}">
        <p14:creationId xmlns:p14="http://schemas.microsoft.com/office/powerpoint/2010/main" val="104700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295" y="0"/>
            <a:ext cx="10058400" cy="954741"/>
          </a:xfrm>
        </p:spPr>
        <p:txBody>
          <a:bodyPr>
            <a:normAutofit/>
          </a:bodyPr>
          <a:lstStyle/>
          <a:p>
            <a:r>
              <a:rPr lang="en-US" dirty="0" smtClean="0"/>
              <a:t>DO-WHILE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927847"/>
            <a:ext cx="10657601" cy="5661212"/>
          </a:xfrm>
        </p:spPr>
        <p:txBody>
          <a:bodyPr>
            <a:noAutofit/>
          </a:bodyPr>
          <a:lstStyle/>
          <a:p>
            <a:r>
              <a:rPr lang="en-US" sz="4000" dirty="0" smtClean="0"/>
              <a:t>The syntax of the </a:t>
            </a:r>
            <a:r>
              <a:rPr lang="en-US" sz="4000" b="1" dirty="0" smtClean="0"/>
              <a:t>do-while</a:t>
            </a:r>
            <a:r>
              <a:rPr lang="en-US" sz="4000" dirty="0" smtClean="0"/>
              <a:t> loop:</a:t>
            </a:r>
          </a:p>
          <a:p>
            <a:pPr marL="274320" lvl="1" indent="0">
              <a:buNone/>
            </a:pPr>
            <a:endParaRPr lang="en-US" sz="3000" dirty="0" smtClean="0"/>
          </a:p>
          <a:p>
            <a:pPr marL="1097280" lvl="4" indent="0">
              <a:buNone/>
            </a:pPr>
            <a:r>
              <a:rPr lang="en-US" sz="3200" i="1" dirty="0" smtClean="0"/>
              <a:t>counter variable initialization;</a:t>
            </a:r>
          </a:p>
          <a:p>
            <a:pPr marL="1097280" lvl="4" indent="0">
              <a:buNone/>
            </a:pPr>
            <a:r>
              <a:rPr lang="en-US" sz="3200" i="1" dirty="0" smtClean="0"/>
              <a:t>do</a:t>
            </a:r>
          </a:p>
          <a:p>
            <a:pPr marL="1097280" lvl="4" indent="0">
              <a:buNone/>
            </a:pPr>
            <a:r>
              <a:rPr lang="en-US" sz="3200" i="1" dirty="0" smtClean="0"/>
              <a:t>{</a:t>
            </a:r>
          </a:p>
          <a:p>
            <a:pPr marL="1097280" lvl="4" indent="0">
              <a:buNone/>
            </a:pPr>
            <a:r>
              <a:rPr lang="en-US" sz="3200" i="1" dirty="0" smtClean="0"/>
              <a:t>	statement/statements;</a:t>
            </a:r>
          </a:p>
          <a:p>
            <a:pPr marL="1097280" lvl="4" indent="0">
              <a:buNone/>
            </a:pPr>
            <a:r>
              <a:rPr lang="en-US" sz="3200" i="1" dirty="0"/>
              <a:t>	</a:t>
            </a:r>
            <a:r>
              <a:rPr lang="en-US" sz="3200" i="1" dirty="0" smtClean="0"/>
              <a:t>counter variable increment/decrement;</a:t>
            </a:r>
            <a:endParaRPr lang="en-US" sz="3200" i="1" dirty="0"/>
          </a:p>
          <a:p>
            <a:pPr marL="1097280" lvl="4" indent="0">
              <a:buNone/>
            </a:pPr>
            <a:r>
              <a:rPr lang="en-US" sz="3200" i="1" dirty="0" smtClean="0"/>
              <a:t>}</a:t>
            </a:r>
          </a:p>
          <a:p>
            <a:pPr marL="1097280" lvl="4" indent="0">
              <a:buNone/>
            </a:pPr>
            <a:r>
              <a:rPr lang="en-US" sz="3200" i="1" dirty="0" smtClean="0"/>
              <a:t>while(condition);</a:t>
            </a:r>
          </a:p>
        </p:txBody>
      </p:sp>
    </p:spTree>
    <p:extLst>
      <p:ext uri="{BB962C8B-B14F-4D97-AF65-F5344CB8AC3E}">
        <p14:creationId xmlns:p14="http://schemas.microsoft.com/office/powerpoint/2010/main" val="86712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295" y="0"/>
            <a:ext cx="10058400" cy="954741"/>
          </a:xfrm>
        </p:spPr>
        <p:txBody>
          <a:bodyPr>
            <a:normAutofit/>
          </a:bodyPr>
          <a:lstStyle/>
          <a:p>
            <a:r>
              <a:rPr lang="en-US" dirty="0" smtClean="0"/>
              <a:t>DO-WHILE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927847"/>
            <a:ext cx="10657601" cy="5661212"/>
          </a:xfrm>
        </p:spPr>
        <p:txBody>
          <a:bodyPr>
            <a:noAutofit/>
          </a:bodyPr>
          <a:lstStyle/>
          <a:p>
            <a:r>
              <a:rPr lang="en-US" sz="4000" dirty="0" smtClean="0"/>
              <a:t>The flowchart of the </a:t>
            </a:r>
            <a:r>
              <a:rPr lang="en-US" sz="4000" b="1" dirty="0" smtClean="0"/>
              <a:t>do-while</a:t>
            </a:r>
            <a:r>
              <a:rPr lang="en-US" sz="4000" dirty="0" smtClean="0"/>
              <a:t> loop:</a:t>
            </a:r>
          </a:p>
          <a:p>
            <a:pPr marL="274320" lvl="1" indent="0">
              <a:buNone/>
            </a:pPr>
            <a:endParaRPr lang="en-US" sz="30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172" y="1414612"/>
            <a:ext cx="3979572" cy="508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092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969" y="98266"/>
            <a:ext cx="10058400" cy="1022196"/>
          </a:xfrm>
        </p:spPr>
        <p:txBody>
          <a:bodyPr/>
          <a:lstStyle/>
          <a:p>
            <a:r>
              <a:rPr lang="en-US" dirty="0" smtClean="0"/>
              <a:t>Do-while loop (pseudocode)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18" y="1043189"/>
            <a:ext cx="10972800" cy="53189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 smtClean="0"/>
          </a:p>
          <a:p>
            <a:pPr marL="2317120" lvl="8" indent="0">
              <a:buNone/>
            </a:pPr>
            <a:r>
              <a:rPr lang="en-US" sz="4400" dirty="0" smtClean="0"/>
              <a:t>do</a:t>
            </a:r>
          </a:p>
          <a:p>
            <a:pPr marL="2317120" lvl="8" indent="0">
              <a:buNone/>
            </a:pPr>
            <a:r>
              <a:rPr lang="en-US" sz="4400" dirty="0" smtClean="0"/>
              <a:t>something </a:t>
            </a:r>
          </a:p>
          <a:p>
            <a:pPr marL="2317120" lvl="8" indent="0">
              <a:buNone/>
            </a:pPr>
            <a:r>
              <a:rPr lang="en-US" sz="4400" dirty="0" smtClean="0"/>
              <a:t>while (condition)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1280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75008"/>
          </a:xfrm>
        </p:spPr>
        <p:txBody>
          <a:bodyPr/>
          <a:lstStyle/>
          <a:p>
            <a:r>
              <a:rPr lang="en-US" dirty="0" smtClean="0"/>
              <a:t>Do-while (example 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61" y="978793"/>
            <a:ext cx="11578107" cy="5679583"/>
          </a:xfrm>
        </p:spPr>
        <p:txBody>
          <a:bodyPr/>
          <a:lstStyle/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endParaRPr lang="en-US" sz="2800" dirty="0"/>
          </a:p>
          <a:p>
            <a:pPr marL="548640" lvl="2" indent="0">
              <a:buNone/>
            </a:pPr>
            <a:r>
              <a:rPr lang="en-US" sz="3200" dirty="0" err="1" smtClean="0"/>
              <a:t>int</a:t>
            </a:r>
            <a:r>
              <a:rPr lang="en-US" sz="3200" dirty="0" smtClean="0"/>
              <a:t> </a:t>
            </a:r>
            <a:r>
              <a:rPr lang="en-US" sz="3200" dirty="0"/>
              <a:t>x=1;</a:t>
            </a:r>
          </a:p>
          <a:p>
            <a:pPr marL="548640" lvl="2" indent="0">
              <a:buNone/>
            </a:pPr>
            <a:r>
              <a:rPr lang="en-US" sz="3200" dirty="0" smtClean="0"/>
              <a:t>do{</a:t>
            </a:r>
            <a:endParaRPr lang="en-US" sz="3200" dirty="0"/>
          </a:p>
          <a:p>
            <a:pPr marL="548640" lvl="2" indent="0">
              <a:buNone/>
            </a:pPr>
            <a:r>
              <a:rPr lang="en-US" sz="3200" dirty="0"/>
              <a:t>	</a:t>
            </a:r>
            <a:r>
              <a:rPr lang="en-US" sz="3200" dirty="0" smtClean="0"/>
              <a:t>print </a:t>
            </a:r>
            <a:r>
              <a:rPr lang="en-US" sz="3200" dirty="0"/>
              <a:t>“Hello World” </a:t>
            </a:r>
            <a:r>
              <a:rPr lang="en-US" sz="3200" dirty="0" smtClean="0"/>
              <a:t>;</a:t>
            </a:r>
          </a:p>
          <a:p>
            <a:pPr marL="548640" lvl="2" indent="0">
              <a:buNone/>
            </a:pPr>
            <a:r>
              <a:rPr lang="en-US" sz="3200" dirty="0" smtClean="0"/>
              <a:t>	x</a:t>
            </a:r>
            <a:r>
              <a:rPr lang="en-US" sz="3200" dirty="0"/>
              <a:t>++ </a:t>
            </a:r>
            <a:r>
              <a:rPr lang="en-US" sz="3200" dirty="0" smtClean="0"/>
              <a:t>;</a:t>
            </a:r>
          </a:p>
          <a:p>
            <a:pPr marL="548640" lvl="2" indent="0">
              <a:buNone/>
            </a:pPr>
            <a:r>
              <a:rPr lang="en-US" sz="3200" dirty="0"/>
              <a:t>}</a:t>
            </a:r>
            <a:endParaRPr lang="en-US" sz="3200" dirty="0" smtClean="0"/>
          </a:p>
          <a:p>
            <a:pPr marL="548640" lvl="2" indent="0">
              <a:buNone/>
            </a:pPr>
            <a:r>
              <a:rPr lang="en-US" sz="3200" dirty="0" smtClean="0"/>
              <a:t>while </a:t>
            </a:r>
            <a:r>
              <a:rPr lang="en-US" sz="3200" dirty="0"/>
              <a:t>(x&lt;5</a:t>
            </a:r>
            <a:r>
              <a:rPr lang="en-US" sz="3200" dirty="0" smtClean="0"/>
              <a:t>);</a:t>
            </a:r>
            <a:endParaRPr lang="en-US" sz="32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924" y="2271903"/>
            <a:ext cx="40671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5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Do-while (example 2 – Flow chart)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/>
          <a:lstStyle/>
          <a:p>
            <a:pPr marL="548640" lvl="2" indent="0">
              <a:buNone/>
            </a:pPr>
            <a:endParaRPr lang="en-US" sz="2400" dirty="0" smtClean="0"/>
          </a:p>
          <a:p>
            <a:pPr marL="548640" lvl="2" indent="0">
              <a:buNone/>
            </a:pPr>
            <a:r>
              <a:rPr lang="en-US" sz="3600" dirty="0" smtClean="0"/>
              <a:t>x=1</a:t>
            </a:r>
          </a:p>
          <a:p>
            <a:pPr marL="548640" lvl="2" indent="0">
              <a:buNone/>
            </a:pPr>
            <a:r>
              <a:rPr lang="en-US" sz="3600" dirty="0" smtClean="0"/>
              <a:t>do{</a:t>
            </a:r>
            <a:endParaRPr lang="en-US" sz="3600" dirty="0"/>
          </a:p>
          <a:p>
            <a:pPr marL="548640" lvl="2" indent="0">
              <a:buNone/>
            </a:pPr>
            <a:r>
              <a:rPr lang="en-US" sz="3600" dirty="0" smtClean="0"/>
              <a:t>print “Hello </a:t>
            </a:r>
            <a:r>
              <a:rPr lang="en-US" sz="3600" dirty="0"/>
              <a:t>World</a:t>
            </a:r>
            <a:r>
              <a:rPr lang="en-US" sz="3600" dirty="0" smtClean="0"/>
              <a:t>”;</a:t>
            </a:r>
          </a:p>
          <a:p>
            <a:pPr marL="548640" lvl="2" indent="0">
              <a:buNone/>
            </a:pPr>
            <a:r>
              <a:rPr lang="en-US" sz="3600" dirty="0" smtClean="0"/>
              <a:t>x</a:t>
            </a:r>
            <a:r>
              <a:rPr lang="en-US" sz="3600" dirty="0"/>
              <a:t>++ </a:t>
            </a:r>
            <a:r>
              <a:rPr lang="en-US" sz="3600" dirty="0" smtClean="0"/>
              <a:t>;</a:t>
            </a:r>
          </a:p>
          <a:p>
            <a:pPr marL="548640" lvl="2" indent="0">
              <a:buNone/>
            </a:pPr>
            <a:r>
              <a:rPr lang="en-US" sz="3600" dirty="0" smtClean="0"/>
              <a:t>}</a:t>
            </a:r>
            <a:endParaRPr lang="en-US" sz="3600" dirty="0"/>
          </a:p>
          <a:p>
            <a:pPr marL="548640" lvl="2" indent="0">
              <a:buNone/>
            </a:pPr>
            <a:r>
              <a:rPr lang="en-US" sz="3600" dirty="0" smtClean="0"/>
              <a:t>while(x&gt;5)</a:t>
            </a:r>
            <a:r>
              <a:rPr lang="en-US" sz="2400" dirty="0"/>
              <a:t>;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14" y="1188300"/>
            <a:ext cx="974725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282" y="1563733"/>
            <a:ext cx="1285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340545" y="2055142"/>
            <a:ext cx="1292851" cy="314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 = 1</a:t>
            </a:r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3257" y="2369712"/>
            <a:ext cx="1285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547015" y="2848242"/>
            <a:ext cx="2846231" cy="6934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display “Hello World”</a:t>
            </a:r>
          </a:p>
          <a:p>
            <a:pPr algn="ctr"/>
            <a:r>
              <a:rPr lang="en-US" dirty="0" smtClean="0"/>
              <a:t>X++</a:t>
            </a:r>
            <a:endParaRPr lang="en-US" dirty="0"/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844" y="3553427"/>
            <a:ext cx="128587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lowchart: Decision 5"/>
          <p:cNvSpPr/>
          <p:nvPr/>
        </p:nvSpPr>
        <p:spPr>
          <a:xfrm>
            <a:off x="7508378" y="4031958"/>
            <a:ext cx="2846231" cy="6568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While(x&gt;5)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207610" y="3593002"/>
            <a:ext cx="68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True</a:t>
            </a:r>
            <a:endParaRPr lang="en-US" dirty="0"/>
          </a:p>
        </p:txBody>
      </p:sp>
      <p:cxnSp>
        <p:nvCxnSpPr>
          <p:cNvPr id="17" name="Elbow Connector 16"/>
          <p:cNvCxnSpPr>
            <a:stCxn id="6" idx="1"/>
            <a:endCxn id="10" idx="1"/>
          </p:cNvCxnSpPr>
          <p:nvPr/>
        </p:nvCxnSpPr>
        <p:spPr>
          <a:xfrm rot="10800000" flipH="1">
            <a:off x="7508377" y="3194967"/>
            <a:ext cx="38637" cy="1165403"/>
          </a:xfrm>
          <a:prstGeom prst="bentConnector3">
            <a:avLst>
              <a:gd name="adj1" fmla="val -179164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862" y="4675765"/>
            <a:ext cx="225544" cy="952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Rounded Rectangle 19"/>
          <p:cNvSpPr/>
          <p:nvPr/>
        </p:nvSpPr>
        <p:spPr>
          <a:xfrm>
            <a:off x="8139448" y="5499279"/>
            <a:ext cx="1584101" cy="2189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Stop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935442" y="4796333"/>
            <a:ext cx="78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False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3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Do-while (example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/>
          <a:lstStyle/>
          <a:p>
            <a:pPr marL="548640" lvl="2" indent="0">
              <a:buNone/>
            </a:pPr>
            <a:endParaRPr lang="en-US" sz="2400" dirty="0" smtClean="0"/>
          </a:p>
          <a:p>
            <a:pPr marL="548640" lvl="2" indent="0">
              <a:buNone/>
            </a:pPr>
            <a:r>
              <a:rPr lang="en-US" sz="3600" dirty="0" smtClean="0"/>
              <a:t>x=1</a:t>
            </a:r>
          </a:p>
          <a:p>
            <a:pPr marL="548640" lvl="2" indent="0">
              <a:buNone/>
            </a:pPr>
            <a:r>
              <a:rPr lang="en-US" sz="3600" dirty="0" smtClean="0"/>
              <a:t>do{</a:t>
            </a:r>
            <a:endParaRPr lang="en-US" sz="3600" dirty="0"/>
          </a:p>
          <a:p>
            <a:pPr marL="548640" lvl="2" indent="0">
              <a:buNone/>
            </a:pPr>
            <a:r>
              <a:rPr lang="en-US" sz="3600" dirty="0" smtClean="0"/>
              <a:t>print “Hello </a:t>
            </a:r>
            <a:r>
              <a:rPr lang="en-US" sz="3600" dirty="0"/>
              <a:t>World</a:t>
            </a:r>
            <a:r>
              <a:rPr lang="en-US" sz="3600" dirty="0" smtClean="0"/>
              <a:t>”;</a:t>
            </a:r>
          </a:p>
          <a:p>
            <a:pPr marL="548640" lvl="2" indent="0">
              <a:buNone/>
            </a:pPr>
            <a:r>
              <a:rPr lang="en-US" sz="3600" dirty="0" smtClean="0"/>
              <a:t>x</a:t>
            </a:r>
            <a:r>
              <a:rPr lang="en-US" sz="3600" dirty="0"/>
              <a:t>++ </a:t>
            </a:r>
            <a:r>
              <a:rPr lang="en-US" sz="3600" dirty="0" smtClean="0"/>
              <a:t>;</a:t>
            </a:r>
          </a:p>
          <a:p>
            <a:pPr marL="548640" lvl="2" indent="0">
              <a:buNone/>
            </a:pPr>
            <a:r>
              <a:rPr lang="en-US" sz="3600" dirty="0" smtClean="0"/>
              <a:t>}</a:t>
            </a:r>
            <a:endParaRPr lang="en-US" sz="3600" dirty="0"/>
          </a:p>
          <a:p>
            <a:pPr marL="548640" lvl="2" indent="0">
              <a:buNone/>
            </a:pPr>
            <a:r>
              <a:rPr lang="en-US" sz="3600" dirty="0" smtClean="0"/>
              <a:t>while(x&gt;5)</a:t>
            </a:r>
            <a:r>
              <a:rPr lang="en-US" sz="2400" dirty="0"/>
              <a:t>;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123" y="2316723"/>
            <a:ext cx="400050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2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Do-while (example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/>
          <a:lstStyle/>
          <a:p>
            <a:pPr marL="548640" lvl="2" indent="0">
              <a:buNone/>
            </a:pPr>
            <a:endParaRPr lang="en-US" sz="2400" dirty="0" smtClean="0"/>
          </a:p>
          <a:p>
            <a:pPr marL="548640" lvl="2" indent="0">
              <a:buNone/>
            </a:pPr>
            <a:r>
              <a:rPr lang="en-US" sz="3600" dirty="0" err="1" smtClean="0"/>
              <a:t>int</a:t>
            </a:r>
            <a:r>
              <a:rPr lang="en-US" sz="3600" dirty="0" smtClean="0"/>
              <a:t> x;</a:t>
            </a:r>
          </a:p>
          <a:p>
            <a:pPr marL="548640" lvl="2" indent="0">
              <a:buNone/>
            </a:pPr>
            <a:r>
              <a:rPr lang="en-US" sz="3600" dirty="0" err="1" smtClean="0"/>
              <a:t>int</a:t>
            </a:r>
            <a:r>
              <a:rPr lang="en-US" sz="3600" dirty="0" smtClean="0"/>
              <a:t> sum = 0;</a:t>
            </a:r>
            <a:endParaRPr lang="en-US" sz="3600" dirty="0" smtClean="0"/>
          </a:p>
          <a:p>
            <a:pPr marL="548640" lvl="2" indent="0">
              <a:buNone/>
            </a:pPr>
            <a:r>
              <a:rPr lang="en-US" sz="3600" dirty="0" smtClean="0"/>
              <a:t>for(x = 0; x &lt;=3; x++){</a:t>
            </a:r>
          </a:p>
          <a:p>
            <a:pPr marL="548640" lvl="2" indent="0">
              <a:buNone/>
            </a:pPr>
            <a:r>
              <a:rPr lang="en-US" sz="3600" dirty="0" smtClean="0"/>
              <a:t>sum = sum + x</a:t>
            </a:r>
            <a:r>
              <a:rPr lang="en-US" sz="3600" dirty="0" smtClean="0"/>
              <a:t>;</a:t>
            </a:r>
            <a:endParaRPr lang="en-US" sz="3600" dirty="0" smtClean="0"/>
          </a:p>
          <a:p>
            <a:pPr marL="548640" lvl="2" indent="0">
              <a:buNone/>
            </a:pPr>
            <a:r>
              <a:rPr lang="en-US" sz="3600" dirty="0" smtClean="0"/>
              <a:t>}</a:t>
            </a:r>
          </a:p>
          <a:p>
            <a:pPr marL="548640" lvl="2" indent="0">
              <a:buNone/>
            </a:pPr>
            <a:r>
              <a:rPr lang="en-US" sz="3600" dirty="0" smtClean="0"/>
              <a:t>print sum;</a:t>
            </a:r>
          </a:p>
          <a:p>
            <a:pPr marL="548640" lvl="2" indent="0">
              <a:buNone/>
            </a:pPr>
            <a:endParaRPr lang="en-US" sz="3600" dirty="0"/>
          </a:p>
          <a:p>
            <a:pPr marL="548640" lvl="2" indent="0">
              <a:buNone/>
            </a:pPr>
            <a:r>
              <a:rPr lang="en-US" sz="3600" dirty="0" smtClean="0"/>
              <a:t>Answer: 6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3307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89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/>
              <a:t>Programming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Contents: Here you will learn about:</a:t>
            </a:r>
          </a:p>
          <a:p>
            <a:pPr lvl="1"/>
            <a:r>
              <a:rPr lang="en-US" altLang="en-US" sz="2400" dirty="0" smtClean="0"/>
              <a:t>Programming errors</a:t>
            </a:r>
          </a:p>
          <a:p>
            <a:pPr lvl="1"/>
            <a:r>
              <a:rPr lang="en-US" altLang="en-US" sz="2400" dirty="0" smtClean="0"/>
              <a:t>Types </a:t>
            </a:r>
            <a:r>
              <a:rPr lang="en-US" altLang="en-US" sz="2400" dirty="0"/>
              <a:t>of </a:t>
            </a:r>
            <a:r>
              <a:rPr lang="en-US" altLang="en-US" sz="2400" dirty="0" smtClean="0"/>
              <a:t>errors</a:t>
            </a:r>
          </a:p>
          <a:p>
            <a:pPr lvl="1"/>
            <a:r>
              <a:rPr lang="en-US" altLang="en-US" sz="2400" dirty="0" smtClean="0"/>
              <a:t>Semantic</a:t>
            </a:r>
            <a:r>
              <a:rPr lang="en-US" altLang="en-US" sz="2400" dirty="0"/>
              <a:t>, Logical and Syntax </a:t>
            </a:r>
            <a:r>
              <a:rPr lang="en-US" altLang="en-US" sz="2400" dirty="0" smtClean="0"/>
              <a:t>Errors</a:t>
            </a: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3312919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/>
              <a:t>Programming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As a programmer one (be it expert or beginner) will encounter errors of various types.</a:t>
            </a:r>
          </a:p>
          <a:p>
            <a:pPr lvl="1"/>
            <a:r>
              <a:rPr lang="en-US" sz="3200" dirty="0" smtClean="0"/>
              <a:t>The errors will force the programmer to look for the errors, make necessary modifications to the program for the program to work.</a:t>
            </a:r>
          </a:p>
          <a:p>
            <a:pPr lvl="1"/>
            <a:r>
              <a:rPr lang="en-US" sz="3200" dirty="0" smtClean="0"/>
              <a:t>It can sometimes be confusing and stressful  when an unexpected error appears and stops your program from working.</a:t>
            </a:r>
          </a:p>
          <a:p>
            <a:pPr lvl="2"/>
            <a:r>
              <a:rPr lang="en-US" sz="2800" dirty="0" smtClean="0"/>
              <a:t>Being aware of the various types of errors that can occur in a program can help one as a programmer, in solving the problem.</a:t>
            </a:r>
          </a:p>
        </p:txBody>
      </p:sp>
    </p:spTree>
    <p:extLst>
      <p:ext uri="{BB962C8B-B14F-4D97-AF65-F5344CB8AC3E}">
        <p14:creationId xmlns:p14="http://schemas.microsoft.com/office/powerpoint/2010/main" val="149536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TYPES OF Programming </a:t>
            </a:r>
            <a:r>
              <a:rPr lang="en-US" dirty="0"/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We will look at three types/classes of errors:</a:t>
            </a:r>
          </a:p>
          <a:p>
            <a:pPr lvl="1"/>
            <a:r>
              <a:rPr lang="en-US" sz="2400" dirty="0" smtClean="0"/>
              <a:t>Logical </a:t>
            </a:r>
            <a:r>
              <a:rPr lang="en-US" sz="2400" dirty="0"/>
              <a:t>errors</a:t>
            </a:r>
            <a:endParaRPr lang="en-US" sz="2400" dirty="0" smtClean="0"/>
          </a:p>
          <a:p>
            <a:pPr lvl="1"/>
            <a:r>
              <a:rPr lang="en-US" sz="2400" dirty="0" smtClean="0"/>
              <a:t>Syntax </a:t>
            </a:r>
            <a:r>
              <a:rPr lang="en-US" sz="2400" dirty="0"/>
              <a:t>errors</a:t>
            </a:r>
            <a:endParaRPr lang="en-US" sz="2400" dirty="0" smtClean="0"/>
          </a:p>
          <a:p>
            <a:pPr lvl="1"/>
            <a:r>
              <a:rPr lang="en-US" sz="2400" dirty="0" smtClean="0"/>
              <a:t>Semantic errors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 smtClean="0"/>
              <a:t>NOTE:</a:t>
            </a:r>
          </a:p>
          <a:p>
            <a:pPr lvl="2"/>
            <a:r>
              <a:rPr lang="en-US" sz="2400" dirty="0"/>
              <a:t>B</a:t>
            </a:r>
            <a:r>
              <a:rPr lang="en-US" sz="2400" dirty="0" smtClean="0"/>
              <a:t>e </a:t>
            </a:r>
            <a:r>
              <a:rPr lang="en-US" sz="2400" dirty="0"/>
              <a:t>aware that these same classes </a:t>
            </a:r>
            <a:r>
              <a:rPr lang="en-US" sz="2400" dirty="0" smtClean="0"/>
              <a:t>of errors can </a:t>
            </a:r>
            <a:r>
              <a:rPr lang="en-US" sz="2400" dirty="0"/>
              <a:t>be either </a:t>
            </a:r>
            <a:r>
              <a:rPr lang="en-US" sz="2400" b="1" dirty="0"/>
              <a:t>static</a:t>
            </a:r>
            <a:r>
              <a:rPr lang="en-US" sz="2400" dirty="0"/>
              <a:t> (compile-time) or </a:t>
            </a:r>
            <a:r>
              <a:rPr lang="en-US" sz="2400" b="1" dirty="0"/>
              <a:t>dynamic</a:t>
            </a:r>
            <a:r>
              <a:rPr lang="en-US" sz="2400" dirty="0"/>
              <a:t> (run-time) in nature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16372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TYPES OF Programming </a:t>
            </a:r>
            <a:r>
              <a:rPr lang="en-US" dirty="0"/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Logical errors</a:t>
            </a:r>
          </a:p>
          <a:p>
            <a:pPr lvl="1"/>
            <a:r>
              <a:rPr lang="en-US" sz="2800" dirty="0" smtClean="0"/>
              <a:t>These errors </a:t>
            </a:r>
            <a:r>
              <a:rPr lang="en-US" sz="2800" dirty="0"/>
              <a:t>are the hardest of all error types to detect. </a:t>
            </a:r>
            <a:endParaRPr lang="en-US" sz="2800" dirty="0" smtClean="0"/>
          </a:p>
          <a:p>
            <a:pPr lvl="1"/>
            <a:r>
              <a:rPr lang="en-US" sz="2800" dirty="0"/>
              <a:t>T</a:t>
            </a:r>
            <a:r>
              <a:rPr lang="en-US" sz="2800" dirty="0" smtClean="0"/>
              <a:t>hey </a:t>
            </a:r>
            <a:r>
              <a:rPr lang="en-US" sz="2800" dirty="0"/>
              <a:t>do not cause the program to crash or simply not work at all, they cause it to “misbehave” in some way, </a:t>
            </a:r>
            <a:r>
              <a:rPr lang="en-US" sz="2800" dirty="0" smtClean="0"/>
              <a:t>rendering (giving) a </a:t>
            </a:r>
            <a:r>
              <a:rPr lang="en-US" sz="2800" dirty="0"/>
              <a:t>wrong output of some </a:t>
            </a:r>
            <a:r>
              <a:rPr lang="en-US" sz="2800" dirty="0" smtClean="0"/>
              <a:t>kind.</a:t>
            </a:r>
          </a:p>
          <a:p>
            <a:pPr lvl="2"/>
            <a:r>
              <a:rPr lang="en-US" sz="2400" dirty="0"/>
              <a:t>Example</a:t>
            </a:r>
          </a:p>
          <a:p>
            <a:pPr marL="822960" lvl="3" indent="0">
              <a:buNone/>
            </a:pPr>
            <a:r>
              <a:rPr lang="en-US" sz="2400" i="1" dirty="0"/>
              <a:t> </a:t>
            </a:r>
            <a:r>
              <a:rPr lang="en-US" sz="2400" i="1" dirty="0" err="1"/>
              <a:t>int</a:t>
            </a:r>
            <a:r>
              <a:rPr lang="en-US" sz="2400" i="1" dirty="0"/>
              <a:t> a = 10;</a:t>
            </a:r>
          </a:p>
          <a:p>
            <a:pPr marL="822960" lvl="3" indent="0">
              <a:buNone/>
            </a:pPr>
            <a:r>
              <a:rPr lang="en-US" sz="2400" i="1" dirty="0"/>
              <a:t> </a:t>
            </a:r>
            <a:r>
              <a:rPr lang="en-US" sz="2400" i="1" dirty="0" err="1"/>
              <a:t>int</a:t>
            </a:r>
            <a:r>
              <a:rPr lang="en-US" sz="2400" i="1" dirty="0"/>
              <a:t> b = 20;</a:t>
            </a:r>
          </a:p>
          <a:p>
            <a:pPr marL="822960" lvl="3" indent="0">
              <a:buNone/>
            </a:pPr>
            <a:r>
              <a:rPr lang="en-US" sz="2400" i="1" dirty="0"/>
              <a:t> </a:t>
            </a:r>
            <a:r>
              <a:rPr lang="en-US" sz="2400" i="1" dirty="0" err="1"/>
              <a:t>int</a:t>
            </a:r>
            <a:r>
              <a:rPr lang="en-US" sz="2400" i="1" dirty="0"/>
              <a:t> sum = a - b</a:t>
            </a:r>
            <a:r>
              <a:rPr lang="en-US" sz="2400" i="1" dirty="0" smtClean="0"/>
              <a:t>;</a:t>
            </a:r>
          </a:p>
          <a:p>
            <a:pPr lvl="2"/>
            <a:endParaRPr lang="en-US" sz="2400" dirty="0"/>
          </a:p>
          <a:p>
            <a:pPr lvl="3"/>
            <a:r>
              <a:rPr lang="en-US" sz="2400" dirty="0" smtClean="0"/>
              <a:t>NOTE:</a:t>
            </a:r>
          </a:p>
          <a:p>
            <a:pPr lvl="4"/>
            <a:r>
              <a:rPr lang="en-US" sz="2400" dirty="0"/>
              <a:t>I wanted to get the sum of </a:t>
            </a:r>
            <a:r>
              <a:rPr lang="en-US" sz="2400" b="1" dirty="0"/>
              <a:t>a</a:t>
            </a:r>
            <a:r>
              <a:rPr lang="en-US" sz="2400" dirty="0"/>
              <a:t>  and </a:t>
            </a:r>
            <a:r>
              <a:rPr lang="en-US" sz="2400" b="1" dirty="0"/>
              <a:t>b</a:t>
            </a:r>
            <a:r>
              <a:rPr lang="en-US" sz="2400" dirty="0"/>
              <a:t>, but I wrote the program which gives me the difference of </a:t>
            </a:r>
            <a:r>
              <a:rPr lang="en-US" sz="2400" b="1" dirty="0"/>
              <a:t>a</a:t>
            </a:r>
            <a:r>
              <a:rPr lang="en-US" sz="2400" dirty="0"/>
              <a:t> and </a:t>
            </a:r>
            <a:r>
              <a:rPr lang="en-US" sz="2400" b="1" dirty="0" smtClean="0"/>
              <a:t>b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2093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TYPES OF Programming </a:t>
            </a:r>
            <a:r>
              <a:rPr lang="en-US" dirty="0"/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Syntax errors</a:t>
            </a:r>
          </a:p>
          <a:p>
            <a:pPr lvl="1" algn="just"/>
            <a:r>
              <a:rPr lang="en-US" sz="2800" dirty="0" smtClean="0"/>
              <a:t>Syntax errors in </a:t>
            </a:r>
            <a:r>
              <a:rPr lang="en-US" sz="2800" dirty="0"/>
              <a:t>computer programming differ from logical errors in that they </a:t>
            </a:r>
            <a:r>
              <a:rPr lang="en-US" sz="2800" dirty="0" smtClean="0"/>
              <a:t>are caused by not following </a:t>
            </a:r>
            <a:r>
              <a:rPr lang="en-US" sz="2800" dirty="0"/>
              <a:t>a correct sequence in the computer language.</a:t>
            </a:r>
          </a:p>
          <a:p>
            <a:pPr lvl="2" algn="just"/>
            <a:r>
              <a:rPr lang="en-US" sz="2600" dirty="0"/>
              <a:t>With compiled </a:t>
            </a:r>
            <a:r>
              <a:rPr lang="en-US" sz="2600" dirty="0" smtClean="0"/>
              <a:t>languages (C, C++, C#, ..), </a:t>
            </a:r>
            <a:r>
              <a:rPr lang="en-US" sz="2600" dirty="0"/>
              <a:t>you will run into any syntax errors at compile time, and they will have to be corrected before the program can </a:t>
            </a:r>
            <a:r>
              <a:rPr lang="en-US" sz="2600" dirty="0" smtClean="0"/>
              <a:t>run.</a:t>
            </a:r>
            <a:endParaRPr lang="en-US" sz="2600" dirty="0"/>
          </a:p>
          <a:p>
            <a:pPr lvl="3" algn="just"/>
            <a:r>
              <a:rPr lang="en-US" sz="2600" dirty="0" smtClean="0"/>
              <a:t>The </a:t>
            </a:r>
            <a:r>
              <a:rPr lang="en-US" sz="2800" dirty="0" smtClean="0"/>
              <a:t>Compiler/interpreter </a:t>
            </a:r>
            <a:r>
              <a:rPr lang="en-US" sz="2800" dirty="0"/>
              <a:t>will give you the location of the syntax error, which makes it rather easy to </a:t>
            </a:r>
            <a:r>
              <a:rPr lang="en-US" sz="2800" dirty="0" smtClean="0"/>
              <a:t>find/fix the error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5173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TYPES OF Programming </a:t>
            </a:r>
            <a:r>
              <a:rPr lang="en-US" dirty="0"/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smtClean="0"/>
              <a:t>Syntax errors</a:t>
            </a:r>
          </a:p>
          <a:p>
            <a:pPr lvl="1"/>
            <a:r>
              <a:rPr lang="en-US" sz="3000" dirty="0" smtClean="0"/>
              <a:t>Examples </a:t>
            </a:r>
            <a:r>
              <a:rPr lang="en-US" sz="3000" dirty="0"/>
              <a:t>of syntax </a:t>
            </a:r>
            <a:r>
              <a:rPr lang="en-US" sz="3000" dirty="0" smtClean="0"/>
              <a:t>errors:</a:t>
            </a:r>
          </a:p>
          <a:p>
            <a:pPr marL="274320" lvl="1" indent="0">
              <a:buNone/>
            </a:pPr>
            <a:endParaRPr lang="en-US" sz="3000" dirty="0"/>
          </a:p>
          <a:p>
            <a:pPr marL="822960" lvl="3" indent="0">
              <a:buNone/>
            </a:pPr>
            <a:r>
              <a:rPr lang="en-US" sz="2800" i="1" dirty="0"/>
              <a:t> </a:t>
            </a:r>
            <a:r>
              <a:rPr lang="en-US" sz="2800" i="1" dirty="0" smtClean="0"/>
              <a:t>   INT </a:t>
            </a:r>
            <a:r>
              <a:rPr lang="en-US" sz="2800" i="1" dirty="0"/>
              <a:t>a =10;  </a:t>
            </a:r>
          </a:p>
          <a:p>
            <a:pPr marL="0" indent="0">
              <a:buNone/>
            </a:pPr>
            <a:r>
              <a:rPr lang="en-US" sz="3200" i="1" dirty="0"/>
              <a:t>        </a:t>
            </a:r>
            <a:r>
              <a:rPr lang="en-US" sz="3200" i="1" dirty="0" smtClean="0"/>
              <a:t>  // </a:t>
            </a:r>
            <a:r>
              <a:rPr lang="en-US" sz="3200" i="1" dirty="0"/>
              <a:t>data type should not be written in capital </a:t>
            </a:r>
            <a:r>
              <a:rPr lang="en-US" sz="3200" i="1" dirty="0" smtClean="0"/>
              <a:t>letter</a:t>
            </a:r>
          </a:p>
          <a:p>
            <a:pPr marL="0" indent="0">
              <a:buNone/>
            </a:pPr>
            <a:endParaRPr lang="en-US" sz="3200" i="1" dirty="0"/>
          </a:p>
          <a:p>
            <a:pPr marL="0" indent="0">
              <a:buNone/>
            </a:pPr>
            <a:r>
              <a:rPr lang="en-US" sz="3200" dirty="0" smtClean="0"/>
              <a:t>	</a:t>
            </a:r>
            <a:r>
              <a:rPr lang="en-US" sz="3200" i="1" dirty="0" smtClean="0"/>
              <a:t>double </a:t>
            </a:r>
            <a:r>
              <a:rPr lang="en-US" sz="3200" i="1" dirty="0"/>
              <a:t>p =20.90  </a:t>
            </a:r>
          </a:p>
          <a:p>
            <a:pPr marL="0" indent="0">
              <a:buNone/>
            </a:pPr>
            <a:r>
              <a:rPr lang="en-US" sz="3200" i="1" dirty="0" smtClean="0"/>
              <a:t>	// </a:t>
            </a:r>
            <a:r>
              <a:rPr lang="en-US" sz="3200" i="1" dirty="0"/>
              <a:t>statement should end with a semi colon (;)</a:t>
            </a:r>
          </a:p>
          <a:p>
            <a:pPr marL="0" indent="0">
              <a:buNone/>
            </a:pPr>
            <a:r>
              <a:rPr lang="en-US" sz="3200" dirty="0" smtClean="0"/>
              <a:t>	</a:t>
            </a:r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i="1" dirty="0" err="1" smtClean="0"/>
              <a:t>int</a:t>
            </a:r>
            <a:r>
              <a:rPr lang="en-US" sz="3200" i="1" dirty="0" smtClean="0"/>
              <a:t> </a:t>
            </a:r>
            <a:r>
              <a:rPr lang="en-US" sz="3200" i="1" dirty="0"/>
              <a:t>z = 19.20; </a:t>
            </a:r>
          </a:p>
          <a:p>
            <a:pPr marL="0" indent="0">
              <a:buNone/>
            </a:pPr>
            <a:r>
              <a:rPr lang="en-US" sz="3200" i="1" dirty="0" smtClean="0"/>
              <a:t>	// </a:t>
            </a:r>
            <a:r>
              <a:rPr lang="en-US" sz="3200" i="1" dirty="0"/>
              <a:t>float value can not be assigned to an integer </a:t>
            </a:r>
            <a:r>
              <a:rPr lang="en-US" sz="3200" i="1" dirty="0" smtClean="0"/>
              <a:t>variable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295023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TYPES OF Programming </a:t>
            </a:r>
            <a:r>
              <a:rPr lang="en-US" dirty="0"/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Semantic errors</a:t>
            </a:r>
          </a:p>
          <a:p>
            <a:pPr lvl="1"/>
            <a:r>
              <a:rPr lang="en-US" sz="3000" dirty="0" smtClean="0"/>
              <a:t>Semantic </a:t>
            </a:r>
            <a:r>
              <a:rPr lang="en-US" sz="3000" dirty="0"/>
              <a:t>errors </a:t>
            </a:r>
            <a:r>
              <a:rPr lang="en-US" sz="3000" dirty="0" smtClean="0"/>
              <a:t>are caused by the </a:t>
            </a:r>
            <a:r>
              <a:rPr lang="en-US" sz="3000" dirty="0"/>
              <a:t>improper uses of “program statements</a:t>
            </a:r>
            <a:r>
              <a:rPr lang="en-US" sz="3000" dirty="0" smtClean="0"/>
              <a:t>.”</a:t>
            </a:r>
          </a:p>
          <a:p>
            <a:pPr lvl="2"/>
            <a:r>
              <a:rPr lang="en-US" sz="3000" dirty="0" smtClean="0"/>
              <a:t>This </a:t>
            </a:r>
            <a:r>
              <a:rPr lang="en-US" sz="3000" dirty="0"/>
              <a:t>kind of error occurs when it is syntactically correct but has no meaning. </a:t>
            </a:r>
            <a:endParaRPr lang="en-US" sz="3000" dirty="0" smtClean="0"/>
          </a:p>
          <a:p>
            <a:pPr lvl="3"/>
            <a:r>
              <a:rPr lang="en-US" sz="3000" dirty="0" smtClean="0"/>
              <a:t>This </a:t>
            </a:r>
            <a:r>
              <a:rPr lang="en-US" sz="3000" dirty="0"/>
              <a:t>is like grammatical mistakes</a:t>
            </a:r>
            <a:r>
              <a:rPr lang="en-US" sz="3000" dirty="0" smtClean="0"/>
              <a:t>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56517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TYPES OF Programming </a:t>
            </a:r>
            <a:r>
              <a:rPr lang="en-US" dirty="0"/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Semantic errors</a:t>
            </a:r>
          </a:p>
          <a:p>
            <a:pPr lvl="1"/>
            <a:r>
              <a:rPr lang="en-US" sz="3000" dirty="0" smtClean="0"/>
              <a:t>Example:</a:t>
            </a:r>
          </a:p>
          <a:p>
            <a:pPr lvl="2"/>
            <a:r>
              <a:rPr lang="en-US" sz="3000" dirty="0" smtClean="0"/>
              <a:t>If </a:t>
            </a:r>
            <a:r>
              <a:rPr lang="en-US" sz="3000" dirty="0"/>
              <a:t>some expression is given at the left side of assignment operator, this may generate </a:t>
            </a:r>
            <a:r>
              <a:rPr lang="en-US" sz="3000" dirty="0" smtClean="0"/>
              <a:t>a semantic </a:t>
            </a:r>
            <a:r>
              <a:rPr lang="en-US" sz="3000" dirty="0"/>
              <a:t>error</a:t>
            </a:r>
            <a:r>
              <a:rPr lang="en-US" sz="3000" dirty="0" smtClean="0"/>
              <a:t>.</a:t>
            </a:r>
            <a:endParaRPr lang="en-US" sz="3000" dirty="0"/>
          </a:p>
          <a:p>
            <a:pPr marL="1097280" lvl="4" indent="0">
              <a:buNone/>
            </a:pPr>
            <a:r>
              <a:rPr lang="es-ES" sz="2800" dirty="0"/>
              <a:t>    </a:t>
            </a:r>
            <a:r>
              <a:rPr lang="es-ES" sz="2000" i="1" dirty="0" err="1"/>
              <a:t>int</a:t>
            </a:r>
            <a:r>
              <a:rPr lang="es-ES" sz="2000" i="1" dirty="0"/>
              <a:t> x, y, z;</a:t>
            </a:r>
          </a:p>
          <a:p>
            <a:pPr marL="1097280" lvl="4" indent="0">
              <a:buNone/>
            </a:pPr>
            <a:r>
              <a:rPr lang="es-ES" sz="2000" i="1" dirty="0"/>
              <a:t>      x = 10;</a:t>
            </a:r>
          </a:p>
          <a:p>
            <a:pPr marL="1097280" lvl="4" indent="0">
              <a:buNone/>
            </a:pPr>
            <a:r>
              <a:rPr lang="es-ES" sz="2000" i="1" dirty="0"/>
              <a:t>      y = 20;</a:t>
            </a:r>
          </a:p>
          <a:p>
            <a:pPr marL="1097280" lvl="4" indent="0">
              <a:buNone/>
            </a:pPr>
            <a:r>
              <a:rPr lang="es-ES" sz="2000" i="1" dirty="0"/>
              <a:t>      x + y = z</a:t>
            </a:r>
            <a:r>
              <a:rPr lang="es-ES" sz="2000" i="1" dirty="0" smtClean="0"/>
              <a:t>;</a:t>
            </a:r>
          </a:p>
          <a:p>
            <a:pPr marL="1097280" lvl="4" indent="0">
              <a:buNone/>
            </a:pPr>
            <a:endParaRPr lang="es-ES" sz="2000" i="1" dirty="0"/>
          </a:p>
        </p:txBody>
      </p:sp>
    </p:spTree>
    <p:extLst>
      <p:ext uri="{BB962C8B-B14F-4D97-AF65-F5344CB8AC3E}">
        <p14:creationId xmlns:p14="http://schemas.microsoft.com/office/powerpoint/2010/main" val="63598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63436"/>
            <a:ext cx="10058400" cy="1108541"/>
          </a:xfrm>
        </p:spPr>
        <p:txBody>
          <a:bodyPr/>
          <a:lstStyle/>
          <a:p>
            <a:r>
              <a:rPr lang="en-US" dirty="0" smtClean="0"/>
              <a:t>TYPES OF Programming </a:t>
            </a:r>
            <a:r>
              <a:rPr lang="en-US" dirty="0"/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699" y="1133341"/>
            <a:ext cx="11590986" cy="535761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Semantic errors</a:t>
            </a:r>
          </a:p>
          <a:p>
            <a:pPr lvl="1"/>
            <a:r>
              <a:rPr lang="en-US" sz="3000" dirty="0" smtClean="0"/>
              <a:t>Examples:</a:t>
            </a:r>
          </a:p>
          <a:p>
            <a:pPr lvl="1"/>
            <a:endParaRPr lang="en-US" sz="3000" dirty="0" smtClean="0"/>
          </a:p>
          <a:p>
            <a:pPr marL="1417120" lvl="5" indent="0">
              <a:buNone/>
            </a:pPr>
            <a:r>
              <a:rPr lang="es-ES" sz="2800" i="1" dirty="0" err="1" smtClean="0"/>
              <a:t>int</a:t>
            </a:r>
            <a:r>
              <a:rPr lang="es-ES" sz="2800" i="1" dirty="0" smtClean="0"/>
              <a:t> i;</a:t>
            </a:r>
          </a:p>
          <a:p>
            <a:pPr marL="1417120" lvl="5" indent="0">
              <a:buNone/>
            </a:pPr>
            <a:r>
              <a:rPr lang="es-ES" sz="2800" i="1" dirty="0" smtClean="0"/>
              <a:t>i++;</a:t>
            </a:r>
          </a:p>
          <a:p>
            <a:pPr marL="1417120" lvl="5" indent="0">
              <a:buNone/>
            </a:pP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48853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Draw flowchart diagram for the following programs using loop: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A </a:t>
            </a:r>
            <a:r>
              <a:rPr lang="en-US" sz="2800" dirty="0"/>
              <a:t>program that display number 1 to 20 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A </a:t>
            </a:r>
            <a:r>
              <a:rPr lang="en-US" sz="2800" dirty="0"/>
              <a:t>program that display a </a:t>
            </a:r>
            <a:r>
              <a:rPr lang="en-US" sz="2800" dirty="0" smtClean="0"/>
              <a:t>person’s </a:t>
            </a:r>
            <a:r>
              <a:rPr lang="en-US" sz="2800" dirty="0"/>
              <a:t>name </a:t>
            </a:r>
            <a:r>
              <a:rPr lang="en-US" sz="2800" dirty="0" smtClean="0"/>
              <a:t>5 </a:t>
            </a:r>
            <a:r>
              <a:rPr lang="en-US" sz="2800" dirty="0"/>
              <a:t>times</a:t>
            </a:r>
            <a:r>
              <a:rPr lang="en-US" sz="280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800" dirty="0" smtClean="0"/>
              <a:t>A sentinel-controlled repetition loop that prints your name only once.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672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8924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547</TotalTime>
  <Words>2568</Words>
  <Application>Microsoft Office PowerPoint</Application>
  <PresentationFormat>Widescreen</PresentationFormat>
  <Paragraphs>396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Arial</vt:lpstr>
      <vt:lpstr>Rockwell</vt:lpstr>
      <vt:lpstr>Rockwell Condensed</vt:lpstr>
      <vt:lpstr>Wingdings</vt:lpstr>
      <vt:lpstr>Wood Type</vt:lpstr>
      <vt:lpstr>CP 111: Principles of programming</vt:lpstr>
      <vt:lpstr>Flow of control</vt:lpstr>
      <vt:lpstr>Flow of control</vt:lpstr>
      <vt:lpstr>Flow of controls - CONTENT</vt:lpstr>
      <vt:lpstr>Sequential flow of control</vt:lpstr>
      <vt:lpstr>Decision flow of control</vt:lpstr>
      <vt:lpstr>Decision control structures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If statement</vt:lpstr>
      <vt:lpstr>Example</vt:lpstr>
      <vt:lpstr>Flow chart</vt:lpstr>
      <vt:lpstr>SWITCH Statement </vt:lpstr>
      <vt:lpstr>SWITCH Statement </vt:lpstr>
      <vt:lpstr>SWITCH Statement </vt:lpstr>
      <vt:lpstr>SWITCH Statement  </vt:lpstr>
      <vt:lpstr>SWITCH Statement – EXAMPLE 1</vt:lpstr>
      <vt:lpstr>SWITCH Statement – EXAMPLE 2</vt:lpstr>
      <vt:lpstr>Flow of control (repetition)</vt:lpstr>
      <vt:lpstr>Repetition (loops)</vt:lpstr>
      <vt:lpstr> Everyday Life:   Every second, we are engaged in one or more control structures. </vt:lpstr>
      <vt:lpstr>Why Is Repetition Needed?</vt:lpstr>
      <vt:lpstr>Loop (repetition)</vt:lpstr>
      <vt:lpstr>Types of Loops</vt:lpstr>
      <vt:lpstr>FOR Loop</vt:lpstr>
      <vt:lpstr>FOR Loop</vt:lpstr>
      <vt:lpstr>FOR Loop</vt:lpstr>
      <vt:lpstr>FOR loop (Pseudocode)</vt:lpstr>
      <vt:lpstr>For loop (example 1)</vt:lpstr>
      <vt:lpstr>For loop (Example 2)</vt:lpstr>
      <vt:lpstr>For loop (example 3)</vt:lpstr>
      <vt:lpstr>For loop (example 3 - FLOWCHART)</vt:lpstr>
      <vt:lpstr>While loop</vt:lpstr>
      <vt:lpstr>While loop syntax</vt:lpstr>
      <vt:lpstr>While loop (pseudocode)</vt:lpstr>
      <vt:lpstr>While loop (flow chart)</vt:lpstr>
      <vt:lpstr>While loop (example 1)</vt:lpstr>
      <vt:lpstr>While loop (example 1 - FLOWCHART)</vt:lpstr>
      <vt:lpstr>While loop (example 2)</vt:lpstr>
      <vt:lpstr>DO-WHILE Loop</vt:lpstr>
      <vt:lpstr>DO-WHILE Loop</vt:lpstr>
      <vt:lpstr>DO-WHILE Loop</vt:lpstr>
      <vt:lpstr>DO-WHILE Loop</vt:lpstr>
      <vt:lpstr>Do-while loop (pseudocode)</vt:lpstr>
      <vt:lpstr>Do-while (example 1)</vt:lpstr>
      <vt:lpstr>Do-while (example 2 – Flow chart)</vt:lpstr>
      <vt:lpstr>Do-while (example 2)</vt:lpstr>
      <vt:lpstr>Do-while (example 2)</vt:lpstr>
      <vt:lpstr>Programming Errors</vt:lpstr>
      <vt:lpstr>Programming Errors</vt:lpstr>
      <vt:lpstr>Programming Errors</vt:lpstr>
      <vt:lpstr>TYPES OF Programming Errors</vt:lpstr>
      <vt:lpstr>TYPES OF Programming Errors</vt:lpstr>
      <vt:lpstr>TYPES OF Programming Errors</vt:lpstr>
      <vt:lpstr>TYPES OF Programming Errors</vt:lpstr>
      <vt:lpstr>TYPES OF Programming Errors</vt:lpstr>
      <vt:lpstr>TYPES OF Programming Errors</vt:lpstr>
      <vt:lpstr>TYPES OF Programming Errors</vt:lpstr>
      <vt:lpstr>Assignment</vt:lpstr>
      <vt:lpstr>END</vt:lpstr>
    </vt:vector>
  </TitlesOfParts>
  <Company>Deftones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Siphael Betuel</dc:creator>
  <cp:lastModifiedBy>CIVE</cp:lastModifiedBy>
  <cp:revision>154</cp:revision>
  <dcterms:created xsi:type="dcterms:W3CDTF">2020-12-20T08:39:54Z</dcterms:created>
  <dcterms:modified xsi:type="dcterms:W3CDTF">2022-02-03T17:12:03Z</dcterms:modified>
</cp:coreProperties>
</file>