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2" r:id="rId12"/>
    <p:sldId id="293" r:id="rId13"/>
    <p:sldId id="294" r:id="rId14"/>
    <p:sldId id="295" r:id="rId15"/>
    <p:sldId id="266" r:id="rId16"/>
    <p:sldId id="267" r:id="rId17"/>
    <p:sldId id="300" r:id="rId18"/>
    <p:sldId id="301" r:id="rId19"/>
    <p:sldId id="296" r:id="rId20"/>
    <p:sldId id="298" r:id="rId21"/>
    <p:sldId id="299" r:id="rId22"/>
    <p:sldId id="268" r:id="rId23"/>
    <p:sldId id="269" r:id="rId24"/>
    <p:sldId id="270" r:id="rId25"/>
    <p:sldId id="271" r:id="rId26"/>
    <p:sldId id="274" r:id="rId27"/>
    <p:sldId id="272" r:id="rId28"/>
    <p:sldId id="273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2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0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4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2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1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4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4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5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1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5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BEACEAA-028C-4FA3-930E-180743FC7979}" type="datetimeFigureOut">
              <a:rPr lang="en-US" smtClean="0"/>
              <a:t>2021-01-20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CP 111: Principles of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 smtClean="0"/>
              <a:t>BRANCHING and LOOPS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26588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200" dirty="0"/>
              <a:t>Branching Statement </a:t>
            </a:r>
            <a:endParaRPr lang="en-US" sz="3200" dirty="0" smtClean="0"/>
          </a:p>
          <a:p>
            <a:r>
              <a:rPr lang="en-US" sz="3200" dirty="0" smtClean="0"/>
              <a:t>IF </a:t>
            </a:r>
            <a:r>
              <a:rPr lang="en-US" sz="3200" dirty="0"/>
              <a:t>Statement 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/>
              <a:t>Switch </a:t>
            </a:r>
            <a:r>
              <a:rPr lang="en-US" sz="3200" dirty="0" smtClean="0"/>
              <a:t>Statement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Loops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Condition Tested Loops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Counted Loops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 Endless Loops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 FOR Loop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 WHILE Loop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 DO-WHILE Loop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1137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Branching </a:t>
            </a:r>
            <a:r>
              <a:rPr lang="en-US" dirty="0"/>
              <a:t>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A program consists of a number of statements which are usually executed in sequence. </a:t>
            </a:r>
          </a:p>
          <a:p>
            <a:pPr algn="just"/>
            <a:r>
              <a:rPr lang="en-US" sz="2800" dirty="0" smtClean="0"/>
              <a:t>Programs </a:t>
            </a:r>
            <a:r>
              <a:rPr lang="en-US" sz="2800" dirty="0"/>
              <a:t>can be much more powerful if we can control the order in which statements are run. </a:t>
            </a:r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Branching Statements or Control Statements let the program makes a decision about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91477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 The IF Statement is a powerful decision making statement and is used to control the flow of execution of statements. </a:t>
            </a:r>
            <a:endParaRPr lang="en-US" sz="3200" dirty="0" smtClean="0"/>
          </a:p>
          <a:p>
            <a:pPr algn="just"/>
            <a:r>
              <a:rPr lang="en-US" sz="3200" dirty="0" smtClean="0"/>
              <a:t> </a:t>
            </a:r>
            <a:r>
              <a:rPr lang="en-US" sz="3200" dirty="0"/>
              <a:t>It is basically a two-way decision statement and is used in conjunction with an expression.</a:t>
            </a:r>
          </a:p>
        </p:txBody>
      </p:sp>
    </p:spTree>
    <p:extLst>
      <p:ext uri="{BB962C8B-B14F-4D97-AF65-F5344CB8AC3E}">
        <p14:creationId xmlns:p14="http://schemas.microsoft.com/office/powerpoint/2010/main" val="4021014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  </a:t>
            </a:r>
            <a:r>
              <a:rPr lang="en-US" sz="2800" dirty="0"/>
              <a:t>It allows the computer to evaluate the expression first and then, depending on whether the value of the expression (relation or condition) is ' true ' (non-zero) or ' false ' (zero), it transfers the control to a particular statement.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This point of program has two paths to follow, one for the true condition and the other for the false condition.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The if statement may be implemented in different forms depending on the complexity of the conditions to be tested.</a:t>
            </a:r>
          </a:p>
        </p:txBody>
      </p:sp>
    </p:spTree>
    <p:extLst>
      <p:ext uri="{BB962C8B-B14F-4D97-AF65-F5344CB8AC3E}">
        <p14:creationId xmlns:p14="http://schemas.microsoft.com/office/powerpoint/2010/main" val="183865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IF Statement</a:t>
            </a:r>
          </a:p>
          <a:p>
            <a:pPr algn="just"/>
            <a:r>
              <a:rPr lang="en-US" sz="3200" dirty="0" smtClean="0"/>
              <a:t>Two </a:t>
            </a:r>
            <a:r>
              <a:rPr lang="en-US" sz="3200" dirty="0"/>
              <a:t>types of IF Statement</a:t>
            </a:r>
            <a:r>
              <a:rPr lang="en-US" sz="3200" dirty="0" smtClean="0"/>
              <a:t>:</a:t>
            </a:r>
          </a:p>
          <a:p>
            <a:pPr marL="0" indent="0" algn="just">
              <a:buNone/>
            </a:pPr>
            <a:r>
              <a:rPr lang="en-US" sz="3200" dirty="0"/>
              <a:t>	</a:t>
            </a:r>
            <a:r>
              <a:rPr lang="en-US" sz="3200" dirty="0" smtClean="0"/>
              <a:t> </a:t>
            </a:r>
            <a:r>
              <a:rPr lang="en-US" sz="3200" dirty="0"/>
              <a:t>– Simple </a:t>
            </a:r>
            <a:r>
              <a:rPr lang="en-US" sz="3200" b="1" dirty="0"/>
              <a:t>IF </a:t>
            </a:r>
            <a:r>
              <a:rPr lang="en-US" sz="3200" b="1" dirty="0" smtClean="0"/>
              <a:t>Statement</a:t>
            </a:r>
          </a:p>
          <a:p>
            <a:pPr marL="0" indent="0" algn="just">
              <a:buNone/>
            </a:pPr>
            <a:r>
              <a:rPr lang="en-US" sz="3200" dirty="0"/>
              <a:t>	</a:t>
            </a:r>
            <a:r>
              <a:rPr lang="en-US" sz="3200" dirty="0" smtClean="0"/>
              <a:t> – </a:t>
            </a:r>
            <a:r>
              <a:rPr lang="en-US" sz="3200" b="1" dirty="0"/>
              <a:t>IF-ELSE</a:t>
            </a:r>
            <a:r>
              <a:rPr lang="en-US" sz="3200" dirty="0"/>
              <a:t> Statement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1833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3200" b="1" dirty="0"/>
              <a:t>Simple IF Statement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 smtClean="0"/>
              <a:t>The </a:t>
            </a:r>
            <a:r>
              <a:rPr lang="en-US" sz="3200" dirty="0"/>
              <a:t>statement-block may be a single statement or a group of statements. </a:t>
            </a:r>
            <a:endParaRPr lang="en-US" sz="3200" dirty="0" smtClean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 smtClean="0"/>
              <a:t> </a:t>
            </a:r>
            <a:r>
              <a:rPr lang="en-US" sz="3200" dirty="0"/>
              <a:t>If the test expression is true, the statement-block will be executed; otherwise the statement-block will be skipped and the execution will jump to statement-x.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 smtClean="0"/>
              <a:t> </a:t>
            </a:r>
            <a:r>
              <a:rPr lang="en-US" sz="3200" dirty="0"/>
              <a:t>Remember, when the condition is true both the statement-block and the statement-x are executed in sequence.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148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smtClean="0"/>
              <a:t>Simple IF Statement</a:t>
            </a:r>
          </a:p>
          <a:p>
            <a:pPr algn="just"/>
            <a:endParaRPr lang="en-US" sz="32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3" y="1653349"/>
            <a:ext cx="6080188" cy="431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8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3200" b="1" dirty="0"/>
              <a:t>IF-ELSE Statement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 smtClean="0"/>
              <a:t> </a:t>
            </a:r>
            <a:r>
              <a:rPr lang="en-US" sz="3200" dirty="0"/>
              <a:t>The if....else statement is an extension of the simple if statement. </a:t>
            </a:r>
            <a:endParaRPr lang="en-US" sz="3200" dirty="0" smtClean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 smtClean="0"/>
              <a:t> </a:t>
            </a:r>
            <a:r>
              <a:rPr lang="en-US" sz="3200" dirty="0"/>
              <a:t>If the test expression is true , then the true-block statement(s), immediately following the if statement are executed; otherwise the false-block statement(s) are executed. </a:t>
            </a:r>
            <a:endParaRPr lang="en-US" sz="3200" dirty="0" smtClean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 smtClean="0"/>
              <a:t> </a:t>
            </a:r>
            <a:r>
              <a:rPr lang="en-US" sz="3200" dirty="0"/>
              <a:t>In either case, either true-block or false-block will be executed, not both.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419092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IF-ELSE </a:t>
            </a:r>
            <a:r>
              <a:rPr lang="en-US" sz="3200" dirty="0" smtClean="0"/>
              <a:t>Statement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078" y="2295906"/>
            <a:ext cx="5524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4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smtClean="0"/>
              <a:t>Statement (example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/>
              <a:t>Draw the </a:t>
            </a:r>
            <a:r>
              <a:rPr lang="en-US" sz="2800" dirty="0"/>
              <a:t>flow chart shows a program which ask a user to enter a number, and then compare the number given either it is bigger or smaller than 5.</a:t>
            </a:r>
          </a:p>
        </p:txBody>
      </p:sp>
    </p:spTree>
    <p:extLst>
      <p:ext uri="{BB962C8B-B14F-4D97-AF65-F5344CB8AC3E}">
        <p14:creationId xmlns:p14="http://schemas.microsoft.com/office/powerpoint/2010/main" val="170096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IF </a:t>
            </a:r>
            <a:r>
              <a:rPr lang="en-US" sz="4400" dirty="0" smtClean="0"/>
              <a:t>Statement (solution for example 1)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9166" y="2073719"/>
            <a:ext cx="37528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3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IF </a:t>
            </a:r>
            <a:r>
              <a:rPr lang="en-US" sz="4400" dirty="0" smtClean="0"/>
              <a:t>Statement (solution for example 2)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Draw the </a:t>
            </a:r>
            <a:r>
              <a:rPr lang="en-US" sz="3200" dirty="0"/>
              <a:t>flow chart shows a program to check whether the student “Passed” or “Failed”.</a:t>
            </a:r>
          </a:p>
        </p:txBody>
      </p:sp>
    </p:spTree>
    <p:extLst>
      <p:ext uri="{BB962C8B-B14F-4D97-AF65-F5344CB8AC3E}">
        <p14:creationId xmlns:p14="http://schemas.microsoft.com/office/powerpoint/2010/main" val="85069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IF </a:t>
            </a:r>
            <a:r>
              <a:rPr lang="en-US" sz="4400" dirty="0" smtClean="0"/>
              <a:t>Statement (solution for example 2)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959" y="2610358"/>
            <a:ext cx="7551167" cy="286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5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 </a:t>
            </a:r>
            <a:r>
              <a:rPr lang="en-US" sz="2800" dirty="0"/>
              <a:t>In computer programming, a Switch Statement (also known as Case Statement) is a type of control statement that exists in most modern imperative programming languages. </a:t>
            </a:r>
          </a:p>
          <a:p>
            <a:pPr algn="just"/>
            <a:r>
              <a:rPr lang="en-US" sz="2800" dirty="0" smtClean="0"/>
              <a:t>This </a:t>
            </a:r>
            <a:r>
              <a:rPr lang="en-US" sz="2800" dirty="0"/>
              <a:t>is another form of the multi way decision.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A switch statement is a selection statement that lets you transfer control to different statements within the switch body depending on the value of the switch expression.</a:t>
            </a:r>
          </a:p>
        </p:txBody>
      </p:sp>
    </p:spTree>
    <p:extLst>
      <p:ext uri="{BB962C8B-B14F-4D97-AF65-F5344CB8AC3E}">
        <p14:creationId xmlns:p14="http://schemas.microsoft.com/office/powerpoint/2010/main" val="151064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 </a:t>
            </a:r>
            <a:r>
              <a:rPr lang="en-US" sz="2800" b="1" dirty="0"/>
              <a:t>SWITCH Statement </a:t>
            </a:r>
          </a:p>
          <a:p>
            <a:pPr algn="just"/>
            <a:r>
              <a:rPr lang="en-US" sz="2800" dirty="0" smtClean="0"/>
              <a:t>If </a:t>
            </a:r>
            <a:r>
              <a:rPr lang="en-US" sz="2800" dirty="0"/>
              <a:t>the value of the switch expression equals the value of one of the case expressions, the statements following that case expression are processed.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If not, the default label statements, if any, are processed.</a:t>
            </a:r>
          </a:p>
        </p:txBody>
      </p:sp>
    </p:spTree>
    <p:extLst>
      <p:ext uri="{BB962C8B-B14F-4D97-AF65-F5344CB8AC3E}">
        <p14:creationId xmlns:p14="http://schemas.microsoft.com/office/powerpoint/2010/main" val="178246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800" u="sng" dirty="0">
                <a:latin typeface="Courier New" panose="02070309020205020404" pitchFamily="49" charset="0"/>
              </a:rPr>
              <a:t>switch</a:t>
            </a:r>
            <a:r>
              <a:rPr lang="en-US" altLang="en-US" sz="2800" u="sng" dirty="0"/>
              <a:t> structure</a:t>
            </a:r>
            <a:r>
              <a:rPr lang="en-US" altLang="en-US" sz="2800" dirty="0"/>
              <a:t>: alternate to if-else</a:t>
            </a:r>
          </a:p>
          <a:p>
            <a:pPr algn="just"/>
            <a:r>
              <a:rPr lang="en-US" altLang="en-US" sz="2800" dirty="0">
                <a:latin typeface="Courier New" panose="02070309020205020404" pitchFamily="49" charset="0"/>
              </a:rPr>
              <a:t>switch</a:t>
            </a:r>
            <a:r>
              <a:rPr lang="en-US" altLang="en-US" sz="2800" dirty="0"/>
              <a:t> (integral) expression is evaluated first</a:t>
            </a:r>
          </a:p>
          <a:p>
            <a:pPr algn="just"/>
            <a:r>
              <a:rPr lang="en-US" altLang="en-US" sz="2800" dirty="0"/>
              <a:t>Value of the expression determines which corresponding action is taken</a:t>
            </a:r>
          </a:p>
          <a:p>
            <a:pPr algn="just"/>
            <a:r>
              <a:rPr lang="en-US" altLang="en-US" sz="2800" dirty="0"/>
              <a:t>Expression is sometimes called the selector</a:t>
            </a:r>
          </a:p>
        </p:txBody>
      </p:sp>
    </p:spTree>
    <p:extLst>
      <p:ext uri="{BB962C8B-B14F-4D97-AF65-F5344CB8AC3E}">
        <p14:creationId xmlns:p14="http://schemas.microsoft.com/office/powerpoint/2010/main" val="220610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</a:t>
            </a:r>
            <a:r>
              <a:rPr lang="en-US" dirty="0" smtClean="0"/>
              <a:t>Statement (syntax)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256" y="1702768"/>
            <a:ext cx="3558840" cy="4724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322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Repetition (loops)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b="1" dirty="0">
                <a:solidFill>
                  <a:srgbClr val="FF0000"/>
                </a:solidFill>
              </a:rPr>
              <a:t>Everyday Life:   </a:t>
            </a:r>
            <a:r>
              <a:rPr lang="en-US" altLang="en-US" dirty="0"/>
              <a:t>Every second, we are engaged in one or more control structures.</a:t>
            </a:r>
            <a:r>
              <a:rPr lang="en-US" altLang="en-US" u="sng" dirty="0"/>
              <a:t/>
            </a:r>
            <a:br>
              <a:rPr lang="en-US" altLang="en-US" u="sn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2400" dirty="0"/>
              <a:t/>
            </a:r>
            <a:br>
              <a:rPr lang="en-US" altLang="en-US" sz="2400" dirty="0"/>
            </a:br>
            <a:r>
              <a:rPr lang="en-US" altLang="en-US" sz="2400" b="1" dirty="0">
                <a:solidFill>
                  <a:srgbClr val="FF0000"/>
                </a:solidFill>
              </a:rPr>
              <a:t>Everyday Life:   </a:t>
            </a:r>
            <a:r>
              <a:rPr lang="en-US" altLang="en-US" sz="2400" dirty="0"/>
              <a:t>Every second, we are engaged in one or more control structures.</a:t>
            </a:r>
            <a:r>
              <a:rPr lang="en-US" altLang="en-US" u="sng" dirty="0" smtClean="0"/>
              <a:t/>
            </a:r>
            <a:br>
              <a:rPr lang="en-US" altLang="en-US" u="sn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6" descr="CMENO0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3810000"/>
            <a:ext cx="120491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2819400" y="2895600"/>
            <a:ext cx="1295400" cy="990600"/>
          </a:xfrm>
          <a:prstGeom prst="wedgeRoundRectCallout">
            <a:avLst>
              <a:gd name="adj1" fmla="val -54287"/>
              <a:gd name="adj2" fmla="val 9919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/>
              <a:t>I smile WHILE I am happy.</a:t>
            </a:r>
          </a:p>
        </p:txBody>
      </p:sp>
      <p:pic>
        <p:nvPicPr>
          <p:cNvPr id="6" name="Picture 8" descr="CCM012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950" y="4343400"/>
            <a:ext cx="13589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4648200" y="3733800"/>
            <a:ext cx="1295400" cy="990600"/>
          </a:xfrm>
          <a:prstGeom prst="wedgeRoundRectCallout">
            <a:avLst>
              <a:gd name="adj1" fmla="val -51347"/>
              <a:gd name="adj2" fmla="val 9406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/>
              <a:t>I yell WHILE I am mad.</a:t>
            </a:r>
          </a:p>
        </p:txBody>
      </p:sp>
      <p:pic>
        <p:nvPicPr>
          <p:cNvPr id="8" name="Picture 10" descr="CMENO1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4267201"/>
            <a:ext cx="1514475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11"/>
          <p:cNvSpPr>
            <a:spLocks noChangeArrowheads="1"/>
          </p:cNvSpPr>
          <p:nvPr/>
        </p:nvSpPr>
        <p:spPr bwMode="auto">
          <a:xfrm>
            <a:off x="6553200" y="2971801"/>
            <a:ext cx="1752600" cy="1222375"/>
          </a:xfrm>
          <a:prstGeom prst="cloudCallout">
            <a:avLst>
              <a:gd name="adj1" fmla="val -14676"/>
              <a:gd name="adj2" fmla="val 6883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/>
              <a:t>I sleep WHILE I am tired</a:t>
            </a:r>
            <a:r>
              <a:rPr lang="en-US" altLang="en-US" sz="1600" dirty="0"/>
              <a:t>.</a:t>
            </a:r>
          </a:p>
        </p:txBody>
      </p:sp>
      <p:pic>
        <p:nvPicPr>
          <p:cNvPr id="10" name="Picture 12" descr="SICKCOL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4440238"/>
            <a:ext cx="1258888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8458200" y="3048000"/>
            <a:ext cx="2133600" cy="1219200"/>
          </a:xfrm>
          <a:prstGeom prst="cloudCallout">
            <a:avLst>
              <a:gd name="adj1" fmla="val -13838"/>
              <a:gd name="adj2" fmla="val 91014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/>
              <a:t>I rest WHILE I am sick.</a:t>
            </a:r>
          </a:p>
        </p:txBody>
      </p:sp>
      <p:pic>
        <p:nvPicPr>
          <p:cNvPr id="12" name="Picture 14" descr="CTOFF13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752600"/>
            <a:ext cx="228600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utoShape 15"/>
          <p:cNvSpPr>
            <a:spLocks noChangeArrowheads="1"/>
          </p:cNvSpPr>
          <p:nvPr/>
        </p:nvSpPr>
        <p:spPr bwMode="auto">
          <a:xfrm>
            <a:off x="6477000" y="1676401"/>
            <a:ext cx="3581400" cy="917575"/>
          </a:xfrm>
          <a:prstGeom prst="cloudCallout">
            <a:avLst>
              <a:gd name="adj1" fmla="val -74912"/>
              <a:gd name="adj2" fmla="val -30449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/>
              <a:t>We listen WHILE the boss is talking.</a:t>
            </a:r>
          </a:p>
        </p:txBody>
      </p:sp>
    </p:spTree>
    <p:extLst>
      <p:ext uri="{BB962C8B-B14F-4D97-AF65-F5344CB8AC3E}">
        <p14:creationId xmlns:p14="http://schemas.microsoft.com/office/powerpoint/2010/main" val="192517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Why Is Repetition Needed?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Repetition allows you to efficiently use variables</a:t>
            </a:r>
          </a:p>
          <a:p>
            <a:pPr eaLnBrk="1" hangingPunct="1"/>
            <a:r>
              <a:rPr lang="en-US" altLang="en-US" smtClean="0"/>
              <a:t>Can input, add, and average multiple numbers using a limited number of variables</a:t>
            </a:r>
          </a:p>
          <a:p>
            <a:pPr eaLnBrk="1" hangingPunct="1"/>
            <a:r>
              <a:rPr lang="en-US" altLang="en-US" smtClean="0"/>
              <a:t>For example, to add five numbers:</a:t>
            </a:r>
          </a:p>
          <a:p>
            <a:pPr lvl="1" eaLnBrk="1" hangingPunct="1"/>
            <a:r>
              <a:rPr lang="en-US" altLang="en-US" sz="2400"/>
              <a:t>Declare a variable for each number, input the numbers and add the variables together</a:t>
            </a:r>
          </a:p>
          <a:p>
            <a:pPr lvl="1" eaLnBrk="1" hangingPunct="1"/>
            <a:r>
              <a:rPr lang="en-US" altLang="en-US" sz="2400"/>
              <a:t>Create a loop that reads a number into a variable and adds it to a variable that contains the sum of the numbers</a:t>
            </a:r>
          </a:p>
        </p:txBody>
      </p:sp>
    </p:spTree>
    <p:extLst>
      <p:ext uri="{BB962C8B-B14F-4D97-AF65-F5344CB8AC3E}">
        <p14:creationId xmlns:p14="http://schemas.microsoft.com/office/powerpoint/2010/main" val="281254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(repetition)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 A loop is a sequence of instructions that is continually repeated until a certain condition is reached. </a:t>
            </a:r>
            <a:endParaRPr lang="en-US" sz="2800" dirty="0" smtClean="0"/>
          </a:p>
          <a:p>
            <a:pPr algn="just"/>
            <a:r>
              <a:rPr lang="en-US" sz="2800" dirty="0" smtClean="0"/>
              <a:t>Loops </a:t>
            </a:r>
            <a:r>
              <a:rPr lang="en-US" sz="2800" dirty="0"/>
              <a:t>allow for the same statement to be executed a number of times in succession.</a:t>
            </a:r>
          </a:p>
        </p:txBody>
      </p:sp>
    </p:spTree>
    <p:extLst>
      <p:ext uri="{BB962C8B-B14F-4D97-AF65-F5344CB8AC3E}">
        <p14:creationId xmlns:p14="http://schemas.microsoft.com/office/powerpoint/2010/main" val="378065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FOR Loop </a:t>
            </a:r>
          </a:p>
          <a:p>
            <a:pPr algn="just"/>
            <a:r>
              <a:rPr lang="en-US" sz="3600" dirty="0" smtClean="0"/>
              <a:t>WHILE </a:t>
            </a:r>
            <a:r>
              <a:rPr lang="en-US" sz="3600" dirty="0"/>
              <a:t>Loop </a:t>
            </a:r>
          </a:p>
          <a:p>
            <a:pPr algn="just"/>
            <a:r>
              <a:rPr lang="en-US" sz="3600" dirty="0" smtClean="0"/>
              <a:t>DO </a:t>
            </a:r>
            <a:r>
              <a:rPr lang="en-US" sz="3600" dirty="0"/>
              <a:t>… WHILE Loop</a:t>
            </a:r>
          </a:p>
        </p:txBody>
      </p:sp>
    </p:spTree>
    <p:extLst>
      <p:ext uri="{BB962C8B-B14F-4D97-AF65-F5344CB8AC3E}">
        <p14:creationId xmlns:p14="http://schemas.microsoft.com/office/powerpoint/2010/main" val="353209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A FOR loop is a loop that repeats a specified number of times. </a:t>
            </a:r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dirty="0"/>
              <a:t>The loop uses a counter to tell it how many times to run the same sequence of activities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The counter has the following three numeric values</a:t>
            </a:r>
            <a:r>
              <a:rPr lang="en-US" sz="2800" dirty="0" smtClean="0"/>
              <a:t>:</a:t>
            </a:r>
          </a:p>
          <a:p>
            <a:pPr marL="0" indent="0">
              <a:buNone/>
            </a:pPr>
            <a:r>
              <a:rPr lang="en-US" sz="2800" dirty="0" smtClean="0"/>
              <a:t> 	– </a:t>
            </a:r>
            <a:r>
              <a:rPr lang="en-US" sz="2800" dirty="0"/>
              <a:t>Initial counter </a:t>
            </a:r>
            <a:r>
              <a:rPr lang="en-US" sz="2800" dirty="0" smtClean="0"/>
              <a:t>value</a:t>
            </a:r>
          </a:p>
          <a:p>
            <a:pPr marL="0" indent="0">
              <a:buNone/>
            </a:pPr>
            <a:r>
              <a:rPr lang="en-US" sz="2800" dirty="0" smtClean="0"/>
              <a:t>	– Condition</a:t>
            </a:r>
          </a:p>
          <a:p>
            <a:pPr marL="0" indent="0">
              <a:buNone/>
            </a:pPr>
            <a:r>
              <a:rPr lang="en-US" sz="2800" dirty="0" smtClean="0"/>
              <a:t> 	– Increment/Decrement </a:t>
            </a:r>
            <a:r>
              <a:rPr lang="en-US" sz="2800" dirty="0"/>
              <a:t>(the amount to add to the counter each time the loop </a:t>
            </a:r>
            <a:r>
              <a:rPr lang="en-US" sz="2800" dirty="0" smtClean="0"/>
              <a:t>	runs</a:t>
            </a:r>
            <a:r>
              <a:rPr lang="en-US" sz="2800" dirty="0"/>
              <a:t>) </a:t>
            </a:r>
            <a:endParaRPr lang="en-US" sz="2800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7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 </a:t>
            </a:r>
            <a:r>
              <a:rPr lang="en-US" sz="3200" dirty="0"/>
              <a:t>The loop ends when the counter reaches the </a:t>
            </a:r>
            <a:r>
              <a:rPr lang="en-US" sz="3200" dirty="0" smtClean="0"/>
              <a:t>condition, </a:t>
            </a:r>
            <a:r>
              <a:rPr lang="en-US" sz="3200" dirty="0"/>
              <a:t>or, if there is an associated test condition, when the test condition is true.</a:t>
            </a: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8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(syntax)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FOR (initial counter value, </a:t>
            </a:r>
            <a:r>
              <a:rPr lang="en-US" sz="2400" dirty="0" smtClean="0"/>
              <a:t>condition, increment/decrement)</a:t>
            </a:r>
          </a:p>
          <a:p>
            <a:pPr marL="0" indent="0" algn="just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</a:t>
            </a:r>
            <a:r>
              <a:rPr lang="en-US" sz="2400" dirty="0"/>
              <a:t>Statement (Do Something)</a:t>
            </a:r>
            <a:r>
              <a:rPr lang="en-US" sz="3200" dirty="0" smtClean="0"/>
              <a:t>	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1784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(Pseudocode)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 smtClean="0"/>
              <a:t> FOR </a:t>
            </a:r>
            <a:r>
              <a:rPr lang="en-US" sz="3200" dirty="0"/>
              <a:t>x times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Do Something</a:t>
            </a:r>
          </a:p>
          <a:p>
            <a:pPr marL="0" indent="0">
              <a:buNone/>
            </a:pPr>
            <a:r>
              <a:rPr lang="en-US" sz="3200" dirty="0" smtClean="0"/>
              <a:t> Increment/Decrement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7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(Flow chart)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8348" y="734400"/>
            <a:ext cx="4288798" cy="478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0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(example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for </a:t>
            </a:r>
            <a:r>
              <a:rPr lang="en-US" sz="2800" dirty="0"/>
              <a:t>(x=1, x&lt;5, x</a:t>
            </a:r>
            <a:r>
              <a:rPr lang="en-US" sz="2800" dirty="0" smtClean="0"/>
              <a:t>++)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800" dirty="0"/>
              <a:t>PRINT “Hello World”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829" y="2155698"/>
            <a:ext cx="41243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7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(Example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for </a:t>
            </a:r>
            <a:r>
              <a:rPr lang="en-US" sz="2800" dirty="0"/>
              <a:t>(x=1, x&lt;=4, x</a:t>
            </a:r>
            <a:r>
              <a:rPr lang="en-US" sz="2800" dirty="0" smtClean="0"/>
              <a:t>++)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800" dirty="0"/>
              <a:t>PRINT x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121" y="2337054"/>
            <a:ext cx="40195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7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(example 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 smtClean="0"/>
              <a:t>for </a:t>
            </a:r>
            <a:r>
              <a:rPr lang="en-US" sz="3200" dirty="0"/>
              <a:t>(x=5, x&gt;0, x--)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PRINT </a:t>
            </a:r>
            <a:r>
              <a:rPr lang="en-US" sz="3200" dirty="0"/>
              <a:t>x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819" y="2234184"/>
            <a:ext cx="39814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4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 A WHILE loop is a loop that repeats while some condition is satisfied.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The WHILE loop tests its condition at the beginning of every loop.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If the condition is false from the start, the sequence of activities contained in the loop never runs at all.</a:t>
            </a:r>
          </a:p>
        </p:txBody>
      </p:sp>
    </p:spTree>
    <p:extLst>
      <p:ext uri="{BB962C8B-B14F-4D97-AF65-F5344CB8AC3E}">
        <p14:creationId xmlns:p14="http://schemas.microsoft.com/office/powerpoint/2010/main" val="238519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WHILE (Condition</a:t>
            </a:r>
            <a:r>
              <a:rPr lang="en-US" sz="2800" dirty="0" smtClean="0"/>
              <a:t>)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800" dirty="0"/>
              <a:t>Statement (Do Something)</a:t>
            </a:r>
          </a:p>
        </p:txBody>
      </p:sp>
    </p:spTree>
    <p:extLst>
      <p:ext uri="{BB962C8B-B14F-4D97-AF65-F5344CB8AC3E}">
        <p14:creationId xmlns:p14="http://schemas.microsoft.com/office/powerpoint/2010/main" val="219960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 (pseudocode)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WHILE </a:t>
            </a:r>
            <a:r>
              <a:rPr lang="en-US" sz="2800" dirty="0" smtClean="0"/>
              <a:t>condition</a:t>
            </a:r>
          </a:p>
          <a:p>
            <a:pPr marL="0" indent="0">
              <a:buNone/>
            </a:pPr>
            <a:r>
              <a:rPr lang="en-US" sz="2800" dirty="0" smtClean="0"/>
              <a:t>    Do Something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327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 (flow chart)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9061" y="1812163"/>
            <a:ext cx="38481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8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 (example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   WHILE </a:t>
            </a:r>
            <a:r>
              <a:rPr lang="en-US" sz="2800" dirty="0"/>
              <a:t>(x &lt; 5)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PRINT </a:t>
            </a:r>
            <a:r>
              <a:rPr lang="en-US" sz="2800" dirty="0"/>
              <a:t>“Hello World”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x</a:t>
            </a:r>
            <a:r>
              <a:rPr lang="en-US" sz="2800" dirty="0"/>
              <a:t>++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20" y="1860042"/>
            <a:ext cx="421957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2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 (example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WHILE </a:t>
            </a:r>
            <a:r>
              <a:rPr lang="en-US" dirty="0"/>
              <a:t>(key != Esc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/>
              <a:t>PRINT “Hello World”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266" y="1780413"/>
            <a:ext cx="39528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4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DO-WHILE </a:t>
            </a:r>
            <a:r>
              <a:rPr lang="en-US" dirty="0"/>
              <a:t>Loop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Like a while loop, a do-while loop is a loop that repeats while some condition is satisfied.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Unlike a while loop, a do-while loop tests its condition at the end of the loop. </a:t>
            </a:r>
            <a:endParaRPr lang="en-US" sz="2800" dirty="0" smtClean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This means that its sequence of activities always runs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386658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Do-while loop (syntax)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DO</a:t>
            </a:r>
          </a:p>
          <a:p>
            <a:pPr marL="0" indent="0">
              <a:buNone/>
            </a:pPr>
            <a:r>
              <a:rPr lang="en-US" sz="2800" dirty="0"/>
              <a:t>Statement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WHILE </a:t>
            </a:r>
            <a:r>
              <a:rPr lang="en-US" sz="2800" dirty="0"/>
              <a:t>(Condition)</a:t>
            </a:r>
          </a:p>
        </p:txBody>
      </p:sp>
    </p:spTree>
    <p:extLst>
      <p:ext uri="{BB962C8B-B14F-4D97-AF65-F5344CB8AC3E}">
        <p14:creationId xmlns:p14="http://schemas.microsoft.com/office/powerpoint/2010/main" val="258432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Do-while loop (pseudocode)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Do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something </a:t>
            </a:r>
          </a:p>
          <a:p>
            <a:pPr marL="0" indent="0">
              <a:buNone/>
            </a:pPr>
            <a:r>
              <a:rPr lang="en-US" sz="3200" dirty="0" smtClean="0"/>
              <a:t>WHILE </a:t>
            </a:r>
            <a:r>
              <a:rPr lang="en-US" sz="3200" dirty="0"/>
              <a:t>condition</a:t>
            </a:r>
          </a:p>
        </p:txBody>
      </p:sp>
    </p:spTree>
    <p:extLst>
      <p:ext uri="{BB962C8B-B14F-4D97-AF65-F5344CB8AC3E}">
        <p14:creationId xmlns:p14="http://schemas.microsoft.com/office/powerpoint/2010/main" val="246483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Do-while loop (flow chart)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9274" y="2315845"/>
            <a:ext cx="35242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0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Do-while (example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sz="2800" dirty="0" smtClean="0"/>
              <a:t>x=1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DO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       PRINT </a:t>
            </a:r>
            <a:r>
              <a:rPr lang="en-US" sz="2800" dirty="0"/>
              <a:t>“Hello World”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x</a:t>
            </a:r>
            <a:r>
              <a:rPr lang="en-US" sz="2800" dirty="0"/>
              <a:t>++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WHILE </a:t>
            </a:r>
            <a:r>
              <a:rPr lang="en-US" sz="2800" dirty="0"/>
              <a:t>(x&lt;5)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924" y="2271903"/>
            <a:ext cx="40671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Do-while (example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x=1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800" dirty="0"/>
              <a:t>DO</a:t>
            </a:r>
          </a:p>
          <a:p>
            <a:pPr marL="0" indent="0">
              <a:buNone/>
            </a:pPr>
            <a:r>
              <a:rPr lang="en-US" sz="2800" dirty="0" smtClean="0"/>
              <a:t>       PRINT </a:t>
            </a:r>
            <a:r>
              <a:rPr lang="en-US" sz="2800" dirty="0"/>
              <a:t>“Hello World</a:t>
            </a:r>
            <a:r>
              <a:rPr lang="en-US" sz="2800" dirty="0" smtClean="0"/>
              <a:t>”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</a:t>
            </a:r>
            <a:r>
              <a:rPr lang="en-US" sz="2800" dirty="0"/>
              <a:t>x++ </a:t>
            </a:r>
          </a:p>
          <a:p>
            <a:pPr marL="0" indent="0">
              <a:buNone/>
            </a:pPr>
            <a:r>
              <a:rPr lang="en-US" sz="2800" dirty="0" smtClean="0"/>
              <a:t>WHILE </a:t>
            </a:r>
            <a:r>
              <a:rPr lang="en-US" sz="2800" dirty="0"/>
              <a:t>(x&gt;5)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278" y="1672780"/>
            <a:ext cx="400050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8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Draw flowchart diagram for the following programs using loop: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A </a:t>
            </a:r>
            <a:r>
              <a:rPr lang="en-US" sz="2800" dirty="0"/>
              <a:t>program that display number 1 to 20 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 </a:t>
            </a:r>
            <a:r>
              <a:rPr lang="en-US" sz="2800" dirty="0"/>
              <a:t>A program that display a person name </a:t>
            </a:r>
            <a:r>
              <a:rPr lang="en-US" sz="2800" dirty="0" smtClean="0"/>
              <a:t>5 </a:t>
            </a:r>
            <a:r>
              <a:rPr lang="en-US" sz="2800" dirty="0"/>
              <a:t>times.</a:t>
            </a:r>
          </a:p>
        </p:txBody>
      </p:sp>
    </p:spTree>
    <p:extLst>
      <p:ext uri="{BB962C8B-B14F-4D97-AF65-F5344CB8AC3E}">
        <p14:creationId xmlns:p14="http://schemas.microsoft.com/office/powerpoint/2010/main" val="70811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776" y="2862072"/>
            <a:ext cx="10058400" cy="1609344"/>
          </a:xfrm>
        </p:spPr>
        <p:txBody>
          <a:bodyPr/>
          <a:lstStyle/>
          <a:p>
            <a:pPr algn="ctr"/>
            <a:r>
              <a:rPr lang="en-US" dirty="0" smtClean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5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64</TotalTime>
  <Words>1217</Words>
  <Application>Microsoft Office PowerPoint</Application>
  <PresentationFormat>Widescreen</PresentationFormat>
  <Paragraphs>159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Courier New</vt:lpstr>
      <vt:lpstr>Rockwell</vt:lpstr>
      <vt:lpstr>Rockwell Condensed</vt:lpstr>
      <vt:lpstr>Wingdings</vt:lpstr>
      <vt:lpstr>Wood Type</vt:lpstr>
      <vt:lpstr>CP 111: Principles of programming</vt:lpstr>
      <vt:lpstr>Contents</vt:lpstr>
      <vt:lpstr> Branching Statement 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 (example 1)</vt:lpstr>
      <vt:lpstr>IF Statement (solution for example 1)</vt:lpstr>
      <vt:lpstr>IF Statement (solution for example 2)</vt:lpstr>
      <vt:lpstr>IF Statement (solution for example 2)</vt:lpstr>
      <vt:lpstr>SWITCH Statement  </vt:lpstr>
      <vt:lpstr>SWITCH Statement  </vt:lpstr>
      <vt:lpstr>SWITCH Statement  </vt:lpstr>
      <vt:lpstr>SWITCH Statement (syntax)  </vt:lpstr>
      <vt:lpstr>Repetition (loops)</vt:lpstr>
      <vt:lpstr> Everyday Life:   Every second, we are engaged in one or more control structures. </vt:lpstr>
      <vt:lpstr>Why Is Repetition Needed?</vt:lpstr>
      <vt:lpstr>Loop (repetition)</vt:lpstr>
      <vt:lpstr>Types of Loops</vt:lpstr>
      <vt:lpstr>FOR Loop</vt:lpstr>
      <vt:lpstr>FOR Loop</vt:lpstr>
      <vt:lpstr>FOR Loop (syntax)</vt:lpstr>
      <vt:lpstr>FOR loop (Pseudocode)</vt:lpstr>
      <vt:lpstr>For loop (Flow chart)</vt:lpstr>
      <vt:lpstr>For loop (example 1)</vt:lpstr>
      <vt:lpstr>For loop (Example 2)</vt:lpstr>
      <vt:lpstr>For loop (example 3)</vt:lpstr>
      <vt:lpstr>While loop</vt:lpstr>
      <vt:lpstr>While loop syntax</vt:lpstr>
      <vt:lpstr>While loop (pseudocode)</vt:lpstr>
      <vt:lpstr>While loop (flow chart)</vt:lpstr>
      <vt:lpstr>While loop (example 1)</vt:lpstr>
      <vt:lpstr>While loop (example 2)</vt:lpstr>
      <vt:lpstr> DO-WHILE Loop </vt:lpstr>
      <vt:lpstr>Do-while loop (syntax)</vt:lpstr>
      <vt:lpstr>Do-while loop (pseudocode)</vt:lpstr>
      <vt:lpstr>Do-while loop (flow chart)</vt:lpstr>
      <vt:lpstr>Do-while (example 1)</vt:lpstr>
      <vt:lpstr>Do-while (example 2)</vt:lpstr>
      <vt:lpstr>Assignment</vt:lpstr>
      <vt:lpstr>end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Siphael Betuel</dc:creator>
  <cp:lastModifiedBy>Siphael Betuel</cp:lastModifiedBy>
  <cp:revision>34</cp:revision>
  <dcterms:created xsi:type="dcterms:W3CDTF">2020-12-20T08:39:54Z</dcterms:created>
  <dcterms:modified xsi:type="dcterms:W3CDTF">2021-01-20T17:41:32Z</dcterms:modified>
</cp:coreProperties>
</file>