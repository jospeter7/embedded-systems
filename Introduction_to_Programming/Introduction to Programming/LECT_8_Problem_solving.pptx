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59" r:id="rId5"/>
    <p:sldId id="260" r:id="rId6"/>
    <p:sldId id="261" r:id="rId7"/>
    <p:sldId id="262" r:id="rId8"/>
    <p:sldId id="263" r:id="rId9"/>
    <p:sldId id="293" r:id="rId10"/>
    <p:sldId id="294" r:id="rId11"/>
    <p:sldId id="295" r:id="rId12"/>
    <p:sldId id="296" r:id="rId13"/>
    <p:sldId id="297" r:id="rId14"/>
    <p:sldId id="298" r:id="rId15"/>
    <p:sldId id="299" r:id="rId16"/>
    <p:sldId id="300" r:id="rId17"/>
    <p:sldId id="301" r:id="rId18"/>
    <p:sldId id="264" r:id="rId19"/>
    <p:sldId id="265" r:id="rId20"/>
    <p:sldId id="304" r:id="rId21"/>
    <p:sldId id="302" r:id="rId22"/>
    <p:sldId id="303" r:id="rId23"/>
    <p:sldId id="290" r:id="rId2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85" d="100"/>
          <a:sy n="85" d="100"/>
        </p:scale>
        <p:origin x="590"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ospeter Jonathan" userId="cd218e847753ee0b" providerId="LiveId" clId="{E265E5F1-6FA0-4A49-A91B-C74A6338A149}"/>
    <pc:docChg chg="custSel modSld">
      <pc:chgData name="Jospeter Jonathan" userId="cd218e847753ee0b" providerId="LiveId" clId="{E265E5F1-6FA0-4A49-A91B-C74A6338A149}" dt="2026-01-12T10:47:53.608" v="8" actId="478"/>
      <pc:docMkLst>
        <pc:docMk/>
      </pc:docMkLst>
      <pc:sldChg chg="delSp modSp mod">
        <pc:chgData name="Jospeter Jonathan" userId="cd218e847753ee0b" providerId="LiveId" clId="{E265E5F1-6FA0-4A49-A91B-C74A6338A149}" dt="2026-01-12T10:47:53.608" v="8" actId="478"/>
        <pc:sldMkLst>
          <pc:docMk/>
          <pc:sldMk cId="833785726" sldId="256"/>
        </pc:sldMkLst>
        <pc:spChg chg="mod">
          <ac:chgData name="Jospeter Jonathan" userId="cd218e847753ee0b" providerId="LiveId" clId="{E265E5F1-6FA0-4A49-A91B-C74A6338A149}" dt="2026-01-12T10:47:50.736" v="7"/>
          <ac:spMkLst>
            <pc:docMk/>
            <pc:sldMk cId="833785726" sldId="256"/>
            <ac:spMk id="2" creationId="{00000000-0000-0000-0000-000000000000}"/>
          </ac:spMkLst>
        </pc:spChg>
        <pc:spChg chg="del mod">
          <ac:chgData name="Jospeter Jonathan" userId="cd218e847753ee0b" providerId="LiveId" clId="{E265E5F1-6FA0-4A49-A91B-C74A6338A149}" dt="2026-01-12T10:47:53.608" v="8" actId="478"/>
          <ac:spMkLst>
            <pc:docMk/>
            <pc:sldMk cId="833785726" sldId="256"/>
            <ac:spMk id="3" creationId="{00000000-0000-0000-0000-000000000000}"/>
          </ac:spMkLst>
        </pc:spChg>
      </pc:sldChg>
    </pc:docChg>
  </pc:docChgLst>
</pc:chgInfo>
</file>

<file path=ppt/slideLayouts/_rels/slideLayout1.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3.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2.png"/></Relationships>
</file>

<file path=ppt/slideLayouts/_rels/slideLayout9.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2.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920834" y="1346946"/>
            <a:ext cx="10222992"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6200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920834" y="4299696"/>
            <a:ext cx="10222992"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175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920834" y="1484779"/>
            <a:ext cx="10222992" cy="2743200"/>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grpSp>
        <p:nvGrpSpPr>
          <p:cNvPr id="10" name="Group 9"/>
          <p:cNvGrpSpPr/>
          <p:nvPr/>
        </p:nvGrpSpPr>
        <p:grpSpPr>
          <a:xfrm>
            <a:off x="9649215" y="4068923"/>
            <a:ext cx="1080904" cy="1080902"/>
            <a:chOff x="9685338" y="4460675"/>
            <a:chExt cx="1080904" cy="1080902"/>
          </a:xfrm>
        </p:grpSpPr>
        <p:sp>
          <p:nvSpPr>
            <p:cNvPr id="11" name="Oval 10"/>
            <p:cNvSpPr/>
            <p:nvPr/>
          </p:nvSpPr>
          <p:spPr>
            <a:xfrm>
              <a:off x="9685338" y="4460675"/>
              <a:ext cx="1080904" cy="1080902"/>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Layer>
                    </a14:imgProps>
                  </a:ext>
                </a:extLst>
              </a:blip>
              <a:srcRect/>
              <a:tile tx="0" ty="0" sx="85000" sy="85000" flip="none" algn="tl"/>
            </a:blipFill>
            <a:ln w="25400" cap="flat" cmpd="sng" algn="ctr">
              <a:noFill/>
              <a:prstDash val="solid"/>
            </a:ln>
            <a:effectLst/>
          </p:spPr>
        </p:sp>
        <p:sp>
          <p:nvSpPr>
            <p:cNvPr id="12" name="Oval 11"/>
            <p:cNvSpPr/>
            <p:nvPr/>
          </p:nvSpPr>
          <p:spPr>
            <a:xfrm>
              <a:off x="9793429" y="4568765"/>
              <a:ext cx="864723" cy="864722"/>
            </a:xfrm>
            <a:prstGeom prst="ellipse">
              <a:avLst/>
            </a:prstGeom>
            <a:noFill/>
            <a:ln w="25400" cap="flat" cmpd="sng" algn="ctr">
              <a:solidFill>
                <a:sysClr val="window" lastClr="FFFFFF"/>
              </a:solidFill>
              <a:prstDash val="solid"/>
            </a:ln>
            <a:effectLst/>
          </p:spPr>
        </p:sp>
      </p:grpSp>
      <p:sp>
        <p:nvSpPr>
          <p:cNvPr id="2" name="Title 1"/>
          <p:cNvSpPr>
            <a:spLocks noGrp="1"/>
          </p:cNvSpPr>
          <p:nvPr>
            <p:ph type="ctrTitle"/>
          </p:nvPr>
        </p:nvSpPr>
        <p:spPr>
          <a:xfrm>
            <a:off x="1051560" y="1432223"/>
            <a:ext cx="9966960" cy="3035808"/>
          </a:xfrm>
        </p:spPr>
        <p:txBody>
          <a:bodyPr anchor="ctr">
            <a:noAutofit/>
          </a:bodyPr>
          <a:lstStyle>
            <a:lvl1pPr algn="l">
              <a:lnSpc>
                <a:spcPct val="80000"/>
              </a:lnSpc>
              <a:defRPr sz="9600" cap="all" baseline="0">
                <a:blipFill dpi="0" rotWithShape="1">
                  <a:blip r:embed="rId4"/>
                  <a:srcRect/>
                  <a:tile tx="6350" ty="-127000" sx="65000" sy="64000" flip="none" algn="tl"/>
                </a:blipFill>
              </a:defRPr>
            </a:lvl1pPr>
          </a:lstStyle>
          <a:p>
            <a:r>
              <a:rPr lang="en-US"/>
              <a:t>Click to edit Master title style</a:t>
            </a:r>
            <a:endParaRPr lang="en-US" dirty="0"/>
          </a:p>
        </p:txBody>
      </p:sp>
      <p:sp>
        <p:nvSpPr>
          <p:cNvPr id="3" name="Subtitle 2"/>
          <p:cNvSpPr>
            <a:spLocks noGrp="1"/>
          </p:cNvSpPr>
          <p:nvPr>
            <p:ph type="subTitle" idx="1"/>
          </p:nvPr>
        </p:nvSpPr>
        <p:spPr>
          <a:xfrm>
            <a:off x="1069848" y="4389120"/>
            <a:ext cx="7891272" cy="1069848"/>
          </a:xfrm>
        </p:spPr>
        <p:txBody>
          <a:bodyPr>
            <a:normAutofit/>
          </a:bodyPr>
          <a:lstStyle>
            <a:lvl1pPr marL="0" indent="0" algn="l">
              <a:buNone/>
              <a:defRPr sz="2200">
                <a:solidFill>
                  <a:schemeClr val="tx1"/>
                </a:solidFill>
              </a:defRPr>
            </a:lvl1pPr>
            <a:lvl2pPr marL="457200" indent="0" algn="ctr">
              <a:buNone/>
              <a:defRPr sz="2200"/>
            </a:lvl2pPr>
            <a:lvl3pPr marL="914400" indent="0" algn="ctr">
              <a:buNone/>
              <a:defRPr sz="22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6D3D5C08-4F54-4604-B38F-097B20C3691C}" type="datetimeFigureOut">
              <a:rPr lang="en-US" smtClean="0"/>
              <a:t>1/12/2026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9592733" y="4289334"/>
            <a:ext cx="1193868" cy="640080"/>
          </a:xfrm>
        </p:spPr>
        <p:txBody>
          <a:bodyPr/>
          <a:lstStyle>
            <a:lvl1pPr>
              <a:defRPr sz="2800"/>
            </a:lvl1pPr>
          </a:lstStyle>
          <a:p>
            <a:fld id="{158D27C8-FE8E-4CB2-A8A3-F064A347978A}" type="slidenum">
              <a:rPr lang="en-US" smtClean="0"/>
              <a:t>‹#›</a:t>
            </a:fld>
            <a:endParaRPr lang="en-US"/>
          </a:p>
        </p:txBody>
      </p:sp>
    </p:spTree>
    <p:extLst>
      <p:ext uri="{BB962C8B-B14F-4D97-AF65-F5344CB8AC3E}">
        <p14:creationId xmlns:p14="http://schemas.microsoft.com/office/powerpoint/2010/main" val="37606059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D3D5C08-4F54-4604-B38F-097B20C3691C}" type="datetimeFigureOut">
              <a:rPr lang="en-US" smtClean="0"/>
              <a:t>1/12/2026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58D27C8-FE8E-4CB2-A8A3-F064A347978A}" type="slidenum">
              <a:rPr lang="en-US" smtClean="0"/>
              <a:t>‹#›</a:t>
            </a:fld>
            <a:endParaRPr lang="en-US"/>
          </a:p>
        </p:txBody>
      </p:sp>
    </p:spTree>
    <p:extLst>
      <p:ext uri="{BB962C8B-B14F-4D97-AF65-F5344CB8AC3E}">
        <p14:creationId xmlns:p14="http://schemas.microsoft.com/office/powerpoint/2010/main" val="6695660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7" name="Rectangle 6"/>
          <p:cNvSpPr/>
          <p:nvPr/>
        </p:nvSpPr>
        <p:spPr>
          <a:xfrm>
            <a:off x="0" y="4917989"/>
            <a:ext cx="12192000" cy="1940010"/>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2167128" y="1225296"/>
            <a:ext cx="9281160" cy="3520440"/>
          </a:xfrm>
        </p:spPr>
        <p:txBody>
          <a:bodyPr anchor="ctr">
            <a:normAutofit/>
          </a:bodyPr>
          <a:lstStyle>
            <a:lvl1pPr>
              <a:lnSpc>
                <a:spcPct val="80000"/>
              </a:lnSpc>
              <a:defRPr sz="8000" b="0"/>
            </a:lvl1pPr>
          </a:lstStyle>
          <a:p>
            <a:r>
              <a:rPr lang="en-US"/>
              <a:t>Click to edit Master title style</a:t>
            </a:r>
            <a:endParaRPr lang="en-US" dirty="0"/>
          </a:p>
        </p:txBody>
      </p:sp>
      <p:sp>
        <p:nvSpPr>
          <p:cNvPr id="3" name="Text Placeholder 2"/>
          <p:cNvSpPr>
            <a:spLocks noGrp="1"/>
          </p:cNvSpPr>
          <p:nvPr>
            <p:ph type="body" idx="1"/>
          </p:nvPr>
        </p:nvSpPr>
        <p:spPr>
          <a:xfrm>
            <a:off x="2165774" y="5020056"/>
            <a:ext cx="9052560" cy="1066800"/>
          </a:xfrm>
        </p:spPr>
        <p:txBody>
          <a:bodyPr anchor="t">
            <a:normAutofit/>
          </a:bodyPr>
          <a:lstStyle>
            <a:lvl1pPr marL="0" indent="0">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a:xfrm>
            <a:off x="8593667" y="6272784"/>
            <a:ext cx="2644309" cy="365125"/>
          </a:xfrm>
        </p:spPr>
        <p:txBody>
          <a:bodyPr/>
          <a:lstStyle/>
          <a:p>
            <a:fld id="{6D3D5C08-4F54-4604-B38F-097B20C3691C}" type="datetimeFigureOut">
              <a:rPr lang="en-US" smtClean="0"/>
              <a:t>1/12/2026</a:t>
            </a:fld>
            <a:endParaRPr lang="en-US"/>
          </a:p>
        </p:txBody>
      </p:sp>
      <p:sp>
        <p:nvSpPr>
          <p:cNvPr id="5" name="Footer Placeholder 4"/>
          <p:cNvSpPr>
            <a:spLocks noGrp="1"/>
          </p:cNvSpPr>
          <p:nvPr>
            <p:ph type="ftr" sz="quarter" idx="11"/>
          </p:nvPr>
        </p:nvSpPr>
        <p:spPr>
          <a:xfrm>
            <a:off x="2182708" y="6272784"/>
            <a:ext cx="6327648" cy="365125"/>
          </a:xfrm>
        </p:spPr>
        <p:txBody>
          <a:bodyPr/>
          <a:lstStyle/>
          <a:p>
            <a:endParaRPr lang="en-US"/>
          </a:p>
        </p:txBody>
      </p:sp>
      <p:grpSp>
        <p:nvGrpSpPr>
          <p:cNvPr id="8" name="Group 7"/>
          <p:cNvGrpSpPr/>
          <p:nvPr/>
        </p:nvGrpSpPr>
        <p:grpSpPr>
          <a:xfrm>
            <a:off x="897399" y="2325848"/>
            <a:ext cx="1080904" cy="1080902"/>
            <a:chOff x="9685338" y="4460675"/>
            <a:chExt cx="1080904" cy="1080902"/>
          </a:xfrm>
        </p:grpSpPr>
        <p:sp>
          <p:nvSpPr>
            <p:cNvPr id="9" name="Oval 8"/>
            <p:cNvSpPr/>
            <p:nvPr/>
          </p:nvSpPr>
          <p:spPr>
            <a:xfrm>
              <a:off x="9685338" y="4460675"/>
              <a:ext cx="1080904" cy="1080902"/>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Layer>
                    </a14:imgProps>
                  </a:ext>
                </a:extLst>
              </a:blip>
              <a:srcRect/>
              <a:tile tx="0" ty="0" sx="85000" sy="85000" flip="none" algn="tl"/>
            </a:blipFill>
            <a:ln w="25400" cap="flat" cmpd="sng" algn="ctr">
              <a:noFill/>
              <a:prstDash val="solid"/>
            </a:ln>
            <a:effectLst/>
          </p:spPr>
        </p:sp>
        <p:sp>
          <p:nvSpPr>
            <p:cNvPr id="10" name="Oval 9"/>
            <p:cNvSpPr/>
            <p:nvPr/>
          </p:nvSpPr>
          <p:spPr>
            <a:xfrm>
              <a:off x="9793429" y="4568765"/>
              <a:ext cx="864723" cy="864722"/>
            </a:xfrm>
            <a:prstGeom prst="ellipse">
              <a:avLst/>
            </a:prstGeom>
            <a:noFill/>
            <a:ln w="25400" cap="flat" cmpd="sng" algn="ctr">
              <a:solidFill>
                <a:sysClr val="window" lastClr="FFFFFF"/>
              </a:solidFill>
              <a:prstDash val="solid"/>
            </a:ln>
            <a:effectLst/>
          </p:spPr>
        </p:sp>
      </p:grpSp>
      <p:sp>
        <p:nvSpPr>
          <p:cNvPr id="6" name="Slide Number Placeholder 5"/>
          <p:cNvSpPr>
            <a:spLocks noGrp="1"/>
          </p:cNvSpPr>
          <p:nvPr>
            <p:ph type="sldNum" sz="quarter" idx="12"/>
          </p:nvPr>
        </p:nvSpPr>
        <p:spPr>
          <a:xfrm>
            <a:off x="843702" y="2506133"/>
            <a:ext cx="1188298" cy="720332"/>
          </a:xfrm>
        </p:spPr>
        <p:txBody>
          <a:bodyPr/>
          <a:lstStyle>
            <a:lvl1pPr>
              <a:defRPr sz="2800"/>
            </a:lvl1pPr>
          </a:lstStyle>
          <a:p>
            <a:fld id="{158D27C8-FE8E-4CB2-A8A3-F064A347978A}" type="slidenum">
              <a:rPr lang="en-US" smtClean="0"/>
              <a:t>‹#›</a:t>
            </a:fld>
            <a:endParaRPr lang="en-US"/>
          </a:p>
        </p:txBody>
      </p:sp>
    </p:spTree>
    <p:extLst>
      <p:ext uri="{BB962C8B-B14F-4D97-AF65-F5344CB8AC3E}">
        <p14:creationId xmlns:p14="http://schemas.microsoft.com/office/powerpoint/2010/main" val="81819185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069848" y="2194560"/>
            <a:ext cx="4754880" cy="39776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364224" y="2194560"/>
            <a:ext cx="4754880" cy="39776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6D3D5C08-4F54-4604-B38F-097B20C3691C}" type="datetimeFigureOut">
              <a:rPr lang="en-US" smtClean="0"/>
              <a:t>1/12/2026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58D27C8-FE8E-4CB2-A8A3-F064A347978A}" type="slidenum">
              <a:rPr lang="en-US" smtClean="0"/>
              <a:t>‹#›</a:t>
            </a:fld>
            <a:endParaRPr lang="en-US"/>
          </a:p>
        </p:txBody>
      </p:sp>
    </p:spTree>
    <p:extLst>
      <p:ext uri="{BB962C8B-B14F-4D97-AF65-F5344CB8AC3E}">
        <p14:creationId xmlns:p14="http://schemas.microsoft.com/office/powerpoint/2010/main" val="391669411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1066800" y="2048256"/>
            <a:ext cx="4754880" cy="640080"/>
          </a:xfrm>
        </p:spPr>
        <p:txBody>
          <a:bodyPr anchor="ctr">
            <a:normAutofit/>
          </a:bodyPr>
          <a:lstStyle>
            <a:lvl1pPr marL="0" indent="0">
              <a:buNone/>
              <a:defRPr sz="2000" b="1">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1069848" y="2743200"/>
            <a:ext cx="4754880" cy="32918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364224" y="2048256"/>
            <a:ext cx="4754880" cy="640080"/>
          </a:xfrm>
        </p:spPr>
        <p:txBody>
          <a:bodyPr anchor="ctr">
            <a:normAutofit/>
          </a:bodyPr>
          <a:lstStyle>
            <a:lvl1pPr marL="0" indent="0">
              <a:buNone/>
              <a:defRPr sz="2000" b="1">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364224" y="2743200"/>
            <a:ext cx="4754880" cy="32918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6D3D5C08-4F54-4604-B38F-097B20C3691C}" type="datetimeFigureOut">
              <a:rPr lang="en-US" smtClean="0"/>
              <a:t>1/12/2026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158D27C8-FE8E-4CB2-A8A3-F064A347978A}" type="slidenum">
              <a:rPr lang="en-US" smtClean="0"/>
              <a:t>‹#›</a:t>
            </a:fld>
            <a:endParaRPr lang="en-US"/>
          </a:p>
        </p:txBody>
      </p:sp>
    </p:spTree>
    <p:extLst>
      <p:ext uri="{BB962C8B-B14F-4D97-AF65-F5344CB8AC3E}">
        <p14:creationId xmlns:p14="http://schemas.microsoft.com/office/powerpoint/2010/main" val="391270351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6D3D5C08-4F54-4604-B38F-097B20C3691C}" type="datetimeFigureOut">
              <a:rPr lang="en-US" smtClean="0"/>
              <a:t>1/12/2026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158D27C8-FE8E-4CB2-A8A3-F064A347978A}" type="slidenum">
              <a:rPr lang="en-US" smtClean="0"/>
              <a:t>‹#›</a:t>
            </a:fld>
            <a:endParaRPr lang="en-US"/>
          </a:p>
        </p:txBody>
      </p:sp>
    </p:spTree>
    <p:extLst>
      <p:ext uri="{BB962C8B-B14F-4D97-AF65-F5344CB8AC3E}">
        <p14:creationId xmlns:p14="http://schemas.microsoft.com/office/powerpoint/2010/main" val="21782569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D3D5C08-4F54-4604-B38F-097B20C3691C}" type="datetimeFigureOut">
              <a:rPr lang="en-US" smtClean="0"/>
              <a:t>1/12/2026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158D27C8-FE8E-4CB2-A8A3-F064A347978A}" type="slidenum">
              <a:rPr lang="en-US" smtClean="0"/>
              <a:t>‹#›</a:t>
            </a:fld>
            <a:endParaRPr lang="en-US"/>
          </a:p>
        </p:txBody>
      </p:sp>
    </p:spTree>
    <p:extLst>
      <p:ext uri="{BB962C8B-B14F-4D97-AF65-F5344CB8AC3E}">
        <p14:creationId xmlns:p14="http://schemas.microsoft.com/office/powerpoint/2010/main" val="183880125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8303740" y="0"/>
            <a:ext cx="3888259" cy="6857999"/>
          </a:xfrm>
          <a:prstGeom prst="rect">
            <a:avLst/>
          </a:prstGeom>
          <a:blipFill dpi="0" rotWithShape="1">
            <a:blip r:embed="rId2">
              <a:alphaModFix amt="6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549640" y="685800"/>
            <a:ext cx="3200400" cy="1737360"/>
          </a:xfrm>
        </p:spPr>
        <p:txBody>
          <a:bodyPr anchor="b">
            <a:normAutofit/>
          </a:bodyPr>
          <a:lstStyle>
            <a:lvl1pPr>
              <a:defRPr sz="3200" b="1"/>
            </a:lvl1pPr>
          </a:lstStyle>
          <a:p>
            <a:r>
              <a:rPr lang="en-US"/>
              <a:t>Click to edit Master title style</a:t>
            </a:r>
            <a:endParaRPr lang="en-US" dirty="0"/>
          </a:p>
        </p:txBody>
      </p:sp>
      <p:sp>
        <p:nvSpPr>
          <p:cNvPr id="3" name="Content Placeholder 2"/>
          <p:cNvSpPr>
            <a:spLocks noGrp="1"/>
          </p:cNvSpPr>
          <p:nvPr>
            <p:ph idx="1"/>
          </p:nvPr>
        </p:nvSpPr>
        <p:spPr>
          <a:xfrm>
            <a:off x="838200" y="685800"/>
            <a:ext cx="6711696" cy="5020056"/>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549640" y="2423160"/>
            <a:ext cx="3200400" cy="3291840"/>
          </a:xfrm>
        </p:spPr>
        <p:txBody>
          <a:bodyPr>
            <a:normAutofit/>
          </a:bodyPr>
          <a:lstStyle>
            <a:lvl1pPr marL="0" indent="0">
              <a:lnSpc>
                <a:spcPct val="100000"/>
              </a:lnSpc>
              <a:spcBef>
                <a:spcPts val="1000"/>
              </a:spcBef>
              <a:buNone/>
              <a:defRPr sz="1400">
                <a:solidFill>
                  <a:schemeClr val="accent1">
                    <a:lumMod val="7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6D3D5C08-4F54-4604-B38F-097B20C3691C}" type="datetimeFigureOut">
              <a:rPr lang="en-US" smtClean="0"/>
              <a:t>1/12/2026</a:t>
            </a:fld>
            <a:endParaRPr lang="en-US"/>
          </a:p>
        </p:txBody>
      </p:sp>
      <p:sp>
        <p:nvSpPr>
          <p:cNvPr id="6" name="Footer Placeholder 5"/>
          <p:cNvSpPr>
            <a:spLocks noGrp="1"/>
          </p:cNvSpPr>
          <p:nvPr>
            <p:ph type="ftr" sz="quarter" idx="11"/>
          </p:nvPr>
        </p:nvSpPr>
        <p:spPr/>
        <p:txBody>
          <a:bodyPr/>
          <a:lstStyle/>
          <a:p>
            <a:endParaRPr lang="en-US"/>
          </a:p>
        </p:txBody>
      </p:sp>
      <p:grpSp>
        <p:nvGrpSpPr>
          <p:cNvPr id="9" name="Group 8"/>
          <p:cNvGrpSpPr>
            <a:grpSpLocks noChangeAspect="1"/>
          </p:cNvGrpSpPr>
          <p:nvPr/>
        </p:nvGrpSpPr>
        <p:grpSpPr>
          <a:xfrm>
            <a:off x="11401725" y="6229681"/>
            <a:ext cx="457200" cy="457200"/>
            <a:chOff x="11361456" y="6195813"/>
            <a:chExt cx="548640" cy="548640"/>
          </a:xfrm>
        </p:grpSpPr>
        <p:sp>
          <p:nvSpPr>
            <p:cNvPr id="10" name="Oval 9"/>
            <p:cNvSpPr/>
            <p:nvPr/>
          </p:nvSpPr>
          <p:spPr>
            <a:xfrm>
              <a:off x="11361456" y="6195813"/>
              <a:ext cx="548640" cy="548640"/>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sp>
        <p:sp>
          <p:nvSpPr>
            <p:cNvPr id="11" name="Oval 10"/>
            <p:cNvSpPr/>
            <p:nvPr/>
          </p:nvSpPr>
          <p:spPr>
            <a:xfrm>
              <a:off x="11396488" y="6230844"/>
              <a:ext cx="478576" cy="478578"/>
            </a:xfrm>
            <a:prstGeom prst="ellipse">
              <a:avLst/>
            </a:prstGeom>
            <a:noFill/>
            <a:ln w="12700" cap="flat" cmpd="sng" algn="ctr">
              <a:solidFill>
                <a:sysClr val="window" lastClr="FFFFFF"/>
              </a:solidFill>
              <a:prstDash val="solid"/>
            </a:ln>
            <a:effectLst/>
          </p:spPr>
        </p:sp>
      </p:grpSp>
      <p:sp>
        <p:nvSpPr>
          <p:cNvPr id="7" name="Slide Number Placeholder 6"/>
          <p:cNvSpPr>
            <a:spLocks noGrp="1"/>
          </p:cNvSpPr>
          <p:nvPr>
            <p:ph type="sldNum" sz="quarter" idx="12"/>
          </p:nvPr>
        </p:nvSpPr>
        <p:spPr/>
        <p:txBody>
          <a:bodyPr/>
          <a:lstStyle/>
          <a:p>
            <a:fld id="{158D27C8-FE8E-4CB2-A8A3-F064A347978A}" type="slidenum">
              <a:rPr lang="en-US" smtClean="0"/>
              <a:t>‹#›</a:t>
            </a:fld>
            <a:endParaRPr lang="en-US"/>
          </a:p>
        </p:txBody>
      </p:sp>
    </p:spTree>
    <p:extLst>
      <p:ext uri="{BB962C8B-B14F-4D97-AF65-F5344CB8AC3E}">
        <p14:creationId xmlns:p14="http://schemas.microsoft.com/office/powerpoint/2010/main" val="75106409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11" name="Rectangle 10"/>
          <p:cNvSpPr/>
          <p:nvPr/>
        </p:nvSpPr>
        <p:spPr>
          <a:xfrm>
            <a:off x="8303740" y="0"/>
            <a:ext cx="3888259" cy="6857999"/>
          </a:xfrm>
          <a:prstGeom prst="rect">
            <a:avLst/>
          </a:prstGeom>
          <a:blipFill dpi="0" rotWithShape="1">
            <a:blip r:embed="rId2">
              <a:alphaModFix amt="6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549640" y="685800"/>
            <a:ext cx="3200400" cy="1737360"/>
          </a:xfrm>
        </p:spPr>
        <p:txBody>
          <a:bodyPr anchor="b">
            <a:normAutofit/>
          </a:bodyPr>
          <a:lstStyle>
            <a:lvl1pPr>
              <a:defRPr sz="3200" b="1"/>
            </a:lvl1pPr>
          </a:lstStyle>
          <a:p>
            <a:r>
              <a:rPr lang="en-US"/>
              <a:t>Click to edit Master title style</a:t>
            </a:r>
            <a:endParaRPr lang="en-US" dirty="0"/>
          </a:p>
        </p:txBody>
      </p:sp>
      <p:sp>
        <p:nvSpPr>
          <p:cNvPr id="3" name="Picture Placeholder 2"/>
          <p:cNvSpPr>
            <a:spLocks noGrp="1" noChangeAspect="1"/>
          </p:cNvSpPr>
          <p:nvPr>
            <p:ph type="pic" idx="1"/>
          </p:nvPr>
        </p:nvSpPr>
        <p:spPr>
          <a:xfrm>
            <a:off x="0" y="0"/>
            <a:ext cx="8303740" cy="6858000"/>
          </a:xfrm>
          <a:solidFill>
            <a:schemeClr val="tx2">
              <a:lumMod val="20000"/>
              <a:lumOff val="80000"/>
            </a:schemeClr>
          </a:solidFill>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549640" y="2423160"/>
            <a:ext cx="3200400" cy="3291840"/>
          </a:xfrm>
        </p:spPr>
        <p:txBody>
          <a:bodyPr>
            <a:normAutofit/>
          </a:bodyPr>
          <a:lstStyle>
            <a:lvl1pPr marL="0" indent="0">
              <a:lnSpc>
                <a:spcPct val="100000"/>
              </a:lnSpc>
              <a:spcBef>
                <a:spcPts val="1000"/>
              </a:spcBef>
              <a:buNone/>
              <a:defRPr sz="1400">
                <a:solidFill>
                  <a:schemeClr val="accent1">
                    <a:lumMod val="7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6D3D5C08-4F54-4604-B38F-097B20C3691C}" type="datetimeFigureOut">
              <a:rPr lang="en-US" smtClean="0"/>
              <a:t>1/12/2026</a:t>
            </a:fld>
            <a:endParaRPr lang="en-US"/>
          </a:p>
        </p:txBody>
      </p:sp>
      <p:grpSp>
        <p:nvGrpSpPr>
          <p:cNvPr id="8" name="Group 7"/>
          <p:cNvGrpSpPr>
            <a:grpSpLocks noChangeAspect="1"/>
          </p:cNvGrpSpPr>
          <p:nvPr/>
        </p:nvGrpSpPr>
        <p:grpSpPr>
          <a:xfrm>
            <a:off x="11401725" y="6229681"/>
            <a:ext cx="457200" cy="457200"/>
            <a:chOff x="11361456" y="6195813"/>
            <a:chExt cx="548640" cy="548640"/>
          </a:xfrm>
        </p:grpSpPr>
        <p:sp>
          <p:nvSpPr>
            <p:cNvPr id="9" name="Oval 8"/>
            <p:cNvSpPr/>
            <p:nvPr/>
          </p:nvSpPr>
          <p:spPr>
            <a:xfrm>
              <a:off x="11361456" y="6195813"/>
              <a:ext cx="548640" cy="548640"/>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sp>
        <p:sp>
          <p:nvSpPr>
            <p:cNvPr id="10" name="Oval 9"/>
            <p:cNvSpPr/>
            <p:nvPr/>
          </p:nvSpPr>
          <p:spPr>
            <a:xfrm>
              <a:off x="11396488" y="6230844"/>
              <a:ext cx="478576" cy="478578"/>
            </a:xfrm>
            <a:prstGeom prst="ellipse">
              <a:avLst/>
            </a:prstGeom>
            <a:noFill/>
            <a:ln w="12700" cap="flat" cmpd="sng" algn="ctr">
              <a:solidFill>
                <a:sysClr val="window" lastClr="FFFFFF"/>
              </a:solidFill>
              <a:prstDash val="solid"/>
            </a:ln>
            <a:effectLst/>
          </p:spPr>
        </p:sp>
      </p:grpSp>
      <p:sp>
        <p:nvSpPr>
          <p:cNvPr id="7" name="Slide Number Placeholder 6"/>
          <p:cNvSpPr>
            <a:spLocks noGrp="1"/>
          </p:cNvSpPr>
          <p:nvPr>
            <p:ph type="sldNum" sz="quarter" idx="12"/>
          </p:nvPr>
        </p:nvSpPr>
        <p:spPr/>
        <p:txBody>
          <a:bodyPr/>
          <a:lstStyle/>
          <a:p>
            <a:fld id="{158D27C8-FE8E-4CB2-A8A3-F064A347978A}" type="slidenum">
              <a:rPr lang="en-US" smtClean="0"/>
              <a:t>‹#›</a:t>
            </a:fld>
            <a:endParaRPr lang="en-US"/>
          </a:p>
        </p:txBody>
      </p:sp>
    </p:spTree>
    <p:extLst>
      <p:ext uri="{BB962C8B-B14F-4D97-AF65-F5344CB8AC3E}">
        <p14:creationId xmlns:p14="http://schemas.microsoft.com/office/powerpoint/2010/main" val="195483034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D3D5C08-4F54-4604-B38F-097B20C3691C}" type="datetimeFigureOut">
              <a:rPr lang="en-US" smtClean="0"/>
              <a:t>1/12/2026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58D27C8-FE8E-4CB2-A8A3-F064A347978A}" type="slidenum">
              <a:rPr lang="en-US" smtClean="0"/>
              <a:t>‹#›</a:t>
            </a:fld>
            <a:endParaRPr lang="en-US"/>
          </a:p>
        </p:txBody>
      </p:sp>
    </p:spTree>
    <p:extLst>
      <p:ext uri="{BB962C8B-B14F-4D97-AF65-F5344CB8AC3E}">
        <p14:creationId xmlns:p14="http://schemas.microsoft.com/office/powerpoint/2010/main" val="219387724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533400"/>
            <a:ext cx="2552700" cy="56388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066800" y="533400"/>
            <a:ext cx="7505700" cy="5638800"/>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D3D5C08-4F54-4604-B38F-097B20C3691C}" type="datetimeFigureOut">
              <a:rPr lang="en-US" smtClean="0"/>
              <a:t>1/12/2026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58D27C8-FE8E-4CB2-A8A3-F064A347978A}" type="slidenum">
              <a:rPr lang="en-US" smtClean="0"/>
              <a:t>‹#›</a:t>
            </a:fld>
            <a:endParaRPr lang="en-US"/>
          </a:p>
        </p:txBody>
      </p:sp>
    </p:spTree>
    <p:extLst>
      <p:ext uri="{BB962C8B-B14F-4D97-AF65-F5344CB8AC3E}">
        <p14:creationId xmlns:p14="http://schemas.microsoft.com/office/powerpoint/2010/main" val="149663301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2.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3.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microsoft.com/office/2007/relationships/hdphoto" Target="../media/hdphoto1.wdp"/></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069848" y="484632"/>
            <a:ext cx="10058400" cy="1609344"/>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069848" y="2121408"/>
            <a:ext cx="10058400" cy="4050792"/>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964424" y="6272784"/>
            <a:ext cx="3273552" cy="365125"/>
          </a:xfrm>
          <a:prstGeom prst="rect">
            <a:avLst/>
          </a:prstGeom>
        </p:spPr>
        <p:txBody>
          <a:bodyPr vert="horz" lIns="91440" tIns="45720" rIns="91440" bIns="45720" rtlCol="0" anchor="ctr"/>
          <a:lstStyle>
            <a:lvl1pPr algn="r">
              <a:defRPr sz="1100">
                <a:solidFill>
                  <a:schemeClr val="tx2"/>
                </a:solidFill>
              </a:defRPr>
            </a:lvl1pPr>
          </a:lstStyle>
          <a:p>
            <a:fld id="{6D3D5C08-4F54-4604-B38F-097B20C3691C}" type="datetimeFigureOut">
              <a:rPr lang="en-US" smtClean="0"/>
              <a:t>1/12/2026</a:t>
            </a:fld>
            <a:endParaRPr lang="en-US"/>
          </a:p>
        </p:txBody>
      </p:sp>
      <p:sp>
        <p:nvSpPr>
          <p:cNvPr id="5" name="Footer Placeholder 4"/>
          <p:cNvSpPr>
            <a:spLocks noGrp="1"/>
          </p:cNvSpPr>
          <p:nvPr>
            <p:ph type="ftr" sz="quarter" idx="3"/>
          </p:nvPr>
        </p:nvSpPr>
        <p:spPr>
          <a:xfrm>
            <a:off x="1088136" y="6272784"/>
            <a:ext cx="6327648" cy="365125"/>
          </a:xfrm>
          <a:prstGeom prst="rect">
            <a:avLst/>
          </a:prstGeom>
        </p:spPr>
        <p:txBody>
          <a:bodyPr vert="horz" lIns="91440" tIns="45720" rIns="91440" bIns="45720" rtlCol="0" anchor="ctr"/>
          <a:lstStyle>
            <a:lvl1pPr algn="l">
              <a:defRPr sz="1100">
                <a:solidFill>
                  <a:schemeClr val="tx2"/>
                </a:solidFill>
              </a:defRPr>
            </a:lvl1pPr>
          </a:lstStyle>
          <a:p>
            <a:endParaRPr lang="en-US"/>
          </a:p>
        </p:txBody>
      </p:sp>
      <p:grpSp>
        <p:nvGrpSpPr>
          <p:cNvPr id="7" name="Group 6"/>
          <p:cNvGrpSpPr>
            <a:grpSpLocks noChangeAspect="1"/>
          </p:cNvGrpSpPr>
          <p:nvPr/>
        </p:nvGrpSpPr>
        <p:grpSpPr>
          <a:xfrm>
            <a:off x="11401725" y="6229681"/>
            <a:ext cx="457200" cy="457200"/>
            <a:chOff x="11361456" y="6195813"/>
            <a:chExt cx="548640" cy="548640"/>
          </a:xfrm>
        </p:grpSpPr>
        <p:sp>
          <p:nvSpPr>
            <p:cNvPr id="8" name="Oval 7"/>
            <p:cNvSpPr/>
            <p:nvPr/>
          </p:nvSpPr>
          <p:spPr>
            <a:xfrm>
              <a:off x="11361456" y="6195813"/>
              <a:ext cx="548640" cy="548640"/>
            </a:xfrm>
            <a:prstGeom prst="ellipse">
              <a:avLst/>
            </a:prstGeom>
            <a:blipFill dpi="0" rotWithShape="1">
              <a:blip r:embed="rId13">
                <a:duotone>
                  <a:schemeClr val="accent1">
                    <a:shade val="45000"/>
                    <a:satMod val="135000"/>
                  </a:schemeClr>
                  <a:prstClr val="white"/>
                </a:duotone>
                <a:extLst>
                  <a:ext uri="{BEBA8EAE-BF5A-486C-A8C5-ECC9F3942E4B}">
                    <a14:imgProps xmlns:a14="http://schemas.microsoft.com/office/drawing/2010/main">
                      <a14:imgLayer r:embed="rId14">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sp>
        <p:sp>
          <p:nvSpPr>
            <p:cNvPr id="9" name="Oval 8"/>
            <p:cNvSpPr/>
            <p:nvPr/>
          </p:nvSpPr>
          <p:spPr>
            <a:xfrm>
              <a:off x="11396488" y="6230844"/>
              <a:ext cx="478576" cy="478578"/>
            </a:xfrm>
            <a:prstGeom prst="ellipse">
              <a:avLst/>
            </a:prstGeom>
            <a:noFill/>
            <a:ln w="12700" cap="flat" cmpd="sng" algn="ctr">
              <a:solidFill>
                <a:srgbClr val="FFFFFF"/>
              </a:solidFill>
              <a:prstDash val="solid"/>
            </a:ln>
            <a:effectLst/>
          </p:spPr>
        </p:sp>
      </p:grpSp>
      <p:sp>
        <p:nvSpPr>
          <p:cNvPr id="6" name="Slide Number Placeholder 5"/>
          <p:cNvSpPr>
            <a:spLocks noGrp="1"/>
          </p:cNvSpPr>
          <p:nvPr>
            <p:ph type="sldNum" sz="quarter" idx="4"/>
          </p:nvPr>
        </p:nvSpPr>
        <p:spPr>
          <a:xfrm>
            <a:off x="11311128" y="6272784"/>
            <a:ext cx="640080" cy="365125"/>
          </a:xfrm>
          <a:prstGeom prst="rect">
            <a:avLst/>
          </a:prstGeom>
        </p:spPr>
        <p:txBody>
          <a:bodyPr vert="horz" lIns="91440" tIns="45720" rIns="91440" bIns="45720" rtlCol="0" anchor="ctr"/>
          <a:lstStyle>
            <a:lvl1pPr algn="ctr">
              <a:defRPr sz="1400" b="1">
                <a:solidFill>
                  <a:srgbClr val="FFFFFF"/>
                </a:solidFill>
                <a:latin typeface="+mj-lt"/>
              </a:defRPr>
            </a:lvl1pPr>
          </a:lstStyle>
          <a:p>
            <a:fld id="{158D27C8-FE8E-4CB2-A8A3-F064A347978A}" type="slidenum">
              <a:rPr lang="en-US" smtClean="0"/>
              <a:t>‹#›</a:t>
            </a:fld>
            <a:endParaRPr lang="en-US"/>
          </a:p>
        </p:txBody>
      </p:sp>
    </p:spTree>
    <p:extLst>
      <p:ext uri="{BB962C8B-B14F-4D97-AF65-F5344CB8AC3E}">
        <p14:creationId xmlns:p14="http://schemas.microsoft.com/office/powerpoint/2010/main" val="3752913793"/>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5400" kern="1200" cap="all" baseline="0">
          <a:blipFill>
            <a:blip r:embed="rId15">
              <a:extLst>
                <a:ext uri="{28A0092B-C50C-407E-A947-70E740481C1C}">
                  <a14:useLocalDpi xmlns:a14="http://schemas.microsoft.com/office/drawing/2010/main" val="0"/>
                </a:ext>
              </a:extLst>
            </a:blip>
            <a:tile tx="6350" ty="-127000" sx="65000" sy="64000" flip="none" algn="tl"/>
          </a:blipFill>
          <a:latin typeface="+mj-lt"/>
          <a:ea typeface="+mj-ea"/>
          <a:cs typeface="+mj-cs"/>
        </a:defRPr>
      </a:lvl1pPr>
    </p:titleStyle>
    <p:bodyStyle>
      <a:lvl1pPr marL="182880" indent="-182880" algn="l" defTabSz="914400" rtl="0" eaLnBrk="1" latinLnBrk="0" hangingPunct="1">
        <a:lnSpc>
          <a:spcPct val="90000"/>
        </a:lnSpc>
        <a:spcBef>
          <a:spcPts val="1200"/>
        </a:spcBef>
        <a:buClr>
          <a:schemeClr val="accent1">
            <a:lumMod val="75000"/>
          </a:schemeClr>
        </a:buClr>
        <a:buSzPct val="85000"/>
        <a:buFont typeface="Wingdings" pitchFamily="2" charset="2"/>
        <a:buChar char="§"/>
        <a:defRPr sz="2000" kern="1200">
          <a:solidFill>
            <a:schemeClr val="tx1"/>
          </a:solidFill>
          <a:latin typeface="+mn-lt"/>
          <a:ea typeface="+mn-ea"/>
          <a:cs typeface="+mn-cs"/>
        </a:defRPr>
      </a:lvl1pPr>
      <a:lvl2pPr marL="45720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800" kern="1200">
          <a:solidFill>
            <a:schemeClr val="tx1"/>
          </a:solidFill>
          <a:latin typeface="+mn-lt"/>
          <a:ea typeface="+mn-ea"/>
          <a:cs typeface="+mn-cs"/>
        </a:defRPr>
      </a:lvl2pPr>
      <a:lvl3pPr marL="73152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3pPr>
      <a:lvl4pPr marL="100584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4pPr>
      <a:lvl5pPr marL="128016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5pPr>
      <a:lvl6pPr marL="16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6pPr>
      <a:lvl7pPr marL="19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7pPr>
      <a:lvl8pPr marL="22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8pPr>
      <a:lvl9pPr marL="25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b="1" dirty="0"/>
              <a:t>PROBLEM SOLVING</a:t>
            </a:r>
            <a:br>
              <a:rPr lang="en-US" dirty="0"/>
            </a:br>
            <a:endParaRPr lang="en-US" dirty="0"/>
          </a:p>
        </p:txBody>
      </p:sp>
    </p:spTree>
    <p:extLst>
      <p:ext uri="{BB962C8B-B14F-4D97-AF65-F5344CB8AC3E}">
        <p14:creationId xmlns:p14="http://schemas.microsoft.com/office/powerpoint/2010/main" val="83378572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Introduction</a:t>
            </a:r>
          </a:p>
        </p:txBody>
      </p:sp>
      <p:sp>
        <p:nvSpPr>
          <p:cNvPr id="3" name="Content Placeholder 2"/>
          <p:cNvSpPr>
            <a:spLocks noGrp="1"/>
          </p:cNvSpPr>
          <p:nvPr>
            <p:ph idx="1"/>
          </p:nvPr>
        </p:nvSpPr>
        <p:spPr/>
        <p:txBody>
          <a:bodyPr>
            <a:normAutofit fontScale="92500" lnSpcReduction="10000"/>
          </a:bodyPr>
          <a:lstStyle/>
          <a:p>
            <a:pPr algn="just"/>
            <a:r>
              <a:rPr lang="en-US" sz="2600" dirty="0"/>
              <a:t>A computer is a very powerful and versatile machine capable of performing a multitude of different tasks, yet it has no intelligence or thinking power. </a:t>
            </a:r>
          </a:p>
          <a:p>
            <a:pPr algn="just"/>
            <a:r>
              <a:rPr lang="en-US" sz="2600" dirty="0"/>
              <a:t> The intelligence Quotient (I.Q) of a computer is zero.  </a:t>
            </a:r>
          </a:p>
          <a:p>
            <a:pPr algn="just"/>
            <a:r>
              <a:rPr lang="en-US" sz="2600" dirty="0"/>
              <a:t>A computer performs many tasks exactly in the same manner as it is told to do.  </a:t>
            </a:r>
          </a:p>
          <a:p>
            <a:pPr algn="just"/>
            <a:r>
              <a:rPr lang="en-US" sz="2600" dirty="0"/>
              <a:t>This places responsibility on the user to instruct the computer in a correct and precise manner, so that the machine is able to perform the required job in a proper way. </a:t>
            </a:r>
          </a:p>
          <a:p>
            <a:pPr algn="just"/>
            <a:r>
              <a:rPr lang="en-US" sz="2600" dirty="0"/>
              <a:t>A wrong or ambiguous instruction may sometimes prove disastrous. </a:t>
            </a:r>
            <a:r>
              <a:rPr lang="en-US" dirty="0">
                <a:solidFill>
                  <a:srgbClr val="FF0000"/>
                </a:solidFill>
              </a:rPr>
              <a:t>Garbage in garbage out</a:t>
            </a:r>
          </a:p>
          <a:p>
            <a:endParaRPr lang="en-US" dirty="0"/>
          </a:p>
        </p:txBody>
      </p:sp>
    </p:spTree>
    <p:extLst>
      <p:ext uri="{BB962C8B-B14F-4D97-AF65-F5344CB8AC3E}">
        <p14:creationId xmlns:p14="http://schemas.microsoft.com/office/powerpoint/2010/main" val="421199942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Introduction..</a:t>
            </a:r>
          </a:p>
        </p:txBody>
      </p:sp>
      <p:sp>
        <p:nvSpPr>
          <p:cNvPr id="3" name="Content Placeholder 2"/>
          <p:cNvSpPr>
            <a:spLocks noGrp="1"/>
          </p:cNvSpPr>
          <p:nvPr>
            <p:ph idx="1"/>
          </p:nvPr>
        </p:nvSpPr>
        <p:spPr/>
        <p:txBody>
          <a:bodyPr>
            <a:normAutofit fontScale="92500"/>
          </a:bodyPr>
          <a:lstStyle/>
          <a:p>
            <a:pPr algn="just"/>
            <a:r>
              <a:rPr lang="en-US" sz="3200" dirty="0"/>
              <a:t>In order to instruct a computer correctly, the user must have clear understanding of the problem to be solved. </a:t>
            </a:r>
          </a:p>
          <a:p>
            <a:pPr algn="just"/>
            <a:r>
              <a:rPr lang="en-US" sz="3200" dirty="0"/>
              <a:t> A part from this he should be able to develop a method, in the form of series of sequential steps, to solve it.</a:t>
            </a:r>
          </a:p>
          <a:p>
            <a:pPr algn="just"/>
            <a:r>
              <a:rPr lang="en-US" sz="3200" dirty="0"/>
              <a:t>  Once the problem is well-defined and a method of solving it is developed, then instructing the computer to solve the problem becomes relatively easier task</a:t>
            </a:r>
          </a:p>
        </p:txBody>
      </p:sp>
    </p:spTree>
    <p:extLst>
      <p:ext uri="{BB962C8B-B14F-4D97-AF65-F5344CB8AC3E}">
        <p14:creationId xmlns:p14="http://schemas.microsoft.com/office/powerpoint/2010/main" val="263860083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Introduction…</a:t>
            </a:r>
          </a:p>
        </p:txBody>
      </p:sp>
      <p:sp>
        <p:nvSpPr>
          <p:cNvPr id="3" name="Content Placeholder 2"/>
          <p:cNvSpPr>
            <a:spLocks noGrp="1"/>
          </p:cNvSpPr>
          <p:nvPr>
            <p:ph idx="1"/>
          </p:nvPr>
        </p:nvSpPr>
        <p:spPr/>
        <p:txBody>
          <a:bodyPr/>
          <a:lstStyle/>
          <a:p>
            <a:pPr algn="just"/>
            <a:r>
              <a:rPr lang="en-US" sz="3200" dirty="0"/>
              <a:t>Thus, before attempt to write a computer program to solve a given problem. </a:t>
            </a:r>
          </a:p>
          <a:p>
            <a:pPr algn="just"/>
            <a:r>
              <a:rPr lang="en-US" sz="3200" dirty="0"/>
              <a:t>It is necessary to formulate or define the problem in a precise manner. </a:t>
            </a:r>
          </a:p>
          <a:p>
            <a:pPr algn="just"/>
            <a:r>
              <a:rPr lang="en-US" sz="3200" dirty="0"/>
              <a:t>Once the problem is defined, the steps required to solve it, must be stated clearly in the required order.</a:t>
            </a:r>
          </a:p>
          <a:p>
            <a:endParaRPr lang="en-US" dirty="0"/>
          </a:p>
        </p:txBody>
      </p:sp>
    </p:spTree>
    <p:extLst>
      <p:ext uri="{BB962C8B-B14F-4D97-AF65-F5344CB8AC3E}">
        <p14:creationId xmlns:p14="http://schemas.microsoft.com/office/powerpoint/2010/main" val="409579689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US" dirty="0"/>
            </a:br>
            <a:r>
              <a:rPr lang="en-US" dirty="0"/>
              <a:t>Procedure (Steps Involved in Problem Solving)</a:t>
            </a:r>
            <a:br>
              <a:rPr lang="en-US" dirty="0"/>
            </a:br>
            <a:endParaRPr lang="en-US" dirty="0"/>
          </a:p>
        </p:txBody>
      </p:sp>
      <p:sp>
        <p:nvSpPr>
          <p:cNvPr id="3" name="Content Placeholder 2"/>
          <p:cNvSpPr>
            <a:spLocks noGrp="1"/>
          </p:cNvSpPr>
          <p:nvPr>
            <p:ph idx="1"/>
          </p:nvPr>
        </p:nvSpPr>
        <p:spPr/>
        <p:txBody>
          <a:bodyPr>
            <a:normAutofit fontScale="92500"/>
          </a:bodyPr>
          <a:lstStyle/>
          <a:p>
            <a:pPr algn="just"/>
            <a:r>
              <a:rPr lang="en-US" sz="3200" dirty="0"/>
              <a:t>A computer cannot solve a problem on its own.</a:t>
            </a:r>
          </a:p>
          <a:p>
            <a:pPr algn="just"/>
            <a:r>
              <a:rPr lang="en-US" sz="3200" dirty="0"/>
              <a:t> One has to provide step by step solutions of the problem to the computer.</a:t>
            </a:r>
          </a:p>
          <a:p>
            <a:pPr algn="just"/>
            <a:r>
              <a:rPr lang="en-US" sz="3200" dirty="0"/>
              <a:t> In fact, the task of problem solving is not that of the computer.</a:t>
            </a:r>
          </a:p>
          <a:p>
            <a:pPr algn="just"/>
            <a:r>
              <a:rPr lang="en-US" sz="3200" dirty="0"/>
              <a:t> It is the programmer who has to write down the solution to the problem in terms of simple operations which the computer can understand and execute.</a:t>
            </a:r>
          </a:p>
          <a:p>
            <a:endParaRPr lang="en-US" dirty="0"/>
          </a:p>
        </p:txBody>
      </p:sp>
    </p:spTree>
    <p:extLst>
      <p:ext uri="{BB962C8B-B14F-4D97-AF65-F5344CB8AC3E}">
        <p14:creationId xmlns:p14="http://schemas.microsoft.com/office/powerpoint/2010/main" val="47793275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US" dirty="0"/>
            </a:br>
            <a:r>
              <a:rPr lang="en-US" dirty="0"/>
              <a:t>Procedure (Steps Involved in Problem Solving)..</a:t>
            </a:r>
            <a:br>
              <a:rPr lang="en-US" dirty="0"/>
            </a:br>
            <a:endParaRPr lang="en-US" dirty="0"/>
          </a:p>
        </p:txBody>
      </p:sp>
      <p:sp>
        <p:nvSpPr>
          <p:cNvPr id="3" name="Content Placeholder 2"/>
          <p:cNvSpPr>
            <a:spLocks noGrp="1"/>
          </p:cNvSpPr>
          <p:nvPr>
            <p:ph idx="1"/>
          </p:nvPr>
        </p:nvSpPr>
        <p:spPr/>
        <p:txBody>
          <a:bodyPr>
            <a:normAutofit lnSpcReduction="10000"/>
          </a:bodyPr>
          <a:lstStyle/>
          <a:p>
            <a:pPr algn="just"/>
            <a:r>
              <a:rPr lang="en-US" sz="3200" dirty="0"/>
              <a:t>In order to solve a problem by the computer, one has to pass though certain stages or steps.  They are: -</a:t>
            </a:r>
          </a:p>
          <a:p>
            <a:pPr marL="0" indent="0" algn="just">
              <a:buNone/>
            </a:pPr>
            <a:r>
              <a:rPr lang="en-US" sz="3200" dirty="0"/>
              <a:t>1. Understanding the problem</a:t>
            </a:r>
          </a:p>
          <a:p>
            <a:pPr marL="0" indent="0" algn="just">
              <a:buNone/>
            </a:pPr>
            <a:r>
              <a:rPr lang="en-US" sz="3200" dirty="0"/>
              <a:t>2. Analyzing the problem</a:t>
            </a:r>
          </a:p>
          <a:p>
            <a:pPr marL="0" indent="0" algn="just">
              <a:buNone/>
            </a:pPr>
            <a:r>
              <a:rPr lang="en-US" sz="3200" dirty="0"/>
              <a:t>3. Developing  the solution</a:t>
            </a:r>
          </a:p>
          <a:p>
            <a:pPr marL="0" indent="0" algn="just">
              <a:buNone/>
            </a:pPr>
            <a:r>
              <a:rPr lang="en-US" sz="3200" dirty="0"/>
              <a:t>4. Coding and implementation.</a:t>
            </a:r>
          </a:p>
          <a:p>
            <a:pPr marL="0" indent="0" algn="just">
              <a:buNone/>
            </a:pPr>
            <a:r>
              <a:rPr lang="en-US" sz="3200" dirty="0"/>
              <a:t>5.Testing</a:t>
            </a:r>
          </a:p>
          <a:p>
            <a:pPr marL="0" indent="0" algn="just">
              <a:buNone/>
            </a:pPr>
            <a:endParaRPr lang="en-US" sz="3200" dirty="0"/>
          </a:p>
          <a:p>
            <a:pPr algn="just"/>
            <a:endParaRPr lang="en-US" sz="3200" dirty="0"/>
          </a:p>
        </p:txBody>
      </p:sp>
    </p:spTree>
    <p:extLst>
      <p:ext uri="{BB962C8B-B14F-4D97-AF65-F5344CB8AC3E}">
        <p14:creationId xmlns:p14="http://schemas.microsoft.com/office/powerpoint/2010/main" val="150981226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US" dirty="0"/>
            </a:br>
            <a:r>
              <a:rPr lang="en-US" dirty="0"/>
              <a:t>Procedure (Steps Involved in Problem Solving)..</a:t>
            </a:r>
            <a:br>
              <a:rPr lang="en-US" dirty="0"/>
            </a:br>
            <a:endParaRPr lang="en-US" dirty="0"/>
          </a:p>
        </p:txBody>
      </p:sp>
      <p:sp>
        <p:nvSpPr>
          <p:cNvPr id="3" name="Content Placeholder 2"/>
          <p:cNvSpPr>
            <a:spLocks noGrp="1"/>
          </p:cNvSpPr>
          <p:nvPr>
            <p:ph idx="1"/>
          </p:nvPr>
        </p:nvSpPr>
        <p:spPr/>
        <p:txBody>
          <a:bodyPr/>
          <a:lstStyle/>
          <a:p>
            <a:pPr>
              <a:buFont typeface="Wingdings" panose="05000000000000000000" pitchFamily="2" charset="2"/>
              <a:buChar char="q"/>
            </a:pPr>
            <a:r>
              <a:rPr lang="en-US" sz="3600" dirty="0">
                <a:solidFill>
                  <a:srgbClr val="FF0000"/>
                </a:solidFill>
              </a:rPr>
              <a:t>Understanding the problem</a:t>
            </a:r>
          </a:p>
          <a:p>
            <a:pPr algn="just"/>
            <a:r>
              <a:rPr lang="en-US" sz="3200" dirty="0"/>
              <a:t>Here we try to understand the problem to be solved in totally. </a:t>
            </a:r>
          </a:p>
          <a:p>
            <a:pPr algn="just"/>
            <a:r>
              <a:rPr lang="en-US" sz="3200" dirty="0"/>
              <a:t>Before moving to the next stage or step, we should be absolutely sure about the objectives of the given problem.</a:t>
            </a:r>
          </a:p>
          <a:p>
            <a:endParaRPr lang="en-US" dirty="0"/>
          </a:p>
        </p:txBody>
      </p:sp>
    </p:spTree>
    <p:extLst>
      <p:ext uri="{BB962C8B-B14F-4D97-AF65-F5344CB8AC3E}">
        <p14:creationId xmlns:p14="http://schemas.microsoft.com/office/powerpoint/2010/main" val="134818154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US" dirty="0"/>
            </a:br>
            <a:r>
              <a:rPr lang="en-US" dirty="0"/>
              <a:t>Procedure (Steps Involved in Problem Solving)..</a:t>
            </a:r>
            <a:br>
              <a:rPr lang="en-US" dirty="0"/>
            </a:br>
            <a:endParaRPr lang="en-US" dirty="0"/>
          </a:p>
        </p:txBody>
      </p:sp>
      <p:sp>
        <p:nvSpPr>
          <p:cNvPr id="3" name="Content Placeholder 2"/>
          <p:cNvSpPr>
            <a:spLocks noGrp="1"/>
          </p:cNvSpPr>
          <p:nvPr>
            <p:ph idx="1"/>
          </p:nvPr>
        </p:nvSpPr>
        <p:spPr/>
        <p:txBody>
          <a:bodyPr/>
          <a:lstStyle/>
          <a:p>
            <a:pPr>
              <a:buFont typeface="Wingdings" panose="05000000000000000000" pitchFamily="2" charset="2"/>
              <a:buChar char="q"/>
            </a:pPr>
            <a:r>
              <a:rPr lang="en-US" sz="4000" dirty="0">
                <a:solidFill>
                  <a:srgbClr val="FF0000"/>
                </a:solidFill>
              </a:rPr>
              <a:t> Analyzing the problem: </a:t>
            </a:r>
          </a:p>
          <a:p>
            <a:pPr algn="just"/>
            <a:r>
              <a:rPr lang="en-US" sz="2400" dirty="0"/>
              <a:t>After understanding thoroughly the problem to be solved, we look different ways of solving the problem and evaluate each of these methods. </a:t>
            </a:r>
          </a:p>
          <a:p>
            <a:pPr algn="just"/>
            <a:r>
              <a:rPr lang="en-US" sz="2400" dirty="0"/>
              <a:t>The idea here is to search an appropriate solution to the problem under consideration.</a:t>
            </a:r>
          </a:p>
          <a:p>
            <a:pPr algn="just"/>
            <a:r>
              <a:rPr lang="en-US" sz="2400" dirty="0"/>
              <a:t> The end result of this stage is a broad overview of the sequence of operations that are to be carries out to solve the given problem.</a:t>
            </a:r>
          </a:p>
          <a:p>
            <a:endParaRPr lang="en-US" dirty="0"/>
          </a:p>
        </p:txBody>
      </p:sp>
    </p:spTree>
    <p:extLst>
      <p:ext uri="{BB962C8B-B14F-4D97-AF65-F5344CB8AC3E}">
        <p14:creationId xmlns:p14="http://schemas.microsoft.com/office/powerpoint/2010/main" val="156052779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US" dirty="0"/>
            </a:br>
            <a:r>
              <a:rPr lang="en-US" dirty="0"/>
              <a:t>Procedure (Steps Involved in Problem Solving)..</a:t>
            </a:r>
            <a:br>
              <a:rPr lang="en-US" dirty="0"/>
            </a:br>
            <a:endParaRPr lang="en-US" dirty="0"/>
          </a:p>
        </p:txBody>
      </p:sp>
      <p:sp>
        <p:nvSpPr>
          <p:cNvPr id="3" name="Content Placeholder 2"/>
          <p:cNvSpPr>
            <a:spLocks noGrp="1"/>
          </p:cNvSpPr>
          <p:nvPr>
            <p:ph idx="1"/>
          </p:nvPr>
        </p:nvSpPr>
        <p:spPr/>
        <p:txBody>
          <a:bodyPr>
            <a:normAutofit lnSpcReduction="10000"/>
          </a:bodyPr>
          <a:lstStyle/>
          <a:p>
            <a:pPr>
              <a:buFont typeface="Wingdings" panose="05000000000000000000" pitchFamily="2" charset="2"/>
              <a:buChar char="q"/>
            </a:pPr>
            <a:r>
              <a:rPr lang="en-US" sz="4000" dirty="0">
                <a:solidFill>
                  <a:srgbClr val="FF0000"/>
                </a:solidFill>
              </a:rPr>
              <a:t> Analyzing the problem: </a:t>
            </a:r>
          </a:p>
          <a:p>
            <a:pPr>
              <a:buFont typeface="Wingdings" panose="05000000000000000000" pitchFamily="2" charset="2"/>
              <a:buChar char="ü"/>
            </a:pPr>
            <a:r>
              <a:rPr lang="en-US" sz="4000" dirty="0"/>
              <a:t>To help in analysis, the problem has to be broken into : -</a:t>
            </a:r>
          </a:p>
          <a:p>
            <a:pPr lvl="6"/>
            <a:r>
              <a:rPr lang="en-US" sz="3600" dirty="0"/>
              <a:t> Inputs</a:t>
            </a:r>
          </a:p>
          <a:p>
            <a:pPr lvl="6"/>
            <a:r>
              <a:rPr lang="en-US" sz="3600" dirty="0"/>
              <a:t>Outputs</a:t>
            </a:r>
          </a:p>
          <a:p>
            <a:pPr lvl="6"/>
            <a:r>
              <a:rPr lang="en-US" sz="3600" dirty="0"/>
              <a:t>Process</a:t>
            </a:r>
          </a:p>
          <a:p>
            <a:pPr lvl="6">
              <a:buFont typeface="Wingdings" panose="05000000000000000000" pitchFamily="2" charset="2"/>
              <a:buChar char="ü"/>
            </a:pPr>
            <a:r>
              <a:rPr lang="en-US" sz="3600" dirty="0"/>
              <a:t>Here a tool called </a:t>
            </a:r>
            <a:r>
              <a:rPr lang="en-US" sz="3600" dirty="0">
                <a:solidFill>
                  <a:srgbClr val="FF0000"/>
                </a:solidFill>
              </a:rPr>
              <a:t>IPO chart </a:t>
            </a:r>
            <a:r>
              <a:rPr lang="en-US" sz="3600" dirty="0"/>
              <a:t>is used</a:t>
            </a:r>
          </a:p>
          <a:p>
            <a:pPr>
              <a:buFont typeface="Wingdings" panose="05000000000000000000" pitchFamily="2" charset="2"/>
              <a:buChar char="ü"/>
            </a:pPr>
            <a:endParaRPr lang="en-US" sz="4000" dirty="0">
              <a:solidFill>
                <a:srgbClr val="FF0000"/>
              </a:solidFill>
            </a:endParaRPr>
          </a:p>
          <a:p>
            <a:endParaRPr lang="en-US" dirty="0"/>
          </a:p>
        </p:txBody>
      </p:sp>
    </p:spTree>
    <p:extLst>
      <p:ext uri="{BB962C8B-B14F-4D97-AF65-F5344CB8AC3E}">
        <p14:creationId xmlns:p14="http://schemas.microsoft.com/office/powerpoint/2010/main" val="89351920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69848" y="484632"/>
            <a:ext cx="10058400" cy="966216"/>
          </a:xfrm>
        </p:spPr>
        <p:txBody>
          <a:bodyPr/>
          <a:lstStyle/>
          <a:p>
            <a:r>
              <a:rPr lang="en-US" dirty="0"/>
              <a:t>IPO Charts</a:t>
            </a:r>
          </a:p>
        </p:txBody>
      </p:sp>
      <p:pic>
        <p:nvPicPr>
          <p:cNvPr id="5" name="Content Placeholder 4"/>
          <p:cNvPicPr>
            <a:picLocks noGrp="1" noChangeAspect="1"/>
          </p:cNvPicPr>
          <p:nvPr>
            <p:ph idx="1"/>
          </p:nvPr>
        </p:nvPicPr>
        <p:blipFill>
          <a:blip r:embed="rId2"/>
          <a:stretch>
            <a:fillRect/>
          </a:stretch>
        </p:blipFill>
        <p:spPr>
          <a:xfrm>
            <a:off x="1199704" y="1414272"/>
            <a:ext cx="9712136" cy="5832916"/>
          </a:xfrm>
          <a:prstGeom prst="rect">
            <a:avLst/>
          </a:prstGeom>
        </p:spPr>
      </p:pic>
    </p:spTree>
    <p:extLst>
      <p:ext uri="{BB962C8B-B14F-4D97-AF65-F5344CB8AC3E}">
        <p14:creationId xmlns:p14="http://schemas.microsoft.com/office/powerpoint/2010/main" val="180352137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69848" y="484632"/>
            <a:ext cx="10058400" cy="795528"/>
          </a:xfrm>
        </p:spPr>
        <p:txBody>
          <a:bodyPr>
            <a:normAutofit fontScale="90000"/>
          </a:bodyPr>
          <a:lstStyle/>
          <a:p>
            <a:r>
              <a:rPr lang="en-US" dirty="0" err="1"/>
              <a:t>Ipo</a:t>
            </a:r>
            <a:r>
              <a:rPr lang="en-US" dirty="0"/>
              <a:t> CHARTS…</a:t>
            </a:r>
          </a:p>
        </p:txBody>
      </p:sp>
      <p:pic>
        <p:nvPicPr>
          <p:cNvPr id="4" name="Content Placeholder 3"/>
          <p:cNvPicPr>
            <a:picLocks noGrp="1" noChangeAspect="1"/>
          </p:cNvPicPr>
          <p:nvPr>
            <p:ph idx="1"/>
          </p:nvPr>
        </p:nvPicPr>
        <p:blipFill>
          <a:blip r:embed="rId2"/>
          <a:stretch>
            <a:fillRect/>
          </a:stretch>
        </p:blipFill>
        <p:spPr>
          <a:xfrm>
            <a:off x="1670304" y="1319611"/>
            <a:ext cx="8217408" cy="5245154"/>
          </a:xfrm>
          <a:prstGeom prst="rect">
            <a:avLst/>
          </a:prstGeom>
        </p:spPr>
      </p:pic>
    </p:spTree>
    <p:extLst>
      <p:ext uri="{BB962C8B-B14F-4D97-AF65-F5344CB8AC3E}">
        <p14:creationId xmlns:p14="http://schemas.microsoft.com/office/powerpoint/2010/main" val="141088873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69848" y="484632"/>
            <a:ext cx="10058400" cy="819912"/>
          </a:xfrm>
        </p:spPr>
        <p:txBody>
          <a:bodyPr>
            <a:normAutofit fontScale="90000"/>
          </a:bodyPr>
          <a:lstStyle/>
          <a:p>
            <a:r>
              <a:rPr lang="en-US" dirty="0"/>
              <a:t>IPO CHARTS ….</a:t>
            </a:r>
          </a:p>
        </p:txBody>
      </p:sp>
      <p:pic>
        <p:nvPicPr>
          <p:cNvPr id="4" name="Content Placeholder 3"/>
          <p:cNvPicPr>
            <a:picLocks noGrp="1" noChangeAspect="1"/>
          </p:cNvPicPr>
          <p:nvPr>
            <p:ph idx="1"/>
          </p:nvPr>
        </p:nvPicPr>
        <p:blipFill>
          <a:blip r:embed="rId2"/>
          <a:stretch>
            <a:fillRect/>
          </a:stretch>
        </p:blipFill>
        <p:spPr>
          <a:xfrm>
            <a:off x="1117425" y="1255776"/>
            <a:ext cx="9209199" cy="5343848"/>
          </a:xfrm>
          <a:prstGeom prst="rect">
            <a:avLst/>
          </a:prstGeom>
        </p:spPr>
      </p:pic>
    </p:spTree>
    <p:extLst>
      <p:ext uri="{BB962C8B-B14F-4D97-AF65-F5344CB8AC3E}">
        <p14:creationId xmlns:p14="http://schemas.microsoft.com/office/powerpoint/2010/main" val="179988818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69848" y="484632"/>
            <a:ext cx="10058400" cy="929640"/>
          </a:xfrm>
        </p:spPr>
        <p:txBody>
          <a:bodyPr/>
          <a:lstStyle/>
          <a:p>
            <a:r>
              <a:rPr lang="en-US" dirty="0"/>
              <a:t>IPO CHARTS….</a:t>
            </a:r>
          </a:p>
        </p:txBody>
      </p:sp>
      <p:pic>
        <p:nvPicPr>
          <p:cNvPr id="4" name="Content Placeholder 3"/>
          <p:cNvPicPr>
            <a:picLocks noGrp="1" noChangeAspect="1"/>
          </p:cNvPicPr>
          <p:nvPr>
            <p:ph idx="1"/>
          </p:nvPr>
        </p:nvPicPr>
        <p:blipFill>
          <a:blip r:embed="rId2"/>
          <a:stretch>
            <a:fillRect/>
          </a:stretch>
        </p:blipFill>
        <p:spPr>
          <a:xfrm>
            <a:off x="1033685" y="1450847"/>
            <a:ext cx="9768427" cy="5198465"/>
          </a:xfrm>
          <a:prstGeom prst="rect">
            <a:avLst/>
          </a:prstGeom>
        </p:spPr>
      </p:pic>
    </p:spTree>
    <p:extLst>
      <p:ext uri="{BB962C8B-B14F-4D97-AF65-F5344CB8AC3E}">
        <p14:creationId xmlns:p14="http://schemas.microsoft.com/office/powerpoint/2010/main" val="392764907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69848" y="484632"/>
            <a:ext cx="10058400" cy="1002792"/>
          </a:xfrm>
        </p:spPr>
        <p:txBody>
          <a:bodyPr/>
          <a:lstStyle/>
          <a:p>
            <a:r>
              <a:rPr lang="en-US" dirty="0"/>
              <a:t>IPO CHARTS</a:t>
            </a:r>
          </a:p>
        </p:txBody>
      </p:sp>
      <p:pic>
        <p:nvPicPr>
          <p:cNvPr id="4" name="Content Placeholder 3"/>
          <p:cNvPicPr>
            <a:picLocks noGrp="1" noChangeAspect="1"/>
          </p:cNvPicPr>
          <p:nvPr>
            <p:ph idx="1"/>
          </p:nvPr>
        </p:nvPicPr>
        <p:blipFill>
          <a:blip r:embed="rId2"/>
          <a:stretch>
            <a:fillRect/>
          </a:stretch>
        </p:blipFill>
        <p:spPr>
          <a:xfrm>
            <a:off x="1007895" y="1536191"/>
            <a:ext cx="9867369" cy="5060943"/>
          </a:xfrm>
          <a:prstGeom prst="rect">
            <a:avLst/>
          </a:prstGeom>
        </p:spPr>
      </p:pic>
    </p:spTree>
    <p:extLst>
      <p:ext uri="{BB962C8B-B14F-4D97-AF65-F5344CB8AC3E}">
        <p14:creationId xmlns:p14="http://schemas.microsoft.com/office/powerpoint/2010/main" val="214797604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69848" y="484632"/>
            <a:ext cx="10058400" cy="856488"/>
          </a:xfrm>
        </p:spPr>
        <p:txBody>
          <a:bodyPr/>
          <a:lstStyle/>
          <a:p>
            <a:r>
              <a:rPr lang="en-US" dirty="0" err="1"/>
              <a:t>Ipo</a:t>
            </a:r>
            <a:r>
              <a:rPr lang="en-US" dirty="0"/>
              <a:t> charts ….</a:t>
            </a:r>
          </a:p>
        </p:txBody>
      </p:sp>
      <p:pic>
        <p:nvPicPr>
          <p:cNvPr id="4" name="Content Placeholder 3"/>
          <p:cNvPicPr>
            <a:picLocks noGrp="1" noChangeAspect="1"/>
          </p:cNvPicPr>
          <p:nvPr>
            <p:ph idx="1"/>
          </p:nvPr>
        </p:nvPicPr>
        <p:blipFill>
          <a:blip r:embed="rId2"/>
          <a:stretch>
            <a:fillRect/>
          </a:stretch>
        </p:blipFill>
        <p:spPr>
          <a:xfrm>
            <a:off x="1304544" y="1186386"/>
            <a:ext cx="8619744" cy="5321756"/>
          </a:xfrm>
          <a:prstGeom prst="rect">
            <a:avLst/>
          </a:prstGeom>
        </p:spPr>
      </p:pic>
    </p:spTree>
    <p:extLst>
      <p:ext uri="{BB962C8B-B14F-4D97-AF65-F5344CB8AC3E}">
        <p14:creationId xmlns:p14="http://schemas.microsoft.com/office/powerpoint/2010/main" val="137398843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IPO charts… (Examples)</a:t>
            </a:r>
          </a:p>
        </p:txBody>
      </p:sp>
      <p:sp>
        <p:nvSpPr>
          <p:cNvPr id="3" name="Content Placeholder 2"/>
          <p:cNvSpPr>
            <a:spLocks noGrp="1"/>
          </p:cNvSpPr>
          <p:nvPr>
            <p:ph idx="1"/>
          </p:nvPr>
        </p:nvSpPr>
        <p:spPr/>
        <p:txBody>
          <a:bodyPr>
            <a:normAutofit fontScale="92500"/>
          </a:bodyPr>
          <a:lstStyle/>
          <a:p>
            <a:pPr marL="0" indent="0">
              <a:buNone/>
            </a:pPr>
            <a:r>
              <a:rPr lang="en-US" sz="2800" dirty="0"/>
              <a:t>QN1.Create a program which will accept the ages of four boys and calculate their total age and average age. The program must display both the total age and the average age</a:t>
            </a:r>
          </a:p>
          <a:p>
            <a:pPr marL="0" indent="0">
              <a:buNone/>
            </a:pPr>
            <a:r>
              <a:rPr lang="en-US" sz="2800" dirty="0"/>
              <a:t>QN 2.Create a program which will accept the length and width of a rectangle and display the area. </a:t>
            </a:r>
          </a:p>
          <a:p>
            <a:pPr marL="0" indent="0">
              <a:buNone/>
            </a:pPr>
            <a:r>
              <a:rPr lang="en-US" sz="2800" dirty="0"/>
              <a:t>QN 3. Create a program which will accept the number of hours worked by an employee as well as the rate at which he is to be paid. It will then calculate the wages due. The program will then display the hours worked, the wages rate and the wages owed to the employee.</a:t>
            </a:r>
          </a:p>
        </p:txBody>
      </p:sp>
    </p:spTree>
    <p:extLst>
      <p:ext uri="{BB962C8B-B14F-4D97-AF65-F5344CB8AC3E}">
        <p14:creationId xmlns:p14="http://schemas.microsoft.com/office/powerpoint/2010/main" val="386011848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IPO charts… (Examples)</a:t>
            </a:r>
          </a:p>
        </p:txBody>
      </p:sp>
      <p:sp>
        <p:nvSpPr>
          <p:cNvPr id="3" name="Content Placeholder 2"/>
          <p:cNvSpPr>
            <a:spLocks noGrp="1"/>
          </p:cNvSpPr>
          <p:nvPr>
            <p:ph idx="1"/>
          </p:nvPr>
        </p:nvSpPr>
        <p:spPr/>
        <p:txBody>
          <a:bodyPr>
            <a:normAutofit/>
          </a:bodyPr>
          <a:lstStyle/>
          <a:p>
            <a:pPr marL="514350" indent="-514350">
              <a:buFont typeface="+mj-lt"/>
              <a:buAutoNum type="romanLcPeriod"/>
            </a:pPr>
            <a:r>
              <a:rPr lang="en-US" sz="2800" dirty="0"/>
              <a:t> Using IPO chart to analyze the given problem</a:t>
            </a:r>
          </a:p>
          <a:p>
            <a:pPr marL="514350" indent="-514350">
              <a:buFont typeface="+mj-lt"/>
              <a:buAutoNum type="romanLcPeriod"/>
            </a:pPr>
            <a:r>
              <a:rPr lang="en-US" sz="2800" dirty="0"/>
              <a:t>From the given IPO charts, produce Pseudocode and Flow charts</a:t>
            </a:r>
          </a:p>
          <a:p>
            <a:pPr marL="514350" indent="-514350">
              <a:buFont typeface="+mj-lt"/>
              <a:buAutoNum type="romanLcPeriod"/>
            </a:pPr>
            <a:r>
              <a:rPr lang="en-US" sz="2800" dirty="0"/>
              <a:t>Identify all variables used in IPO chart and their data types</a:t>
            </a:r>
          </a:p>
        </p:txBody>
      </p:sp>
    </p:spTree>
    <p:extLst>
      <p:ext uri="{BB962C8B-B14F-4D97-AF65-F5344CB8AC3E}">
        <p14:creationId xmlns:p14="http://schemas.microsoft.com/office/powerpoint/2010/main" val="266483982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US" dirty="0"/>
            </a:br>
            <a:r>
              <a:rPr lang="en-US" dirty="0"/>
              <a:t>Procedure (Steps Involved in Problem Solving)..</a:t>
            </a:r>
            <a:br>
              <a:rPr lang="en-US" dirty="0"/>
            </a:br>
            <a:endParaRPr lang="en-US" dirty="0"/>
          </a:p>
        </p:txBody>
      </p:sp>
      <p:sp>
        <p:nvSpPr>
          <p:cNvPr id="3" name="Content Placeholder 2"/>
          <p:cNvSpPr>
            <a:spLocks noGrp="1"/>
          </p:cNvSpPr>
          <p:nvPr>
            <p:ph idx="1"/>
          </p:nvPr>
        </p:nvSpPr>
        <p:spPr/>
        <p:txBody>
          <a:bodyPr>
            <a:normAutofit fontScale="92500" lnSpcReduction="10000"/>
          </a:bodyPr>
          <a:lstStyle/>
          <a:p>
            <a:pPr>
              <a:buFont typeface="Wingdings" panose="05000000000000000000" pitchFamily="2" charset="2"/>
              <a:buChar char="q"/>
            </a:pPr>
            <a:r>
              <a:rPr lang="en-US" sz="4000" dirty="0">
                <a:solidFill>
                  <a:srgbClr val="FF0000"/>
                </a:solidFill>
              </a:rPr>
              <a:t>Developing the solution: </a:t>
            </a:r>
          </a:p>
          <a:p>
            <a:pPr algn="just"/>
            <a:r>
              <a:rPr lang="en-US" sz="3200" dirty="0"/>
              <a:t>Here the overview of the sequence of operations that was the result of analysis stage is expanded to form a detailed step by step solution to the problem under consideration.</a:t>
            </a:r>
          </a:p>
          <a:p>
            <a:pPr algn="just"/>
            <a:r>
              <a:rPr lang="en-US" sz="3200" dirty="0"/>
              <a:t>In this stage the programmer needs to simulate a program using </a:t>
            </a:r>
            <a:r>
              <a:rPr lang="en-US" sz="3200" dirty="0">
                <a:solidFill>
                  <a:srgbClr val="0070C0"/>
                </a:solidFill>
              </a:rPr>
              <a:t>PSEUDOCODE and Flow charts</a:t>
            </a:r>
            <a:r>
              <a:rPr lang="en-US" sz="3200" dirty="0"/>
              <a:t>. </a:t>
            </a:r>
          </a:p>
          <a:p>
            <a:pPr algn="just"/>
            <a:r>
              <a:rPr lang="en-US" sz="3200" dirty="0"/>
              <a:t>Pseudocode looks like program code but IT IS NOT PROGRAM CODE.</a:t>
            </a:r>
          </a:p>
          <a:p>
            <a:endParaRPr lang="en-US" dirty="0"/>
          </a:p>
        </p:txBody>
      </p:sp>
    </p:spTree>
    <p:extLst>
      <p:ext uri="{BB962C8B-B14F-4D97-AF65-F5344CB8AC3E}">
        <p14:creationId xmlns:p14="http://schemas.microsoft.com/office/powerpoint/2010/main" val="98244587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US" dirty="0"/>
            </a:br>
            <a:r>
              <a:rPr lang="en-US" dirty="0"/>
              <a:t>Procedure (Steps Involved in Problem Solving)..</a:t>
            </a:r>
            <a:br>
              <a:rPr lang="en-US" dirty="0"/>
            </a:br>
            <a:endParaRPr lang="en-US" dirty="0"/>
          </a:p>
        </p:txBody>
      </p:sp>
      <p:sp>
        <p:nvSpPr>
          <p:cNvPr id="3" name="Content Placeholder 2"/>
          <p:cNvSpPr>
            <a:spLocks noGrp="1"/>
          </p:cNvSpPr>
          <p:nvPr>
            <p:ph idx="1"/>
          </p:nvPr>
        </p:nvSpPr>
        <p:spPr/>
        <p:txBody>
          <a:bodyPr>
            <a:normAutofit lnSpcReduction="10000"/>
          </a:bodyPr>
          <a:lstStyle/>
          <a:p>
            <a:pPr>
              <a:buFont typeface="Wingdings" panose="05000000000000000000" pitchFamily="2" charset="2"/>
              <a:buChar char="q"/>
            </a:pPr>
            <a:r>
              <a:rPr lang="en-US" sz="4000" dirty="0">
                <a:solidFill>
                  <a:srgbClr val="FF0000"/>
                </a:solidFill>
              </a:rPr>
              <a:t> Coding and implementation:  </a:t>
            </a:r>
            <a:r>
              <a:rPr lang="en-US" sz="4000" dirty="0">
                <a:solidFill>
                  <a:srgbClr val="0070C0"/>
                </a:solidFill>
              </a:rPr>
              <a:t>(Next Semester)</a:t>
            </a:r>
          </a:p>
          <a:p>
            <a:pPr algn="just"/>
            <a:r>
              <a:rPr lang="en-US" sz="3200" dirty="0"/>
              <a:t>The last stage of the problem solving is the conversion of the detailed sequence of operations in to a language that the computer can understand. </a:t>
            </a:r>
          </a:p>
          <a:p>
            <a:pPr algn="just"/>
            <a:r>
              <a:rPr lang="en-US" sz="3200" dirty="0"/>
              <a:t>Here each step is converted to its equivalent instruction or instructions in the computer language that has been chosen for the implantation.</a:t>
            </a:r>
          </a:p>
          <a:p>
            <a:endParaRPr lang="en-US" dirty="0"/>
          </a:p>
        </p:txBody>
      </p:sp>
    </p:spTree>
    <p:extLst>
      <p:ext uri="{BB962C8B-B14F-4D97-AF65-F5344CB8AC3E}">
        <p14:creationId xmlns:p14="http://schemas.microsoft.com/office/powerpoint/2010/main" val="180079445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US" dirty="0"/>
            </a:br>
            <a:r>
              <a:rPr lang="en-US" dirty="0"/>
              <a:t>Procedure (Steps Involved in Problem Solving)..</a:t>
            </a:r>
            <a:br>
              <a:rPr lang="en-US" dirty="0"/>
            </a:br>
            <a:endParaRPr lang="en-US" dirty="0"/>
          </a:p>
        </p:txBody>
      </p:sp>
      <p:sp>
        <p:nvSpPr>
          <p:cNvPr id="3" name="Content Placeholder 2"/>
          <p:cNvSpPr>
            <a:spLocks noGrp="1"/>
          </p:cNvSpPr>
          <p:nvPr>
            <p:ph idx="1"/>
          </p:nvPr>
        </p:nvSpPr>
        <p:spPr/>
        <p:txBody>
          <a:bodyPr>
            <a:normAutofit fontScale="92500" lnSpcReduction="20000"/>
          </a:bodyPr>
          <a:lstStyle/>
          <a:p>
            <a:pPr>
              <a:buFont typeface="Wingdings" panose="05000000000000000000" pitchFamily="2" charset="2"/>
              <a:buChar char="q"/>
            </a:pPr>
            <a:r>
              <a:rPr lang="en-US" sz="4000" dirty="0">
                <a:solidFill>
                  <a:srgbClr val="FF0000"/>
                </a:solidFill>
              </a:rPr>
              <a:t>TESTING  </a:t>
            </a:r>
            <a:r>
              <a:rPr lang="en-US" sz="4000" dirty="0">
                <a:solidFill>
                  <a:srgbClr val="0070C0"/>
                </a:solidFill>
              </a:rPr>
              <a:t>(Next Semester)</a:t>
            </a:r>
          </a:p>
          <a:p>
            <a:pPr>
              <a:buFont typeface="Wingdings" panose="05000000000000000000" pitchFamily="2" charset="2"/>
              <a:buChar char="ü"/>
            </a:pPr>
            <a:r>
              <a:rPr lang="en-US" sz="4000" dirty="0"/>
              <a:t>In this stage the programmer has to check if  the developed solution meets the user expectation or not</a:t>
            </a:r>
          </a:p>
          <a:p>
            <a:pPr>
              <a:buFont typeface="Wingdings" panose="05000000000000000000" pitchFamily="2" charset="2"/>
              <a:buChar char="ü"/>
            </a:pPr>
            <a:r>
              <a:rPr lang="en-US" sz="4000" dirty="0"/>
              <a:t>Here we need to check if there is an error(s) that leads to incorrect output</a:t>
            </a:r>
          </a:p>
          <a:p>
            <a:pPr>
              <a:buFont typeface="Wingdings" panose="05000000000000000000" pitchFamily="2" charset="2"/>
              <a:buChar char="ü"/>
            </a:pPr>
            <a:r>
              <a:rPr lang="en-US" sz="4000" dirty="0">
                <a:solidFill>
                  <a:srgbClr val="FF0000"/>
                </a:solidFill>
              </a:rPr>
              <a:t>(logical errors, syntax errors and semantic errors)</a:t>
            </a:r>
          </a:p>
          <a:p>
            <a:endParaRPr lang="en-US" dirty="0"/>
          </a:p>
        </p:txBody>
      </p:sp>
    </p:spTree>
    <p:extLst>
      <p:ext uri="{BB962C8B-B14F-4D97-AF65-F5344CB8AC3E}">
        <p14:creationId xmlns:p14="http://schemas.microsoft.com/office/powerpoint/2010/main" val="140270572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Assignment</a:t>
            </a:r>
          </a:p>
        </p:txBody>
      </p:sp>
      <p:sp>
        <p:nvSpPr>
          <p:cNvPr id="3" name="Content Placeholder 2"/>
          <p:cNvSpPr>
            <a:spLocks noGrp="1"/>
          </p:cNvSpPr>
          <p:nvPr>
            <p:ph idx="1"/>
          </p:nvPr>
        </p:nvSpPr>
        <p:spPr/>
        <p:txBody>
          <a:bodyPr>
            <a:normAutofit/>
          </a:bodyPr>
          <a:lstStyle/>
          <a:p>
            <a:pPr marL="514350" indent="-514350">
              <a:buFont typeface="+mj-lt"/>
              <a:buAutoNum type="romanLcPeriod"/>
            </a:pPr>
            <a:r>
              <a:rPr lang="en-US" sz="3200" dirty="0"/>
              <a:t>Using IPO chart to analyze the following problems</a:t>
            </a:r>
          </a:p>
          <a:p>
            <a:pPr marL="514350" indent="-514350">
              <a:buFont typeface="+mj-lt"/>
              <a:buAutoNum type="romanLcPeriod"/>
            </a:pPr>
            <a:r>
              <a:rPr lang="en-US" sz="3200" dirty="0"/>
              <a:t>From the given IPO charts, produce Pseudocode and Flow charts</a:t>
            </a:r>
          </a:p>
          <a:p>
            <a:pPr marL="514350" indent="-514350">
              <a:buFont typeface="+mj-lt"/>
              <a:buAutoNum type="romanLcPeriod"/>
            </a:pPr>
            <a:r>
              <a:rPr lang="en-US" sz="3200" dirty="0"/>
              <a:t>Identify all variables used in IPO chart and their data types</a:t>
            </a:r>
          </a:p>
          <a:p>
            <a:pPr marL="0" indent="0">
              <a:buNone/>
            </a:pPr>
            <a:endParaRPr lang="en-US" dirty="0"/>
          </a:p>
        </p:txBody>
      </p:sp>
    </p:spTree>
    <p:extLst>
      <p:ext uri="{BB962C8B-B14F-4D97-AF65-F5344CB8AC3E}">
        <p14:creationId xmlns:p14="http://schemas.microsoft.com/office/powerpoint/2010/main" val="134544697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Assignment</a:t>
            </a:r>
          </a:p>
        </p:txBody>
      </p:sp>
      <p:sp>
        <p:nvSpPr>
          <p:cNvPr id="3" name="Content Placeholder 2"/>
          <p:cNvSpPr>
            <a:spLocks noGrp="1"/>
          </p:cNvSpPr>
          <p:nvPr>
            <p:ph idx="1"/>
          </p:nvPr>
        </p:nvSpPr>
        <p:spPr/>
        <p:txBody>
          <a:bodyPr>
            <a:normAutofit/>
          </a:bodyPr>
          <a:lstStyle/>
          <a:p>
            <a:pPr marL="457200" indent="-457200">
              <a:buFont typeface="+mj-lt"/>
              <a:buAutoNum type="arabicPeriod"/>
            </a:pPr>
            <a:r>
              <a:rPr lang="en-US" dirty="0"/>
              <a:t>Create a program which will accept the distance travelled by a car and the time it took to reach its destination and calculate the (average) speed at which it travelled. {Note that speed = distance over time}. </a:t>
            </a:r>
          </a:p>
          <a:p>
            <a:pPr marL="457200" indent="-457200">
              <a:buFont typeface="+mj-lt"/>
              <a:buAutoNum type="arabicPeriod"/>
            </a:pPr>
            <a:r>
              <a:rPr lang="en-US" dirty="0"/>
              <a:t>Create a program which will accept the amount of money paid on a product as well as the price. It will then calculate the balance owed to the store. It will then display the amount paid, the original price and the balance</a:t>
            </a:r>
          </a:p>
          <a:p>
            <a:pPr marL="457200" indent="-457200">
              <a:buFont typeface="+mj-lt"/>
              <a:buAutoNum type="arabicPeriod"/>
            </a:pPr>
            <a:r>
              <a:rPr lang="en-US" dirty="0"/>
              <a:t>Create a program which will accept the length, width and depth of a rectangular pool and display the volume of water it can hold. </a:t>
            </a:r>
          </a:p>
          <a:p>
            <a:pPr marL="457200" indent="-457200">
              <a:buFont typeface="+mj-lt"/>
              <a:buAutoNum type="arabicPeriod"/>
            </a:pPr>
            <a:r>
              <a:rPr lang="en-US" dirty="0"/>
              <a:t> Create a program which will accept the number of days worked and calculate the number of weeks. The program must then show the number of days and the number of weeks calculated. </a:t>
            </a:r>
          </a:p>
          <a:p>
            <a:pPr marL="0" indent="0">
              <a:buNone/>
            </a:pPr>
            <a:endParaRPr lang="en-US" dirty="0"/>
          </a:p>
        </p:txBody>
      </p:sp>
    </p:spTree>
    <p:extLst>
      <p:ext uri="{BB962C8B-B14F-4D97-AF65-F5344CB8AC3E}">
        <p14:creationId xmlns:p14="http://schemas.microsoft.com/office/powerpoint/2010/main" val="42294793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9704" y="3254629"/>
            <a:ext cx="10515600" cy="1325563"/>
          </a:xfrm>
        </p:spPr>
        <p:txBody>
          <a:bodyPr/>
          <a:lstStyle/>
          <a:p>
            <a:pPr algn="ctr"/>
            <a:r>
              <a:rPr lang="en-US" dirty="0"/>
              <a:t>END</a:t>
            </a:r>
          </a:p>
        </p:txBody>
      </p:sp>
    </p:spTree>
    <p:extLst>
      <p:ext uri="{BB962C8B-B14F-4D97-AF65-F5344CB8AC3E}">
        <p14:creationId xmlns:p14="http://schemas.microsoft.com/office/powerpoint/2010/main" val="2098399526"/>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Wood Type">
  <a:themeElements>
    <a:clrScheme name="Wood Type">
      <a:dk1>
        <a:sysClr val="windowText" lastClr="000000"/>
      </a:dk1>
      <a:lt1>
        <a:sysClr val="window" lastClr="FFFFFF"/>
      </a:lt1>
      <a:dk2>
        <a:srgbClr val="696464"/>
      </a:dk2>
      <a:lt2>
        <a:srgbClr val="E9E5DC"/>
      </a:lt2>
      <a:accent1>
        <a:srgbClr val="D34817"/>
      </a:accent1>
      <a:accent2>
        <a:srgbClr val="9B2D1F"/>
      </a:accent2>
      <a:accent3>
        <a:srgbClr val="A28E6A"/>
      </a:accent3>
      <a:accent4>
        <a:srgbClr val="956251"/>
      </a:accent4>
      <a:accent5>
        <a:srgbClr val="918485"/>
      </a:accent5>
      <a:accent6>
        <a:srgbClr val="855D5D"/>
      </a:accent6>
      <a:hlink>
        <a:srgbClr val="CC9900"/>
      </a:hlink>
      <a:folHlink>
        <a:srgbClr val="96A9A9"/>
      </a:folHlink>
    </a:clrScheme>
    <a:fontScheme name="Wood Type">
      <a:majorFont>
        <a:latin typeface="Rockwell Condensed" panose="02060603050405020104"/>
        <a:ea typeface=""/>
        <a:cs typeface=""/>
        <a:font script="Grek" typeface="Cambria"/>
        <a:font script="Cyrl" typeface="Cambria"/>
        <a:font script="Jpan" typeface="HG明朝B"/>
        <a:font script="Hang" typeface="바탕"/>
        <a:font script="Hans" typeface="方正姚体"/>
        <a:font script="Hant" typeface="微軟正黑體"/>
        <a:font script="Arab" typeface="Times New Roman"/>
        <a:font script="Hebr" typeface="David"/>
        <a:font script="Thai" typeface="Jasmine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Rockwell" panose="02060603020205020403"/>
        <a:ea typeface=""/>
        <a:cs typeface=""/>
        <a:font script="Grek" typeface="Cambria"/>
        <a:font script="Cyrl" typeface="Cambria"/>
        <a:font script="Jpan" typeface="HG明朝B"/>
        <a:font script="Hang" typeface="바탕"/>
        <a:font script="Hans" typeface="方正姚体"/>
        <a:font script="Hant" typeface="標楷體"/>
        <a:font script="Arab" typeface="Times New Roman"/>
        <a:font script="Hebr" typeface="David"/>
        <a:font script="Thai" typeface="Jasmine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Wood Type">
      <a:fillStyleLst>
        <a:solidFill>
          <a:schemeClr val="phClr"/>
        </a:solidFill>
        <a:blipFill rotWithShape="1">
          <a:blip xmlns:r="http://schemas.openxmlformats.org/officeDocument/2006/relationships" r:embed="rId1">
            <a:duotone>
              <a:schemeClr val="phClr">
                <a:tint val="70000"/>
                <a:shade val="63000"/>
              </a:schemeClr>
              <a:schemeClr val="phClr">
                <a:tint val="10000"/>
                <a:satMod val="150000"/>
              </a:schemeClr>
            </a:duotone>
          </a:blip>
          <a:tile tx="0" ty="0" sx="60000" sy="59000" flip="none" algn="tl"/>
        </a:blipFill>
        <a:blipFill rotWithShape="1">
          <a:blip xmlns:r="http://schemas.openxmlformats.org/officeDocument/2006/relationships" r:embed="rId1">
            <a:duotone>
              <a:schemeClr val="phClr">
                <a:shade val="36000"/>
                <a:satMod val="120000"/>
              </a:schemeClr>
              <a:schemeClr val="phClr">
                <a:tint val="40000"/>
              </a:schemeClr>
            </a:duotone>
          </a:blip>
          <a:tile tx="0" ty="0" sx="60000" sy="59000" flip="none" algn="tl"/>
        </a:blip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softEdge rad="12700"/>
          </a:effectLst>
        </a:effectStyle>
        <a:effectStyle>
          <a:effectLst>
            <a:outerShdw blurRad="50800" dist="19050" dir="5400000" algn="tl" rotWithShape="0">
              <a:srgbClr val="000000">
                <a:alpha val="60000"/>
              </a:srgbClr>
            </a:outerShdw>
            <a:softEdge rad="12700"/>
          </a:effectLst>
        </a:effectStyle>
      </a:effectStyleLst>
      <a:bgFillStyleLst>
        <a:solidFill>
          <a:schemeClr val="phClr"/>
        </a:solidFill>
        <a:solidFill>
          <a:schemeClr val="phClr">
            <a:shade val="97000"/>
            <a:satMod val="150000"/>
          </a:schemeClr>
        </a:solidFill>
        <a:blipFill rotWithShape="1">
          <a:blip xmlns:r="http://schemas.openxmlformats.org/officeDocument/2006/relationships" r:embed="rId1">
            <a:duotone>
              <a:schemeClr val="phClr">
                <a:tint val="75000"/>
                <a:shade val="58000"/>
                <a:satMod val="120000"/>
              </a:schemeClr>
              <a:schemeClr val="phClr">
                <a:tint val="50000"/>
                <a:shade val="96000"/>
              </a:schemeClr>
            </a:duotone>
          </a:blip>
          <a:tile tx="0" ty="0" sx="100000" sy="100000" flip="none" algn="tl"/>
        </a:blipFill>
      </a:bgFillStyleLst>
    </a:fmtScheme>
  </a:themeElements>
  <a:objectDefaults/>
  <a:extraClrSchemeLst/>
  <a:extLst>
    <a:ext uri="{05A4C25C-085E-4340-85A3-A5531E510DB2}">
      <thm15:themeFamily xmlns:thm15="http://schemas.microsoft.com/office/thememl/2012/main" name="Wood Type" id="{7ACABC62-BF99-48CF-A9DC-4DB89C7B13DC}" vid="{142A1326-48AB-42A9-8428-CB14AA30176D}"/>
    </a:ext>
  </a:extLst>
</a:theme>
</file>

<file path=docProps/app.xml><?xml version="1.0" encoding="utf-8"?>
<Properties xmlns="http://schemas.openxmlformats.org/officeDocument/2006/extended-properties" xmlns:vt="http://schemas.openxmlformats.org/officeDocument/2006/docPropsVTypes">
  <Template>Wood Type</Template>
  <TotalTime>149</TotalTime>
  <Words>1104</Words>
  <Application>Microsoft Office PowerPoint</Application>
  <PresentationFormat>Widescreen</PresentationFormat>
  <Paragraphs>81</Paragraphs>
  <Slides>23</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23</vt:i4>
      </vt:variant>
    </vt:vector>
  </HeadingPairs>
  <TitlesOfParts>
    <vt:vector size="27" baseType="lpstr">
      <vt:lpstr>Rockwell</vt:lpstr>
      <vt:lpstr>Rockwell Condensed</vt:lpstr>
      <vt:lpstr>Wingdings</vt:lpstr>
      <vt:lpstr>Wood Type</vt:lpstr>
      <vt:lpstr>PROBLEM SOLVING </vt:lpstr>
      <vt:lpstr>Introduction</vt:lpstr>
      <vt:lpstr>Introduction..</vt:lpstr>
      <vt:lpstr>Introduction…</vt:lpstr>
      <vt:lpstr> Procedure (Steps Involved in Problem Solving) </vt:lpstr>
      <vt:lpstr> Procedure (Steps Involved in Problem Solving).. </vt:lpstr>
      <vt:lpstr> Procedure (Steps Involved in Problem Solving).. </vt:lpstr>
      <vt:lpstr> Procedure (Steps Involved in Problem Solving).. </vt:lpstr>
      <vt:lpstr> Procedure (Steps Involved in Problem Solving).. </vt:lpstr>
      <vt:lpstr>IPO Charts</vt:lpstr>
      <vt:lpstr>Ipo CHARTS…</vt:lpstr>
      <vt:lpstr>IPO CHARTS ….</vt:lpstr>
      <vt:lpstr>IPO CHARTS….</vt:lpstr>
      <vt:lpstr>IPO CHARTS</vt:lpstr>
      <vt:lpstr>Ipo charts ….</vt:lpstr>
      <vt:lpstr>IPO charts… (Examples)</vt:lpstr>
      <vt:lpstr>IPO charts… (Examples)</vt:lpstr>
      <vt:lpstr> Procedure (Steps Involved in Problem Solving).. </vt:lpstr>
      <vt:lpstr> Procedure (Steps Involved in Problem Solving).. </vt:lpstr>
      <vt:lpstr> Procedure (Steps Involved in Problem Solving).. </vt:lpstr>
      <vt:lpstr>Assignment</vt:lpstr>
      <vt:lpstr>Assignment</vt:lpstr>
      <vt:lpstr>END</vt:lpstr>
    </vt:vector>
  </TitlesOfParts>
  <Company>Deftones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Siphael Betuel</dc:creator>
  <cp:lastModifiedBy>Jospeter Jonathan</cp:lastModifiedBy>
  <cp:revision>82</cp:revision>
  <dcterms:created xsi:type="dcterms:W3CDTF">2019-12-04T12:34:47Z</dcterms:created>
  <dcterms:modified xsi:type="dcterms:W3CDTF">2026-01-12T10:48:04Z</dcterms:modified>
</cp:coreProperties>
</file>