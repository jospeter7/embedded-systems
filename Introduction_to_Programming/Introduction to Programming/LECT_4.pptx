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69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peter Jonathan" userId="cd218e847753ee0b" providerId="LiveId" clId="{E265E5F1-6FA0-4A49-A91B-C74A6338A149}"/>
    <pc:docChg chg="modSld">
      <pc:chgData name="Jospeter Jonathan" userId="cd218e847753ee0b" providerId="LiveId" clId="{E265E5F1-6FA0-4A49-A91B-C74A6338A149}" dt="2026-01-12T10:38:43.990" v="7" actId="20577"/>
      <pc:docMkLst>
        <pc:docMk/>
      </pc:docMkLst>
      <pc:sldChg chg="modSp mod">
        <pc:chgData name="Jospeter Jonathan" userId="cd218e847753ee0b" providerId="LiveId" clId="{E265E5F1-6FA0-4A49-A91B-C74A6338A149}" dt="2026-01-12T10:38:43.990" v="7" actId="20577"/>
        <pc:sldMkLst>
          <pc:docMk/>
          <pc:sldMk cId="3335473186" sldId="256"/>
        </pc:sldMkLst>
        <pc:spChg chg="mod">
          <ac:chgData name="Jospeter Jonathan" userId="cd218e847753ee0b" providerId="LiveId" clId="{E265E5F1-6FA0-4A49-A91B-C74A6338A149}" dt="2026-01-12T10:38:43.990" v="7" actId="20577"/>
          <ac:spMkLst>
            <pc:docMk/>
            <pc:sldMk cId="3335473186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6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4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2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0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78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3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9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9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5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5463953-5896-48A5-AE52-D4E9D107C58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7414CF9-BF94-49DE-9A2A-2B8FCDCA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Principles </a:t>
            </a:r>
            <a:r>
              <a:rPr lang="en-US" dirty="0"/>
              <a:t>of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3335473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Operators </a:t>
            </a:r>
          </a:p>
          <a:p>
            <a:r>
              <a:rPr lang="en-US" sz="3200" dirty="0"/>
              <a:t> Arithmetic Operators </a:t>
            </a:r>
          </a:p>
          <a:p>
            <a:r>
              <a:rPr lang="en-US" sz="3200" dirty="0"/>
              <a:t> Relational Operators </a:t>
            </a:r>
          </a:p>
          <a:p>
            <a:r>
              <a:rPr lang="en-US" sz="3200" dirty="0"/>
              <a:t>Logical Operators </a:t>
            </a:r>
          </a:p>
          <a:p>
            <a:r>
              <a:rPr lang="en-US" sz="3200" dirty="0"/>
              <a:t> Increment and Decrement Operators</a:t>
            </a:r>
          </a:p>
        </p:txBody>
      </p:sp>
    </p:spTree>
    <p:extLst>
      <p:ext uri="{BB962C8B-B14F-4D97-AF65-F5344CB8AC3E}">
        <p14:creationId xmlns:p14="http://schemas.microsoft.com/office/powerpoint/2010/main" val="31977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An operator is a symbol, which helps the user to command the computer to do a certain mathematical or logical manipulations. </a:t>
            </a:r>
          </a:p>
          <a:p>
            <a:pPr algn="just"/>
            <a:r>
              <a:rPr lang="en-US" sz="2800" dirty="0"/>
              <a:t>Operators are used in programming language program to operate on data and variables.</a:t>
            </a:r>
          </a:p>
        </p:txBody>
      </p:sp>
    </p:spTree>
    <p:extLst>
      <p:ext uri="{BB962C8B-B14F-4D97-AF65-F5344CB8AC3E}">
        <p14:creationId xmlns:p14="http://schemas.microsoft.com/office/powerpoint/2010/main" val="221140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Operators can be classified as:</a:t>
            </a:r>
          </a:p>
          <a:p>
            <a:pPr marL="0" indent="0" algn="just">
              <a:buNone/>
            </a:pPr>
            <a:r>
              <a:rPr lang="en-US" sz="2800" dirty="0"/>
              <a:t>	 – Arithmetic operators </a:t>
            </a:r>
          </a:p>
          <a:p>
            <a:pPr marL="0" indent="0" algn="just">
              <a:buNone/>
            </a:pPr>
            <a:r>
              <a:rPr lang="en-US" sz="2800" dirty="0"/>
              <a:t>	– Relational Operators </a:t>
            </a:r>
          </a:p>
          <a:p>
            <a:pPr marL="0" indent="0" algn="just">
              <a:buNone/>
            </a:pPr>
            <a:r>
              <a:rPr lang="en-US" sz="2800" dirty="0"/>
              <a:t>	– Logical Operators </a:t>
            </a:r>
          </a:p>
          <a:p>
            <a:pPr marL="0" indent="0" algn="just">
              <a:buNone/>
            </a:pPr>
            <a:r>
              <a:rPr lang="en-US" sz="2800" dirty="0"/>
              <a:t>	– Increments and Decrement Operators</a:t>
            </a:r>
          </a:p>
          <a:p>
            <a:pPr marL="0" indent="0" algn="just">
              <a:buNone/>
            </a:pPr>
            <a:r>
              <a:rPr lang="en-US" sz="2800" dirty="0"/>
              <a:t>          -Assignment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229673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Arithmetic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an arithmetic operator with one or two arguments to add, subtract, multiply, and divide numeric values.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65" y="2875216"/>
            <a:ext cx="64865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1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Arithmetic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Example:</a:t>
            </a:r>
          </a:p>
          <a:p>
            <a:pPr marL="514350" indent="-514350">
              <a:buAutoNum type="romanLcPeriod"/>
            </a:pPr>
            <a:r>
              <a:rPr lang="en-US" sz="2800" dirty="0"/>
              <a:t>5 + 3 = 8 </a:t>
            </a:r>
          </a:p>
          <a:p>
            <a:pPr marL="514350" indent="-514350">
              <a:buAutoNum type="romanLcPeriod"/>
            </a:pPr>
            <a:r>
              <a:rPr lang="en-US" sz="2800" dirty="0"/>
              <a:t> 5 – 3 = 2 </a:t>
            </a:r>
          </a:p>
          <a:p>
            <a:pPr marL="514350" indent="-514350">
              <a:buAutoNum type="romanLcPeriod"/>
            </a:pPr>
            <a:r>
              <a:rPr lang="en-US" sz="2800" dirty="0"/>
              <a:t>5 * 3 = 15 </a:t>
            </a:r>
          </a:p>
          <a:p>
            <a:pPr marL="514350" indent="-514350">
              <a:buAutoNum type="romanLcPeriod"/>
            </a:pPr>
            <a:r>
              <a:rPr lang="en-US" sz="2800" dirty="0"/>
              <a:t>5 / 3 = 1 </a:t>
            </a:r>
          </a:p>
          <a:p>
            <a:pPr marL="514350" indent="-514350">
              <a:buAutoNum type="romanLcPeriod"/>
            </a:pPr>
            <a:r>
              <a:rPr lang="en-US" sz="2800" dirty="0"/>
              <a:t>5 % 3 = 2</a:t>
            </a:r>
          </a:p>
        </p:txBody>
      </p:sp>
    </p:spTree>
    <p:extLst>
      <p:ext uri="{BB962C8B-B14F-4D97-AF65-F5344CB8AC3E}">
        <p14:creationId xmlns:p14="http://schemas.microsoft.com/office/powerpoint/2010/main" val="37068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Arithmetic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*, / and % will be performed before + or - in any expression. </a:t>
            </a:r>
          </a:p>
          <a:p>
            <a:r>
              <a:rPr lang="en-US" sz="2800" dirty="0"/>
              <a:t> Brackets can be used to force a different order of evaluation to this.</a:t>
            </a:r>
          </a:p>
          <a:p>
            <a:r>
              <a:rPr lang="en-US" sz="2800" dirty="0"/>
              <a:t>Example</a:t>
            </a:r>
          </a:p>
          <a:p>
            <a:pPr lvl="1"/>
            <a:r>
              <a:rPr lang="en-US" sz="2600" dirty="0"/>
              <a:t> 2 + 5 * 4 – 3 = ?</a:t>
            </a:r>
          </a:p>
          <a:p>
            <a:pPr lvl="1"/>
            <a:r>
              <a:rPr lang="en-US" sz="2600" dirty="0"/>
              <a:t>  (2 + 5) * (4 – 3) = </a:t>
            </a:r>
          </a:p>
        </p:txBody>
      </p:sp>
    </p:spTree>
    <p:extLst>
      <p:ext uri="{BB962C8B-B14F-4D97-AF65-F5344CB8AC3E}">
        <p14:creationId xmlns:p14="http://schemas.microsoft.com/office/powerpoint/2010/main" val="417908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Arithmetic Operators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Here are some arithmetic expressions used within assignment statements: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/>
              <a:t> z = x + y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/>
              <a:t> no1 = x – y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/>
              <a:t> age = a * b + c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/>
              <a:t> velocity = distance / time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/>
              <a:t> force = mass * acceleration 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dirty="0"/>
              <a:t> count = count + 1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74878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Integer Arithmetic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/>
              <a:t> When an arithmetic operation is performed on two whole numbers or integers than such an operation is called as integer arithmetic.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/>
              <a:t>It always gives an integer as the result.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15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Example</a:t>
            </a:r>
          </a:p>
          <a:p>
            <a:r>
              <a:rPr lang="en-US" sz="2800" dirty="0"/>
              <a:t>Let x = 27 and y = 5 be two integer numbers. Then the integer operation leads to the following results: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+ y = 32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– y = 22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* y = 115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% y = 2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/ y = 5 </a:t>
            </a:r>
          </a:p>
        </p:txBody>
      </p:sp>
    </p:spTree>
    <p:extLst>
      <p:ext uri="{BB962C8B-B14F-4D97-AF65-F5344CB8AC3E}">
        <p14:creationId xmlns:p14="http://schemas.microsoft.com/office/powerpoint/2010/main" val="2597582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Floating-point Arithmetic</a:t>
            </a:r>
          </a:p>
          <a:p>
            <a:pPr algn="just"/>
            <a:r>
              <a:rPr lang="en-US" sz="3200" dirty="0"/>
              <a:t>When an arithmetic operation is preformed on two real numbers or fraction numbers such an operation is called floating-point arithmetic.</a:t>
            </a:r>
          </a:p>
        </p:txBody>
      </p:sp>
    </p:spTree>
    <p:extLst>
      <p:ext uri="{BB962C8B-B14F-4D97-AF65-F5344CB8AC3E}">
        <p14:creationId xmlns:p14="http://schemas.microsoft.com/office/powerpoint/2010/main" val="229381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 err="1"/>
              <a:t>Example</a:t>
            </a:r>
            <a:endParaRPr lang="es-ES" sz="3200" dirty="0"/>
          </a:p>
          <a:p>
            <a:r>
              <a:rPr lang="es-ES" sz="3200" dirty="0" err="1"/>
              <a:t>Let</a:t>
            </a:r>
            <a:r>
              <a:rPr lang="es-ES" sz="3200" dirty="0"/>
              <a:t> x = 14.0 and y = 4.0 </a:t>
            </a:r>
            <a:r>
              <a:rPr lang="es-ES" sz="3200" dirty="0" err="1"/>
              <a:t>then</a:t>
            </a:r>
            <a:r>
              <a:rPr lang="es-ES" sz="3200" dirty="0"/>
              <a:t> </a:t>
            </a:r>
          </a:p>
          <a:p>
            <a:pPr marL="514350" indent="-514350">
              <a:buFont typeface="+mj-lt"/>
              <a:buAutoNum type="romanLcPeriod"/>
            </a:pPr>
            <a:r>
              <a:rPr lang="es-ES" sz="3200" dirty="0"/>
              <a:t> x + y = 18.0 </a:t>
            </a:r>
          </a:p>
          <a:p>
            <a:pPr marL="514350" indent="-514350">
              <a:buFont typeface="+mj-lt"/>
              <a:buAutoNum type="romanLcPeriod"/>
            </a:pPr>
            <a:r>
              <a:rPr lang="es-ES" sz="3200" dirty="0"/>
              <a:t> x – y = 10.0 </a:t>
            </a:r>
          </a:p>
          <a:p>
            <a:pPr marL="514350" indent="-514350">
              <a:buFont typeface="+mj-lt"/>
              <a:buAutoNum type="romanLcPeriod"/>
            </a:pPr>
            <a:r>
              <a:rPr lang="es-ES" sz="3200" dirty="0"/>
              <a:t> x * y = 56.0 </a:t>
            </a:r>
          </a:p>
          <a:p>
            <a:pPr marL="514350" indent="-514350">
              <a:buFont typeface="+mj-lt"/>
              <a:buAutoNum type="romanLcPeriod"/>
            </a:pPr>
            <a:r>
              <a:rPr lang="es-ES" sz="3200" dirty="0"/>
              <a:t> x / y = 3.50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5787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operator that compares two values.  </a:t>
            </a:r>
          </a:p>
          <a:p>
            <a:r>
              <a:rPr lang="en-US" sz="2400" dirty="0"/>
              <a:t>For example, the expression: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expression will have a value of TRUE if the variable x is less than 5; </a:t>
            </a:r>
          </a:p>
          <a:p>
            <a:r>
              <a:rPr lang="en-US" sz="2400" dirty="0"/>
              <a:t>otherwise the value of the expression will be FALSE.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68" y="2939796"/>
            <a:ext cx="38290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49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operators are sometimes called comparison operators. </a:t>
            </a:r>
          </a:p>
          <a:p>
            <a:r>
              <a:rPr lang="en-US" dirty="0"/>
              <a:t> Expressions that contain relational operators are called relational expressions. </a:t>
            </a:r>
          </a:p>
          <a:p>
            <a:r>
              <a:rPr lang="en-US" dirty="0"/>
              <a:t> A simple relational expression contains only one relational operator and takes the following form: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exp1 and exp2 are expressions, which may be simple constants, variables or combination of them.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324" y="3678237"/>
            <a:ext cx="7958727" cy="77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8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are relational operators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25" y="2490787"/>
            <a:ext cx="78295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85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are relational operators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87" y="2932112"/>
            <a:ext cx="10245865" cy="27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93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Let x = 2 and y = 5 then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&lt; y = True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(x + 2) &gt; (y * 2) = False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(x + 3) &lt;= y = True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x != y = True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/>
              <a:t> y &gt; (3 + x) = False</a:t>
            </a:r>
          </a:p>
        </p:txBody>
      </p:sp>
    </p:spTree>
    <p:extLst>
      <p:ext uri="{BB962C8B-B14F-4D97-AF65-F5344CB8AC3E}">
        <p14:creationId xmlns:p14="http://schemas.microsoft.com/office/powerpoint/2010/main" val="389427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An operator that compare or evaluate logical and relational expressions. </a:t>
            </a:r>
          </a:p>
          <a:p>
            <a:r>
              <a:rPr lang="en-US" dirty="0"/>
              <a:t> The following are logical operators: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3436937"/>
            <a:ext cx="45339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6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1" dirty="0"/>
              <a:t>Logical AND</a:t>
            </a:r>
          </a:p>
          <a:p>
            <a:pPr algn="just"/>
            <a:r>
              <a:rPr lang="en-US" sz="2800" dirty="0"/>
              <a:t> This operator is used to evaluate two conditions or expressions with relational operators simultaneously. </a:t>
            </a:r>
          </a:p>
          <a:p>
            <a:pPr algn="just"/>
            <a:r>
              <a:rPr lang="en-US" sz="2800" dirty="0"/>
              <a:t> If both the expressions to the left and to the right of the logical operator is true then the whole compound expression is true.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44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812" y="2022474"/>
            <a:ext cx="8443774" cy="3413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22822" y="1656834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Logical AND</a:t>
            </a:r>
          </a:p>
        </p:txBody>
      </p:sp>
    </p:spTree>
    <p:extLst>
      <p:ext uri="{BB962C8B-B14F-4D97-AF65-F5344CB8AC3E}">
        <p14:creationId xmlns:p14="http://schemas.microsoft.com/office/powerpoint/2010/main" val="2919018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Logical AND</a:t>
            </a: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(a &gt; b) &amp;&amp; (x == 10)</a:t>
            </a:r>
          </a:p>
          <a:p>
            <a:r>
              <a:rPr lang="en-US" sz="2800" dirty="0"/>
              <a:t>The expression to the left is a &gt; b and that on the right is x == 10, the whole expression is true only if both expressions are true i.e., if a is greater than b and x is equal to 10.</a:t>
            </a:r>
          </a:p>
        </p:txBody>
      </p:sp>
    </p:spTree>
    <p:extLst>
      <p:ext uri="{BB962C8B-B14F-4D97-AF65-F5344CB8AC3E}">
        <p14:creationId xmlns:p14="http://schemas.microsoft.com/office/powerpoint/2010/main" val="196554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Logical AND</a:t>
            </a: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Given a = 2, b = 3 and c = 5, evaluate the following logical expressions:</a:t>
            </a:r>
          </a:p>
          <a:p>
            <a:r>
              <a:rPr lang="en-US" sz="2800" dirty="0"/>
              <a:t>i. (a &gt; b) &amp;&amp; (c != 5) = False</a:t>
            </a:r>
          </a:p>
          <a:p>
            <a:r>
              <a:rPr lang="en-US" sz="2800" dirty="0"/>
              <a:t> ii. (a &lt; b) &amp;&amp; (c &lt; b) = False </a:t>
            </a:r>
          </a:p>
          <a:p>
            <a:r>
              <a:rPr lang="en-US" sz="2800" dirty="0"/>
              <a:t>iii. (a &gt; b) &amp;&amp; (c == 5) = False </a:t>
            </a:r>
          </a:p>
          <a:p>
            <a:r>
              <a:rPr lang="en-US" sz="2800" dirty="0"/>
              <a:t>iv. (a &lt; b) &amp;&amp; (b &lt; c) = True</a:t>
            </a:r>
          </a:p>
        </p:txBody>
      </p:sp>
    </p:spTree>
    <p:extLst>
      <p:ext uri="{BB962C8B-B14F-4D97-AF65-F5344CB8AC3E}">
        <p14:creationId xmlns:p14="http://schemas.microsoft.com/office/powerpoint/2010/main" val="538877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Logical OR</a:t>
            </a:r>
          </a:p>
          <a:p>
            <a:pPr algn="just"/>
            <a:r>
              <a:rPr lang="en-US" sz="2800" dirty="0"/>
              <a:t> </a:t>
            </a:r>
            <a:r>
              <a:rPr lang="en-US" sz="3200" dirty="0"/>
              <a:t>The logical OR is used to combine two expressions or the condition evaluates to true if any one of the 2 expressions is true. </a:t>
            </a:r>
          </a:p>
          <a:p>
            <a:pPr algn="just"/>
            <a:r>
              <a:rPr lang="en-US" sz="3200" dirty="0"/>
              <a:t> The expression evaluates to true if any one of them is true or if both of them are true.</a:t>
            </a:r>
          </a:p>
        </p:txBody>
      </p:sp>
    </p:spTree>
    <p:extLst>
      <p:ext uri="{BB962C8B-B14F-4D97-AF65-F5344CB8AC3E}">
        <p14:creationId xmlns:p14="http://schemas.microsoft.com/office/powerpoint/2010/main" val="3236663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836" y="2851530"/>
            <a:ext cx="6507260" cy="268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86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OR</a:t>
            </a:r>
          </a:p>
          <a:p>
            <a:r>
              <a:rPr lang="en-US" sz="2800" dirty="0"/>
              <a:t> Example:</a:t>
            </a:r>
          </a:p>
          <a:p>
            <a:r>
              <a:rPr lang="en-US" sz="2800" dirty="0"/>
              <a:t>(a &lt; m) || (a &lt; n) </a:t>
            </a:r>
          </a:p>
          <a:p>
            <a:r>
              <a:rPr lang="en-US" sz="2800" dirty="0"/>
              <a:t>The expression evaluates to true if any one of them is true or if both of them are true.</a:t>
            </a:r>
          </a:p>
        </p:txBody>
      </p:sp>
    </p:spTree>
    <p:extLst>
      <p:ext uri="{BB962C8B-B14F-4D97-AF65-F5344CB8AC3E}">
        <p14:creationId xmlns:p14="http://schemas.microsoft.com/office/powerpoint/2010/main" val="2162000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Logical OR</a:t>
            </a: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Given a = 2, b = 3 and c = 5, evaluate the following logical expressions:</a:t>
            </a:r>
          </a:p>
          <a:p>
            <a:r>
              <a:rPr lang="en-US" sz="2800" dirty="0"/>
              <a:t>i. (a &gt; b) || (c != 5) = False </a:t>
            </a:r>
          </a:p>
          <a:p>
            <a:r>
              <a:rPr lang="en-US" sz="2800" dirty="0"/>
              <a:t>ii. (a &lt; b) || (c &lt; b) = True</a:t>
            </a:r>
          </a:p>
          <a:p>
            <a:r>
              <a:rPr lang="en-US" sz="2800" dirty="0"/>
              <a:t> iii. (a &gt; b) || (c == 5) = True </a:t>
            </a:r>
          </a:p>
          <a:p>
            <a:r>
              <a:rPr lang="en-US" sz="2800" dirty="0"/>
              <a:t>iv. (a &lt; b) || (b &lt; c) = True</a:t>
            </a:r>
          </a:p>
        </p:txBody>
      </p:sp>
    </p:spTree>
    <p:extLst>
      <p:ext uri="{BB962C8B-B14F-4D97-AF65-F5344CB8AC3E}">
        <p14:creationId xmlns:p14="http://schemas.microsoft.com/office/powerpoint/2010/main" val="1835333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NOT</a:t>
            </a:r>
          </a:p>
          <a:p>
            <a:pPr marL="0" indent="0">
              <a:buNone/>
            </a:pPr>
            <a:r>
              <a:rPr lang="en-US" sz="2800" dirty="0"/>
              <a:t>• The logical NOT operator takes single expression and evaluates to true if the expression is false and evaluates to false if the expression is true. </a:t>
            </a:r>
          </a:p>
          <a:p>
            <a:pPr marL="0" indent="0">
              <a:buNone/>
            </a:pPr>
            <a:r>
              <a:rPr lang="en-US" sz="2800" dirty="0"/>
              <a:t>• In other words it just reverses the value of the expression.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974" y="4802187"/>
            <a:ext cx="3961685" cy="130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04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NOT</a:t>
            </a:r>
          </a:p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! (x &gt;= y) </a:t>
            </a:r>
          </a:p>
          <a:p>
            <a:pPr marL="0" indent="0">
              <a:buNone/>
            </a:pPr>
            <a:r>
              <a:rPr lang="en-US" sz="2800" dirty="0"/>
              <a:t>The NOT expression evaluates to true only if the value of x is neither greater than or equal to y</a:t>
            </a:r>
          </a:p>
        </p:txBody>
      </p:sp>
    </p:spTree>
    <p:extLst>
      <p:ext uri="{BB962C8B-B14F-4D97-AF65-F5344CB8AC3E}">
        <p14:creationId xmlns:p14="http://schemas.microsoft.com/office/powerpoint/2010/main" val="720178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NOT</a:t>
            </a:r>
          </a:p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Given a = 2, b = 3 and c = 5, evaluate the following logical expressions:</a:t>
            </a:r>
          </a:p>
          <a:p>
            <a:pPr marL="571500" indent="-571500">
              <a:buAutoNum type="romanLcParenR"/>
            </a:pPr>
            <a:r>
              <a:rPr lang="en-US" sz="2800" dirty="0"/>
              <a:t>!(a &gt; b) = True </a:t>
            </a:r>
          </a:p>
          <a:p>
            <a:pPr marL="571500" indent="-571500">
              <a:buAutoNum type="romanLcParenR"/>
            </a:pPr>
            <a:r>
              <a:rPr lang="en-US" sz="2800" dirty="0"/>
              <a:t> !(a &lt; b) = False </a:t>
            </a:r>
          </a:p>
          <a:p>
            <a:pPr marL="571500" indent="-571500">
              <a:buAutoNum type="romanLcParenR"/>
            </a:pPr>
            <a:r>
              <a:rPr lang="en-US" sz="2800" dirty="0"/>
              <a:t>!(a &gt; b || c == 5) = False</a:t>
            </a:r>
          </a:p>
        </p:txBody>
      </p:sp>
    </p:spTree>
    <p:extLst>
      <p:ext uri="{BB962C8B-B14F-4D97-AF65-F5344CB8AC3E}">
        <p14:creationId xmlns:p14="http://schemas.microsoft.com/office/powerpoint/2010/main" val="135702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Increment and Decrement Operators</a:t>
            </a:r>
          </a:p>
          <a:p>
            <a:pPr marL="0" indent="0">
              <a:buNone/>
            </a:pPr>
            <a:r>
              <a:rPr lang="en-US" sz="2800" dirty="0"/>
              <a:t>• The increment and decrement operators are one of the unary operators which are very useful in programming language. </a:t>
            </a:r>
          </a:p>
          <a:p>
            <a:pPr marL="0" indent="0">
              <a:buNone/>
            </a:pPr>
            <a:r>
              <a:rPr lang="en-US" sz="2800" dirty="0"/>
              <a:t>• They are extensively used in loops. </a:t>
            </a:r>
          </a:p>
          <a:p>
            <a:pPr marL="0" indent="0">
              <a:buNone/>
            </a:pPr>
            <a:r>
              <a:rPr lang="en-US" sz="2800" dirty="0"/>
              <a:t>• The syntax of the operators is given below:</a:t>
            </a:r>
          </a:p>
          <a:p>
            <a:pPr marL="0" indent="0">
              <a:buNone/>
            </a:pPr>
            <a:r>
              <a:rPr lang="en-US" sz="2800" dirty="0"/>
              <a:t>	++ variable name,  variable name++</a:t>
            </a:r>
          </a:p>
          <a:p>
            <a:pPr marL="0" indent="0">
              <a:buNone/>
            </a:pPr>
            <a:r>
              <a:rPr lang="en-US" sz="2800" dirty="0"/>
              <a:t> 	– –variable name,   variable name– –</a:t>
            </a:r>
          </a:p>
        </p:txBody>
      </p:sp>
    </p:spTree>
    <p:extLst>
      <p:ext uri="{BB962C8B-B14F-4D97-AF65-F5344CB8AC3E}">
        <p14:creationId xmlns:p14="http://schemas.microsoft.com/office/powerpoint/2010/main" val="181717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/>
              <a:t>Increment and Decrement Operators</a:t>
            </a:r>
          </a:p>
          <a:p>
            <a:pPr marL="0" indent="0" algn="just">
              <a:buNone/>
            </a:pPr>
            <a:r>
              <a:rPr lang="en-US" sz="3200" dirty="0"/>
              <a:t>• The increment operator ++ adds the value 1 to the current value of operand. </a:t>
            </a:r>
          </a:p>
          <a:p>
            <a:pPr marL="0" indent="0" algn="just">
              <a:buNone/>
            </a:pPr>
            <a:r>
              <a:rPr lang="en-US" sz="3200" dirty="0"/>
              <a:t>• The decrement operator – – subtracts the value 1 from the current value of operand. </a:t>
            </a:r>
          </a:p>
        </p:txBody>
      </p:sp>
    </p:spTree>
    <p:extLst>
      <p:ext uri="{BB962C8B-B14F-4D97-AF65-F5344CB8AC3E}">
        <p14:creationId xmlns:p14="http://schemas.microsoft.com/office/powerpoint/2010/main" val="4260557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and Decrement Operators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481" y="2333222"/>
            <a:ext cx="7611997" cy="452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30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Increment and Decrement Operators</a:t>
            </a:r>
          </a:p>
          <a:p>
            <a:pPr algn="just"/>
            <a:r>
              <a:rPr lang="en-US" sz="3200" dirty="0"/>
              <a:t>A prefix operator first adds 1 to the operand and then the result is assigned to the variable on the left. </a:t>
            </a:r>
          </a:p>
          <a:p>
            <a:pPr algn="just"/>
            <a:r>
              <a:rPr lang="en-US" sz="3200" dirty="0"/>
              <a:t>On the other hand, a postfix operator first assigns the value to the variable on the left and then increments the operand. </a:t>
            </a:r>
          </a:p>
        </p:txBody>
      </p:sp>
    </p:spTree>
    <p:extLst>
      <p:ext uri="{BB962C8B-B14F-4D97-AF65-F5344CB8AC3E}">
        <p14:creationId xmlns:p14="http://schemas.microsoft.com/office/powerpoint/2010/main" val="1669012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Increment and Decrement Operators</a:t>
            </a:r>
          </a:p>
          <a:p>
            <a:r>
              <a:rPr lang="en-US" sz="2800" dirty="0"/>
              <a:t>Example 1:</a:t>
            </a:r>
          </a:p>
          <a:p>
            <a:r>
              <a:rPr lang="en-US" sz="2800" dirty="0"/>
              <a:t>x = 4      y  =  ++x      PRINT  x ,      PRINT  y</a:t>
            </a:r>
          </a:p>
          <a:p>
            <a:r>
              <a:rPr lang="en-US" sz="2800" dirty="0"/>
              <a:t>What is the output?  </a:t>
            </a:r>
          </a:p>
          <a:p>
            <a:r>
              <a:rPr lang="en-US" sz="2800" dirty="0"/>
              <a:t>  5 </a:t>
            </a:r>
          </a:p>
          <a:p>
            <a:r>
              <a:rPr lang="en-US" sz="2800" dirty="0"/>
              <a:t>  5 </a:t>
            </a:r>
          </a:p>
        </p:txBody>
      </p:sp>
    </p:spTree>
    <p:extLst>
      <p:ext uri="{BB962C8B-B14F-4D97-AF65-F5344CB8AC3E}">
        <p14:creationId xmlns:p14="http://schemas.microsoft.com/office/powerpoint/2010/main" val="29729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Increment and Decrement Operators</a:t>
            </a:r>
          </a:p>
          <a:p>
            <a:r>
              <a:rPr lang="en-US" sz="2800" dirty="0"/>
              <a:t>Example 2:</a:t>
            </a:r>
          </a:p>
          <a:p>
            <a:r>
              <a:rPr lang="en-US" sz="2800" dirty="0"/>
              <a:t>x = 3     y = x++           PRINT x,              PRINT y </a:t>
            </a:r>
          </a:p>
          <a:p>
            <a:r>
              <a:rPr lang="en-US" sz="2800" dirty="0"/>
              <a:t>What is the output?    </a:t>
            </a:r>
          </a:p>
          <a:p>
            <a:r>
              <a:rPr lang="en-US" sz="2800" dirty="0"/>
              <a:t>3 </a:t>
            </a:r>
          </a:p>
          <a:p>
            <a:r>
              <a:rPr lang="en-US" sz="2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82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Increment and Decrement Operators</a:t>
            </a:r>
          </a:p>
          <a:p>
            <a:r>
              <a:rPr lang="en-US" sz="2800" dirty="0"/>
              <a:t>Example 3:</a:t>
            </a:r>
          </a:p>
          <a:p>
            <a:r>
              <a:rPr lang="en-US" sz="2800" dirty="0"/>
              <a:t>x = 3   y = --x             PRINT x ,                 PRINT y </a:t>
            </a:r>
          </a:p>
          <a:p>
            <a:r>
              <a:rPr lang="en-US" sz="2800" dirty="0"/>
              <a:t>What is the output?   </a:t>
            </a:r>
          </a:p>
          <a:p>
            <a:r>
              <a:rPr lang="en-US" sz="2800" dirty="0"/>
              <a:t> 2 </a:t>
            </a:r>
          </a:p>
          <a:p>
            <a:r>
              <a:rPr lang="en-US" sz="28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04994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Increment and Decrement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Increment and Decrement Operators</a:t>
            </a:r>
          </a:p>
          <a:p>
            <a:r>
              <a:rPr lang="en-US" sz="2800" dirty="0"/>
              <a:t>Example 4:</a:t>
            </a:r>
          </a:p>
          <a:p>
            <a:r>
              <a:rPr lang="en-US" sz="2800" dirty="0"/>
              <a:t>x = 3        y = x- -                    PRINT x,                PRINT y </a:t>
            </a:r>
          </a:p>
          <a:p>
            <a:r>
              <a:rPr lang="en-US" sz="2800" dirty="0"/>
              <a:t>What is the output?    </a:t>
            </a:r>
          </a:p>
          <a:p>
            <a:r>
              <a:rPr lang="en-US" sz="2800" dirty="0"/>
              <a:t>3</a:t>
            </a:r>
          </a:p>
          <a:p>
            <a:r>
              <a:rPr lang="en-US" sz="28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42510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269" y="3027415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86353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184</TotalTime>
  <Words>1399</Words>
  <Application>Microsoft Office PowerPoint</Application>
  <PresentationFormat>Widescreen</PresentationFormat>
  <Paragraphs>192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Rockwell</vt:lpstr>
      <vt:lpstr>Rockwell Condensed</vt:lpstr>
      <vt:lpstr>Wingdings</vt:lpstr>
      <vt:lpstr>Wood Type</vt:lpstr>
      <vt:lpstr>Principles of Programming</vt:lpstr>
      <vt:lpstr>Contents</vt:lpstr>
      <vt:lpstr>Operators</vt:lpstr>
      <vt:lpstr>Operators</vt:lpstr>
      <vt:lpstr> Arithmetic Operators </vt:lpstr>
      <vt:lpstr> Arithmetic Operators </vt:lpstr>
      <vt:lpstr> Arithmetic Operators </vt:lpstr>
      <vt:lpstr> Arithmetic Operators </vt:lpstr>
      <vt:lpstr> Arithmetic Operators</vt:lpstr>
      <vt:lpstr> Arithmetic Operators</vt:lpstr>
      <vt:lpstr> Arithmetic Operators</vt:lpstr>
      <vt:lpstr> Arithmetic Operators</vt:lpstr>
      <vt:lpstr>Relational Operators</vt:lpstr>
      <vt:lpstr>Relational Operators</vt:lpstr>
      <vt:lpstr>Relational Operators</vt:lpstr>
      <vt:lpstr>Relational Operators</vt:lpstr>
      <vt:lpstr>Relational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Increment and Decrement Operators</vt:lpstr>
      <vt:lpstr>Increment and Decrement Operators</vt:lpstr>
      <vt:lpstr>Increment and Decrement Operators</vt:lpstr>
      <vt:lpstr>Increment and Decrement Operators</vt:lpstr>
      <vt:lpstr>Increment and Decrement Operators</vt:lpstr>
      <vt:lpstr>Increment and Decrement Operators</vt:lpstr>
      <vt:lpstr>Increment and Decrement Operators</vt:lpstr>
      <vt:lpstr>END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 111: Principles of Programming</dc:title>
  <dc:creator>Siphael Betuel</dc:creator>
  <cp:lastModifiedBy>Jospeter Jonathan</cp:lastModifiedBy>
  <cp:revision>32</cp:revision>
  <dcterms:created xsi:type="dcterms:W3CDTF">2020-12-20T06:51:51Z</dcterms:created>
  <dcterms:modified xsi:type="dcterms:W3CDTF">2026-01-12T10:38:47Z</dcterms:modified>
</cp:coreProperties>
</file>