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1" r:id="rId1"/>
  </p:sldMasterIdLst>
  <p:notesMasterIdLst>
    <p:notesMasterId r:id="rId21"/>
  </p:notesMasterIdLst>
  <p:handoutMasterIdLst>
    <p:handoutMasterId r:id="rId22"/>
  </p:handoutMasterIdLst>
  <p:sldIdLst>
    <p:sldId id="279" r:id="rId2"/>
    <p:sldId id="278" r:id="rId3"/>
    <p:sldId id="270" r:id="rId4"/>
    <p:sldId id="271" r:id="rId5"/>
    <p:sldId id="326" r:id="rId6"/>
    <p:sldId id="327" r:id="rId7"/>
    <p:sldId id="335" r:id="rId8"/>
    <p:sldId id="336" r:id="rId9"/>
    <p:sldId id="328" r:id="rId10"/>
    <p:sldId id="337" r:id="rId11"/>
    <p:sldId id="338" r:id="rId12"/>
    <p:sldId id="329" r:id="rId13"/>
    <p:sldId id="330" r:id="rId14"/>
    <p:sldId id="331" r:id="rId15"/>
    <p:sldId id="332" r:id="rId16"/>
    <p:sldId id="333" r:id="rId17"/>
    <p:sldId id="340" r:id="rId18"/>
    <p:sldId id="334" r:id="rId19"/>
    <p:sldId id="325" r:id="rId2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0" d="100"/>
          <a:sy n="70" d="100"/>
        </p:scale>
        <p:origin x="-3234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peter Jonathan" userId="cd218e847753ee0b" providerId="LiveId" clId="{E265E5F1-6FA0-4A49-A91B-C74A6338A149}"/>
    <pc:docChg chg="modSld">
      <pc:chgData name="Jospeter Jonathan" userId="cd218e847753ee0b" providerId="LiveId" clId="{E265E5F1-6FA0-4A49-A91B-C74A6338A149}" dt="2026-01-12T08:15:52.711" v="7" actId="20577"/>
      <pc:docMkLst>
        <pc:docMk/>
      </pc:docMkLst>
      <pc:sldChg chg="modSp mod">
        <pc:chgData name="Jospeter Jonathan" userId="cd218e847753ee0b" providerId="LiveId" clId="{E265E5F1-6FA0-4A49-A91B-C74A6338A149}" dt="2026-01-12T08:15:52.711" v="7" actId="20577"/>
        <pc:sldMkLst>
          <pc:docMk/>
          <pc:sldMk cId="0" sldId="279"/>
        </pc:sldMkLst>
        <pc:spChg chg="mod">
          <ac:chgData name="Jospeter Jonathan" userId="cd218e847753ee0b" providerId="LiveId" clId="{E265E5F1-6FA0-4A49-A91B-C74A6338A149}" dt="2026-01-12T08:15:52.711" v="7" actId="20577"/>
          <ac:spMkLst>
            <pc:docMk/>
            <pc:sldMk cId="0" sldId="279"/>
            <ac:spMk id="4098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imes New Roman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01F6DDF-691F-458C-9C4A-B07B626A341E}" type="datetimeFigureOut">
              <a:rPr lang="en-US" altLang="en-US"/>
              <a:pPr>
                <a:defRPr/>
              </a:pPr>
              <a:t>1/12/2026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imes New Roman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38C50DCF-4A96-4961-AE53-0B808F3704A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2896069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3DDF4D3B-0B8B-4850-91F7-3B787A91E0DB}" type="datetimeFigureOut">
              <a:rPr lang="en-US" altLang="en-US"/>
              <a:pPr>
                <a:defRPr/>
              </a:pPr>
              <a:t>1/12/2026</a:t>
            </a:fld>
            <a:endParaRPr lang="en-US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52A130AF-FAC2-49B0-B9D5-2C984DCF7FF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798500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AB852D5C-7503-430F-AD64-4BC964369A4A}" type="slidenum">
              <a:rPr lang="en-US" altLang="en-US" sz="1200" smtClean="0"/>
              <a:pPr/>
              <a:t>2</a:t>
            </a:fld>
            <a:endParaRPr lang="en-US" alt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5800" y="1346947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85800" y="4282763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85800" y="1484779"/>
            <a:ext cx="7772400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7234780" y="4107023"/>
            <a:ext cx="914400" cy="914400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59333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6400" b="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2805" y="6272785"/>
            <a:ext cx="4745736" cy="365125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44280" y="4227195"/>
            <a:ext cx="895401" cy="640080"/>
          </a:xfrm>
        </p:spPr>
        <p:txBody>
          <a:bodyPr/>
          <a:lstStyle>
            <a:lvl1pPr>
              <a:defRPr sz="2800" b="1"/>
            </a:lvl1pPr>
          </a:lstStyle>
          <a:p>
            <a:pPr>
              <a:defRPr/>
            </a:pPr>
            <a:fld id="{5B6F6CFB-C67A-4577-8232-8AE0783E4545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47506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638D92-F524-4DE2-899B-965100DC5AC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3969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099" y="6272784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0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pPr>
              <a:defRPr/>
            </a:pPr>
            <a:fld id="{D120C19F-FEAA-4938-9829-E3D381A022A1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8394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263147-E963-4485-A582-A8A7E00DF50B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511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04FCCD-64D0-43E9-84EA-DBD22FC81879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6214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333DC3-50F7-4165-9E04-2F78E56393A2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59349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B769D1-D755-40B5-9CD0-2E778FC84C7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809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02B895-656D-4CC4-A03B-5033B27F97B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67033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82220D-502F-4BDA-A8A2-CF66B78F6CE1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0645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D47681-E4E3-4A1D-886A-F102DEFBF511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60223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1F056DF-5A27-4DC0-84B1-5E7E2973B729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65541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 spc="-70" baseline="0">
                <a:solidFill>
                  <a:srgbClr val="FFFFFF"/>
                </a:solidFill>
                <a:latin typeface="+mn-lt"/>
              </a:defRPr>
            </a:lvl1pPr>
          </a:lstStyle>
          <a:p>
            <a:pPr>
              <a:defRPr/>
            </a:pPr>
            <a:fld id="{F9CA1D2E-8BF9-4D96-8E65-B3212CC83F52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3561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457200" y="1066800"/>
            <a:ext cx="8229600" cy="1828800"/>
          </a:xfrm>
        </p:spPr>
        <p:txBody>
          <a:bodyPr/>
          <a:lstStyle/>
          <a:p>
            <a:pPr algn="ctr">
              <a:defRPr/>
            </a:pPr>
            <a:r>
              <a:rPr lang="en-US" b="1" dirty="0"/>
              <a:t>PRINCIPLES OF PROGRAMMING</a:t>
            </a:r>
            <a:endParaRPr lang="en-US" dirty="0">
              <a:solidFill>
                <a:schemeClr val="accent6"/>
              </a:solidFill>
              <a:ea typeface="+mj-ea"/>
              <a:cs typeface="+mj-cs"/>
            </a:endParaRPr>
          </a:p>
        </p:txBody>
      </p:sp>
      <p:sp>
        <p:nvSpPr>
          <p:cNvPr id="4099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6AFA0C0-81E4-47C2-B2FC-AB5673827564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US" altLang="en-US" sz="1400"/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152400" y="3124200"/>
            <a:ext cx="8229600" cy="18288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MS PGothic" panose="020B0600070205080204" pitchFamily="34" charset="-128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r>
              <a:rPr lang="en-US" b="1" kern="0" dirty="0"/>
              <a:t>An overview of programming languages</a:t>
            </a:r>
            <a:endParaRPr lang="en-US" kern="0" dirty="0">
              <a:solidFill>
                <a:schemeClr val="accent6"/>
              </a:solidFill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7772400" cy="1371600"/>
          </a:xfrm>
        </p:spPr>
        <p:txBody>
          <a:bodyPr/>
          <a:lstStyle/>
          <a:p>
            <a:pPr>
              <a:defRPr/>
            </a:pPr>
            <a:r>
              <a:rPr lang="en-US" dirty="0">
                <a:ea typeface="ＭＳ Ｐゴシック" charset="0"/>
                <a:cs typeface="+mj-cs"/>
              </a:rPr>
              <a:t>What are Program and programming language?</a:t>
            </a:r>
          </a:p>
        </p:txBody>
      </p:sp>
      <p:sp>
        <p:nvSpPr>
          <p:cNvPr id="512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24600"/>
            <a:ext cx="1905000" cy="381000"/>
          </a:xfr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72234AA4-2525-4EF7-9027-F493C1C0060F}" type="slidenum">
              <a:rPr lang="en-US" altLang="en-US" sz="1400" smtClean="0">
                <a:latin typeface="Tahoma" panose="020B0604030504040204" pitchFamily="34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400">
              <a:latin typeface="Tahoma" panose="020B0604030504040204" pitchFamily="34" charset="0"/>
            </a:endParaRPr>
          </a:p>
        </p:txBody>
      </p:sp>
      <p:sp>
        <p:nvSpPr>
          <p:cNvPr id="5123" name="Rectangle 3"/>
          <p:cNvSpPr>
            <a:spLocks noChangeArrowheads="1"/>
          </p:cNvSpPr>
          <p:nvPr/>
        </p:nvSpPr>
        <p:spPr bwMode="auto">
          <a:xfrm>
            <a:off x="457200" y="1447800"/>
            <a:ext cx="7467600" cy="5386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just">
              <a:spcBef>
                <a:spcPct val="0"/>
              </a:spcBef>
            </a:pPr>
            <a:r>
              <a:rPr lang="en-US" altLang="en-US" sz="2800" dirty="0"/>
              <a:t>Program : I</a:t>
            </a:r>
            <a:r>
              <a:rPr lang="en-US" sz="2800" dirty="0"/>
              <a:t>s a collection of instructions that can be executed by a computer to perform a specific task.</a:t>
            </a:r>
          </a:p>
          <a:p>
            <a:pPr lvl="1" algn="just">
              <a:spcBef>
                <a:spcPct val="0"/>
              </a:spcBef>
            </a:pPr>
            <a:r>
              <a:rPr lang="en-US" sz="2400" dirty="0"/>
              <a:t>Examples: Microsoft (MS) Excel, MS PowerPoint, MS Word, Internet Explorer, Google Chrome, Opera, …</a:t>
            </a:r>
            <a:endParaRPr lang="en-US" altLang="en-US" sz="2800" dirty="0"/>
          </a:p>
          <a:p>
            <a:pPr algn="just">
              <a:spcBef>
                <a:spcPct val="0"/>
              </a:spcBef>
            </a:pPr>
            <a:r>
              <a:rPr lang="en-US" altLang="en-US" sz="2800" dirty="0"/>
              <a:t>Programming Language : A formal language that is intended for the creation of computer programs.</a:t>
            </a:r>
          </a:p>
          <a:p>
            <a:pPr lvl="1" algn="just">
              <a:spcBef>
                <a:spcPct val="0"/>
              </a:spcBef>
            </a:pPr>
            <a:r>
              <a:rPr lang="en-US" altLang="en-US" sz="2400" dirty="0"/>
              <a:t>Computer programs are written/created by using programming languages.</a:t>
            </a:r>
          </a:p>
          <a:p>
            <a:pPr lvl="1" algn="just">
              <a:spcBef>
                <a:spcPct val="0"/>
              </a:spcBef>
            </a:pPr>
            <a:r>
              <a:rPr lang="en-US" altLang="en-US" sz="2400" dirty="0"/>
              <a:t>Examples:</a:t>
            </a:r>
            <a:r>
              <a:rPr lang="en-GB" sz="2400" dirty="0"/>
              <a:t>Python, Ruby, Java, JavaScript, C, C++, and C#</a:t>
            </a:r>
            <a:endParaRPr lang="en-US" alt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ea typeface="ＭＳ Ｐゴシック" charset="0"/>
                <a:cs typeface="+mj-cs"/>
              </a:rPr>
              <a:t>Why study programming languages?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defRPr/>
            </a:pPr>
            <a:r>
              <a:rPr lang="en-US" sz="2800" dirty="0">
                <a:ea typeface="ＭＳ Ｐゴシック" charset="0"/>
                <a:cs typeface="+mn-cs"/>
              </a:rPr>
              <a:t>Programming  languages  are  important   for  students  in  most science disciplines.</a:t>
            </a:r>
          </a:p>
          <a:p>
            <a:pPr lvl="1" algn="just">
              <a:defRPr/>
            </a:pPr>
            <a:r>
              <a:rPr lang="en-US" sz="2600" dirty="0">
                <a:ea typeface="ＭＳ Ｐゴシック" charset="0"/>
              </a:rPr>
              <a:t>Reason:</a:t>
            </a:r>
          </a:p>
          <a:p>
            <a:pPr lvl="2" algn="just">
              <a:defRPr/>
            </a:pPr>
            <a:r>
              <a:rPr lang="en-US" sz="2400" dirty="0">
                <a:ea typeface="ＭＳ Ｐゴシック" charset="0"/>
                <a:cs typeface="+mn-cs"/>
              </a:rPr>
              <a:t>They  are  the  primary  tools  of  the  central  activity  of   any science.  </a:t>
            </a:r>
          </a:p>
          <a:p>
            <a:pPr lvl="3" algn="just">
              <a:defRPr/>
            </a:pPr>
            <a:r>
              <a:rPr lang="en-GB" sz="2400" dirty="0">
                <a:ea typeface="ＭＳ Ｐゴシック" charset="0"/>
              </a:rPr>
              <a:t>A programming language lets you express computational tasks in certain ways.</a:t>
            </a:r>
            <a:endParaRPr lang="en-US" sz="2400" dirty="0">
              <a:ea typeface="ＭＳ Ｐゴシック" charset="0"/>
            </a:endParaRPr>
          </a:p>
          <a:p>
            <a:pPr marL="0" indent="0" algn="just" eaLnBrk="1" hangingPunct="1">
              <a:buNone/>
              <a:defRPr/>
            </a:pPr>
            <a:endParaRPr lang="en-US" sz="2800" dirty="0">
              <a:ea typeface="ＭＳ Ｐゴシック" charset="0"/>
              <a:cs typeface="+mn-cs"/>
            </a:endParaRPr>
          </a:p>
        </p:txBody>
      </p:sp>
      <p:sp>
        <p:nvSpPr>
          <p:cNvPr id="71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65C53D41-02BD-4927-BB95-1DAF593FDBFC}" type="slidenum">
              <a:rPr lang="en-US" altLang="en-US" sz="1400" smtClean="0">
                <a:latin typeface="Tahoma" panose="020B0604030504040204" pitchFamily="34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4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0"/>
            <a:ext cx="8763000" cy="10668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ea typeface="ＭＳ Ｐゴシック" charset="0"/>
                <a:cs typeface="+mj-cs"/>
              </a:rPr>
              <a:t>Why study programming languages?   </a:t>
            </a:r>
            <a:r>
              <a:rPr lang="en-US" sz="2400" dirty="0">
                <a:ea typeface="ＭＳ Ｐゴシック" charset="0"/>
                <a:cs typeface="+mj-cs"/>
              </a:rPr>
              <a:t>(cont.)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066800"/>
            <a:ext cx="8153400" cy="5562600"/>
          </a:xfrm>
        </p:spPr>
        <p:txBody>
          <a:bodyPr>
            <a:normAutofit fontScale="92500" lnSpcReduction="10000"/>
          </a:bodyPr>
          <a:lstStyle/>
          <a:p>
            <a:pPr algn="just" eaLnBrk="1" hangingPunct="1">
              <a:lnSpc>
                <a:spcPct val="90000"/>
              </a:lnSpc>
              <a:defRPr/>
            </a:pPr>
            <a:r>
              <a:rPr lang="en-US" sz="2800" dirty="0">
                <a:ea typeface="ＭＳ Ｐゴシック" charset="0"/>
                <a:cs typeface="+mn-cs"/>
              </a:rPr>
              <a:t>To improve your ability to develop effective algorithms and to improve your use of your existing programming language.</a:t>
            </a:r>
          </a:p>
          <a:p>
            <a:pPr lvl="1" algn="just">
              <a:defRPr/>
            </a:pPr>
            <a:r>
              <a:rPr lang="en-US" sz="2600" dirty="0">
                <a:ea typeface="ＭＳ Ｐゴシック" charset="0"/>
              </a:rPr>
              <a:t>Can help you improve algorithm efficiency.</a:t>
            </a:r>
          </a:p>
          <a:p>
            <a:pPr lvl="2" algn="just">
              <a:defRPr/>
            </a:pPr>
            <a:r>
              <a:rPr lang="en-US" sz="2400" dirty="0">
                <a:ea typeface="ＭＳ Ｐゴシック" charset="0"/>
                <a:cs typeface="+mn-cs"/>
              </a:rPr>
              <a:t>Save resources like time, computing power, …</a:t>
            </a:r>
          </a:p>
          <a:p>
            <a:pPr algn="just" eaLnBrk="1" hangingPunct="1">
              <a:lnSpc>
                <a:spcPct val="90000"/>
              </a:lnSpc>
              <a:defRPr/>
            </a:pPr>
            <a:r>
              <a:rPr lang="en-US" sz="2800" dirty="0">
                <a:ea typeface="ＭＳ Ｐゴシック" charset="0"/>
                <a:cs typeface="+mn-cs"/>
              </a:rPr>
              <a:t>To increase your vocabulary of useful programming constructs.</a:t>
            </a:r>
          </a:p>
          <a:p>
            <a:pPr lvl="1" algn="just">
              <a:defRPr/>
            </a:pPr>
            <a:r>
              <a:rPr lang="en-US" sz="2600" dirty="0">
                <a:ea typeface="ＭＳ Ｐゴシック" charset="0"/>
              </a:rPr>
              <a:t>Learn more programming concepts.</a:t>
            </a:r>
            <a:endParaRPr lang="en-US" sz="2600" dirty="0">
              <a:ea typeface="ＭＳ Ｐゴシック" charset="0"/>
              <a:cs typeface="+mn-cs"/>
            </a:endParaRPr>
          </a:p>
          <a:p>
            <a:pPr algn="just" eaLnBrk="1" hangingPunct="1">
              <a:lnSpc>
                <a:spcPct val="90000"/>
              </a:lnSpc>
              <a:defRPr/>
            </a:pPr>
            <a:r>
              <a:rPr lang="en-US" sz="2800" dirty="0">
                <a:ea typeface="ＭＳ Ｐゴシック" charset="0"/>
                <a:cs typeface="+mn-cs"/>
              </a:rPr>
              <a:t>To allow a better choice of programming languages.</a:t>
            </a:r>
          </a:p>
          <a:p>
            <a:pPr lvl="1" algn="just">
              <a:defRPr/>
            </a:pPr>
            <a:r>
              <a:rPr lang="en-US" sz="2600" dirty="0">
                <a:ea typeface="ＭＳ Ｐゴシック" charset="0"/>
              </a:rPr>
              <a:t>Be able to choose an appropriate programming language for solving a specific case/problem.</a:t>
            </a:r>
            <a:endParaRPr lang="en-US" sz="2600" dirty="0">
              <a:ea typeface="ＭＳ Ｐゴシック" charset="0"/>
              <a:cs typeface="+mn-cs"/>
            </a:endParaRPr>
          </a:p>
          <a:p>
            <a:pPr algn="just" eaLnBrk="1" hangingPunct="1">
              <a:lnSpc>
                <a:spcPct val="90000"/>
              </a:lnSpc>
              <a:defRPr/>
            </a:pPr>
            <a:r>
              <a:rPr lang="en-US" sz="2800" dirty="0">
                <a:ea typeface="ＭＳ Ｐゴシック" charset="0"/>
                <a:cs typeface="+mn-cs"/>
              </a:rPr>
              <a:t>To make it easier to learn a new language.</a:t>
            </a:r>
          </a:p>
          <a:p>
            <a:pPr lvl="1" algn="just">
              <a:defRPr/>
            </a:pPr>
            <a:r>
              <a:rPr lang="en-US" sz="2600" dirty="0">
                <a:ea typeface="ＭＳ Ｐゴシック" charset="0"/>
              </a:rPr>
              <a:t>The programming languages have some sort of similarities as you will see with time.</a:t>
            </a:r>
            <a:endParaRPr lang="en-US" sz="2600" dirty="0">
              <a:ea typeface="ＭＳ Ｐゴシック" charset="0"/>
              <a:cs typeface="+mn-cs"/>
            </a:endParaRPr>
          </a:p>
        </p:txBody>
      </p:sp>
      <p:sp>
        <p:nvSpPr>
          <p:cNvPr id="81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04397C70-B452-40F5-AE6B-9A56ADB2BE22}" type="slidenum">
              <a:rPr lang="en-US" altLang="en-US" sz="1400" smtClean="0">
                <a:latin typeface="Tahoma" panose="020B0604030504040204" pitchFamily="34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4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3810000"/>
            <a:ext cx="8458200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228528" tIns="0" rIns="0" bIns="0">
            <a:spAutoFit/>
          </a:bodyPr>
          <a:lstStyle>
            <a:lvl1pPr marL="1203325" indent="-3952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buFontTx/>
              <a:buChar char="•"/>
            </a:pPr>
            <a:r>
              <a:rPr lang="en-US" altLang="en-US" dirty="0">
                <a:latin typeface="+mj-lt"/>
                <a:cs typeface="Times New Roman" panose="02020603050405020304" pitchFamily="18" charset="0"/>
              </a:rPr>
              <a:t> Machine languages</a:t>
            </a:r>
          </a:p>
          <a:p>
            <a:pPr>
              <a:buFontTx/>
              <a:buChar char="•"/>
            </a:pPr>
            <a:endParaRPr lang="en-US" altLang="en-US" dirty="0">
              <a:latin typeface="+mj-lt"/>
              <a:cs typeface="Times New Roman" panose="02020603050405020304" pitchFamily="18" charset="0"/>
            </a:endParaRPr>
          </a:p>
          <a:p>
            <a:pPr>
              <a:buFontTx/>
              <a:buChar char="•"/>
            </a:pPr>
            <a:r>
              <a:rPr lang="en-US" altLang="en-US" dirty="0">
                <a:latin typeface="+mj-lt"/>
                <a:cs typeface="Times New Roman" panose="02020603050405020304" pitchFamily="18" charset="0"/>
              </a:rPr>
              <a:t> Assembly languages</a:t>
            </a:r>
          </a:p>
          <a:p>
            <a:pPr>
              <a:buFontTx/>
              <a:buChar char="•"/>
            </a:pPr>
            <a:endParaRPr lang="en-US" altLang="en-US" dirty="0">
              <a:latin typeface="+mj-lt"/>
              <a:cs typeface="Times New Roman" panose="02020603050405020304" pitchFamily="18" charset="0"/>
            </a:endParaRPr>
          </a:p>
          <a:p>
            <a:pPr>
              <a:buFontTx/>
              <a:buChar char="•"/>
            </a:pPr>
            <a:r>
              <a:rPr lang="en-US" altLang="en-US" dirty="0">
                <a:latin typeface="+mj-lt"/>
                <a:cs typeface="Times New Roman" panose="02020603050405020304" pitchFamily="18" charset="0"/>
              </a:rPr>
              <a:t> Higher-level languages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altLang="en-US" dirty="0">
              <a:solidFill>
                <a:schemeClr val="accent2"/>
              </a:solidFill>
            </a:endParaRPr>
          </a:p>
        </p:txBody>
      </p:sp>
      <p:sp>
        <p:nvSpPr>
          <p:cNvPr id="9219" name="Rectangle 3"/>
          <p:cNvSpPr>
            <a:spLocks noChangeArrowheads="1"/>
          </p:cNvSpPr>
          <p:nvPr/>
        </p:nvSpPr>
        <p:spPr bwMode="auto">
          <a:xfrm>
            <a:off x="0" y="3429000"/>
            <a:ext cx="9144000" cy="547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228528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endParaRPr lang="en-US" altLang="en-US" sz="120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endParaRPr lang="en-US" altLang="en-US"/>
          </a:p>
        </p:txBody>
      </p:sp>
      <p:sp>
        <p:nvSpPr>
          <p:cNvPr id="9220" name="Rectangle 4"/>
          <p:cNvSpPr>
            <a:spLocks noChangeArrowheads="1"/>
          </p:cNvSpPr>
          <p:nvPr/>
        </p:nvSpPr>
        <p:spPr bwMode="auto">
          <a:xfrm>
            <a:off x="0" y="1371600"/>
            <a:ext cx="8458200" cy="20004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76176" rIns="0" bIns="76176">
            <a:spAutoFit/>
          </a:bodyPr>
          <a:lstStyle>
            <a:lvl1pPr marL="969963" defTabSz="1698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1698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1698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1698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1698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169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169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169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169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1312863" indent="-342900">
              <a:buFont typeface="Arial" charset="0"/>
              <a:buChar char="•"/>
            </a:pPr>
            <a:r>
              <a:rPr lang="en-US" altLang="en-US" dirty="0">
                <a:latin typeface="+mj-lt"/>
                <a:cs typeface="Times New Roman" panose="02020603050405020304" pitchFamily="18" charset="0"/>
              </a:rPr>
              <a:t>To build programs, people use programming languages that are similar to human language.  </a:t>
            </a:r>
          </a:p>
          <a:p>
            <a:pPr marL="1943100" lvl="3" indent="-342900">
              <a:buFont typeface="Arial" charset="0"/>
              <a:buChar char="•"/>
            </a:pPr>
            <a:r>
              <a:rPr lang="en-US" altLang="en-US" dirty="0">
                <a:latin typeface="+mj-lt"/>
                <a:cs typeface="Times New Roman" panose="02020603050405020304" pitchFamily="18" charset="0"/>
              </a:rPr>
              <a:t>The results (the programs) are translated into machine code (0s and 1s) which computers understand.</a:t>
            </a:r>
          </a:p>
          <a:p>
            <a:pPr marL="1085850" lvl="1" indent="-342900">
              <a:buFont typeface="Arial" charset="0"/>
              <a:buChar char="•"/>
            </a:pPr>
            <a:r>
              <a:rPr lang="en-US" altLang="en-US" dirty="0">
                <a:latin typeface="+mj-lt"/>
                <a:cs typeface="Times New Roman" panose="02020603050405020304" pitchFamily="18" charset="0"/>
              </a:rPr>
              <a:t>Programming languages fall into three broad categories: </a:t>
            </a:r>
            <a:endParaRPr lang="en-US" altLang="en-US" dirty="0">
              <a:latin typeface="+mj-lt"/>
            </a:endParaRPr>
          </a:p>
        </p:txBody>
      </p:sp>
      <p:sp>
        <p:nvSpPr>
          <p:cNvPr id="9221" name="Rectangle 5"/>
          <p:cNvSpPr>
            <a:spLocks noChangeArrowheads="1"/>
          </p:cNvSpPr>
          <p:nvPr/>
        </p:nvSpPr>
        <p:spPr bwMode="auto">
          <a:xfrm>
            <a:off x="0" y="685800"/>
            <a:ext cx="9144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The Evolution of Programming Languages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  <p:transition spd="slow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4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0" y="1905000"/>
            <a:ext cx="8382000" cy="3477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76176" rIns="0" bIns="76176">
            <a:spAutoFit/>
          </a:bodyPr>
          <a:lstStyle>
            <a:lvl1pPr marL="1365250" indent="-395288" defTabSz="2349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2349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2349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2349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2349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2349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2349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2349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2349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buFontTx/>
              <a:buChar char="•"/>
            </a:pPr>
            <a:r>
              <a:rPr lang="en-US" altLang="en-US" dirty="0">
                <a:cs typeface="Times New Roman" panose="02020603050405020304" pitchFamily="18" charset="0"/>
              </a:rPr>
              <a:t>Machine languages</a:t>
            </a:r>
          </a:p>
          <a:p>
            <a:pPr lvl="3">
              <a:buFontTx/>
              <a:buChar char="•"/>
            </a:pPr>
            <a:r>
              <a:rPr lang="en-US" altLang="en-US" dirty="0">
                <a:cs typeface="Times New Roman" panose="02020603050405020304" pitchFamily="18" charset="0"/>
              </a:rPr>
              <a:t>They are also known as the </a:t>
            </a:r>
            <a:r>
              <a:rPr lang="en-US" altLang="en-US" b="1" dirty="0">
                <a:cs typeface="Times New Roman" panose="02020603050405020304" pitchFamily="18" charset="0"/>
              </a:rPr>
              <a:t>first-generation languages</a:t>
            </a:r>
            <a:r>
              <a:rPr lang="en-US" altLang="en-US" dirty="0">
                <a:cs typeface="Times New Roman" panose="02020603050405020304" pitchFamily="18" charset="0"/>
              </a:rPr>
              <a:t>.</a:t>
            </a:r>
          </a:p>
          <a:p>
            <a:pPr lvl="3">
              <a:buFontTx/>
              <a:buChar char="•"/>
            </a:pPr>
            <a:r>
              <a:rPr lang="en-US" altLang="en-US" dirty="0">
                <a:cs typeface="Times New Roman" panose="02020603050405020304" pitchFamily="18" charset="0"/>
              </a:rPr>
              <a:t>Description:</a:t>
            </a:r>
          </a:p>
          <a:p>
            <a:pPr lvl="4">
              <a:buFontTx/>
              <a:buChar char="•"/>
            </a:pPr>
            <a:r>
              <a:rPr lang="en-US" altLang="en-US" dirty="0">
                <a:cs typeface="Times New Roman" panose="02020603050405020304" pitchFamily="18" charset="0"/>
              </a:rPr>
              <a:t>They are the most basic type of computer languages, consisting of strings of numbers that the computer's hardware can use.</a:t>
            </a:r>
          </a:p>
          <a:p>
            <a:pPr lvl="5">
              <a:buFontTx/>
              <a:buChar char="•"/>
            </a:pPr>
            <a:r>
              <a:rPr lang="en-US" altLang="en-US" dirty="0">
                <a:cs typeface="Times New Roman" panose="02020603050405020304" pitchFamily="18" charset="0"/>
              </a:rPr>
              <a:t>They consist of binary numbers – a series of zeros and ones (0s and 1s).</a:t>
            </a:r>
          </a:p>
        </p:txBody>
      </p:sp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-54591" y="212725"/>
            <a:ext cx="91440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9159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The Evolution of Programming Languages - </a:t>
            </a:r>
          </a:p>
          <a:p>
            <a:r>
              <a:rPr lang="en-US" altLang="en-US" sz="2800" u="sng" dirty="0">
                <a:solidFill>
                  <a:srgbClr val="FF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Machine Languages</a:t>
            </a:r>
            <a:r>
              <a:rPr lang="en-US" altLang="en-US" sz="2800" u="sng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  <p:transition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-20472" y="1066800"/>
            <a:ext cx="8382000" cy="57553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76176" rIns="0" bIns="76176">
            <a:spAutoFit/>
          </a:bodyPr>
          <a:lstStyle>
            <a:lvl1pPr marL="1365250" indent="-395288" defTabSz="2349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2349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2349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2349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2349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2349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2349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2349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2349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buFontTx/>
              <a:buChar char="•"/>
            </a:pPr>
            <a:r>
              <a:rPr lang="en-US" altLang="en-US" dirty="0">
                <a:cs typeface="Times New Roman" panose="02020603050405020304" pitchFamily="18" charset="0"/>
              </a:rPr>
              <a:t>Machine languages</a:t>
            </a:r>
          </a:p>
          <a:p>
            <a:pPr lvl="3">
              <a:buFontTx/>
              <a:buChar char="•"/>
            </a:pPr>
            <a:r>
              <a:rPr lang="en-US" altLang="en-US" dirty="0">
                <a:cs typeface="Times New Roman" panose="02020603050405020304" pitchFamily="18" charset="0"/>
              </a:rPr>
              <a:t>Different types of computer hardware use different machine code.</a:t>
            </a:r>
          </a:p>
          <a:p>
            <a:pPr lvl="4">
              <a:buFontTx/>
              <a:buChar char="•"/>
            </a:pPr>
            <a:r>
              <a:rPr lang="en-US" altLang="en-US" dirty="0">
                <a:cs typeface="Times New Roman" panose="02020603050405020304" pitchFamily="18" charset="0"/>
              </a:rPr>
              <a:t>For example: IBM computers use different machine language from Apple computers.</a:t>
            </a:r>
            <a:r>
              <a:rPr lang="en-US" altLang="en-US" dirty="0"/>
              <a:t> </a:t>
            </a:r>
          </a:p>
          <a:p>
            <a:pPr lvl="4">
              <a:buFontTx/>
              <a:buChar char="•"/>
            </a:pPr>
            <a:r>
              <a:rPr lang="en-US" altLang="en-US" dirty="0"/>
              <a:t>That is machine language is machine dependent (different computer hardware manufacturers have different machine code)</a:t>
            </a:r>
          </a:p>
          <a:p>
            <a:pPr lvl="5">
              <a:buFontTx/>
              <a:buChar char="•"/>
            </a:pPr>
            <a:r>
              <a:rPr lang="en-US" altLang="en-US" dirty="0"/>
              <a:t>Examples of computer manufacturers:</a:t>
            </a:r>
          </a:p>
          <a:p>
            <a:pPr lvl="6">
              <a:buFontTx/>
              <a:buChar char="•"/>
            </a:pPr>
            <a:r>
              <a:rPr lang="en-US" dirty="0" err="1"/>
              <a:t>hp</a:t>
            </a:r>
            <a:r>
              <a:rPr lang="en-US" dirty="0"/>
              <a:t>, dell, </a:t>
            </a:r>
            <a:r>
              <a:rPr lang="en-US" dirty="0" err="1"/>
              <a:t>acers</a:t>
            </a:r>
            <a:r>
              <a:rPr lang="en-US" dirty="0"/>
              <a:t>, apple, …</a:t>
            </a:r>
          </a:p>
          <a:p>
            <a:pPr lvl="3">
              <a:buFontTx/>
              <a:buChar char="•"/>
            </a:pPr>
            <a:r>
              <a:rPr lang="en-US" altLang="en-US" dirty="0"/>
              <a:t>NOTE:</a:t>
            </a:r>
          </a:p>
          <a:p>
            <a:pPr lvl="4">
              <a:buFontTx/>
              <a:buChar char="•"/>
            </a:pPr>
            <a:r>
              <a:rPr lang="en-GB" sz="2000" dirty="0"/>
              <a:t>They are fastest to execute because it is already in the language that the computer can understand.</a:t>
            </a:r>
          </a:p>
          <a:p>
            <a:pPr lvl="4">
              <a:buFontTx/>
              <a:buChar char="•"/>
            </a:pPr>
            <a:r>
              <a:rPr lang="en-US" altLang="en-US" sz="2000" dirty="0"/>
              <a:t>But they are t</a:t>
            </a:r>
            <a:r>
              <a:rPr lang="en-US" sz="2000" dirty="0"/>
              <a:t>ime consuming/tedious to use.</a:t>
            </a:r>
          </a:p>
          <a:p>
            <a:pPr lvl="5">
              <a:buFontTx/>
              <a:buChar char="•"/>
            </a:pPr>
            <a:r>
              <a:rPr lang="en-GB" sz="2000" dirty="0"/>
              <a:t>Programming becomes more difficult as the complexity of the program increases. </a:t>
            </a:r>
          </a:p>
        </p:txBody>
      </p:sp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-54591" y="212725"/>
            <a:ext cx="91440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9159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The Evolution of Programming Languages - </a:t>
            </a:r>
          </a:p>
          <a:p>
            <a:r>
              <a:rPr lang="en-US" altLang="en-US" sz="2800" u="sng" dirty="0">
                <a:solidFill>
                  <a:srgbClr val="FF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Machine Languages</a:t>
            </a:r>
            <a:r>
              <a:rPr lang="en-US" altLang="en-US" sz="2800" u="sng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60761655"/>
      </p:ext>
    </p:extLst>
  </p:cSld>
  <p:clrMapOvr>
    <a:masterClrMapping/>
  </p:clrMapOvr>
  <p:transition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-20472" y="1066800"/>
            <a:ext cx="8382000" cy="892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76176" rIns="0" bIns="76176">
            <a:spAutoFit/>
          </a:bodyPr>
          <a:lstStyle>
            <a:lvl1pPr marL="1365250" indent="-395288" defTabSz="2349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2349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2349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2349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2349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2349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2349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2349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2349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buFontTx/>
              <a:buChar char="•"/>
            </a:pPr>
            <a:r>
              <a:rPr lang="en-US" altLang="en-US" dirty="0">
                <a:cs typeface="Times New Roman" panose="02020603050405020304" pitchFamily="18" charset="0"/>
              </a:rPr>
              <a:t>Machine languages</a:t>
            </a:r>
          </a:p>
          <a:p>
            <a:pPr>
              <a:buFontTx/>
              <a:buChar char="•"/>
            </a:pPr>
            <a:endParaRPr lang="en-US" altLang="en-US" dirty="0">
              <a:cs typeface="Times New Roman" panose="02020603050405020304" pitchFamily="18" charset="0"/>
            </a:endParaRPr>
          </a:p>
        </p:txBody>
      </p:sp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-54591" y="212725"/>
            <a:ext cx="91440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9159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The Evolution of Programming Languages - </a:t>
            </a:r>
          </a:p>
          <a:p>
            <a:r>
              <a:rPr lang="en-US" altLang="en-US" sz="2800" u="sng" dirty="0">
                <a:solidFill>
                  <a:srgbClr val="FF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Machine Languages</a:t>
            </a:r>
            <a:r>
              <a:rPr lang="en-US" altLang="en-US" sz="2800" u="sng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133600"/>
            <a:ext cx="8356600" cy="266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38052107"/>
      </p:ext>
    </p:extLst>
  </p:cSld>
  <p:clrMapOvr>
    <a:masterClrMapping/>
  </p:clrMapOvr>
  <p:transition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ChangeArrowheads="1"/>
          </p:cNvSpPr>
          <p:nvPr/>
        </p:nvSpPr>
        <p:spPr bwMode="auto">
          <a:xfrm>
            <a:off x="0" y="1828800"/>
            <a:ext cx="8382000" cy="38471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76176" rIns="0" bIns="76176">
            <a:spAutoFit/>
          </a:bodyPr>
          <a:lstStyle>
            <a:lvl1pPr marL="1365250" indent="-395288" defTabSz="1698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1698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1698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1698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1698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169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169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169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169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just">
              <a:buFontTx/>
              <a:buChar char="•"/>
            </a:pPr>
            <a:r>
              <a:rPr lang="en-US" altLang="en-US" dirty="0">
                <a:cs typeface="Times New Roman" panose="02020603050405020304" pitchFamily="18" charset="0"/>
              </a:rPr>
              <a:t>Assembly languages.</a:t>
            </a:r>
          </a:p>
          <a:p>
            <a:pPr lvl="3" algn="just">
              <a:buFontTx/>
              <a:buChar char="•"/>
            </a:pPr>
            <a:r>
              <a:rPr lang="en-US" altLang="en-US" dirty="0">
                <a:cs typeface="Times New Roman" panose="02020603050405020304" pitchFamily="18" charset="0"/>
              </a:rPr>
              <a:t>They are also known as </a:t>
            </a:r>
            <a:r>
              <a:rPr lang="en-US" altLang="en-US" b="1" dirty="0">
                <a:cs typeface="Times New Roman" panose="02020603050405020304" pitchFamily="18" charset="0"/>
              </a:rPr>
              <a:t>second-generation languages.</a:t>
            </a:r>
          </a:p>
          <a:p>
            <a:pPr lvl="3" algn="just">
              <a:buFontTx/>
              <a:buChar char="•"/>
            </a:pPr>
            <a:r>
              <a:rPr lang="en-US" altLang="en-US" dirty="0">
                <a:cs typeface="Times New Roman" panose="02020603050405020304" pitchFamily="18" charset="0"/>
              </a:rPr>
              <a:t>Assembly language is a language that uses words in place of the binary numbers to instruct a computer to perform a specific task.</a:t>
            </a:r>
          </a:p>
          <a:p>
            <a:pPr lvl="4" algn="just">
              <a:buFontTx/>
              <a:buChar char="•"/>
            </a:pPr>
            <a:r>
              <a:rPr lang="en-US" altLang="en-US" dirty="0">
                <a:cs typeface="Times New Roman" panose="02020603050405020304" pitchFamily="18" charset="0"/>
              </a:rPr>
              <a:t>A computer can not directly understand assembly language.</a:t>
            </a:r>
          </a:p>
          <a:p>
            <a:pPr lvl="5" algn="just">
              <a:buFontTx/>
              <a:buChar char="•"/>
            </a:pPr>
            <a:r>
              <a:rPr lang="en-GB" dirty="0"/>
              <a:t>Assembly language programs are translated into machine language/code by a program called an </a:t>
            </a:r>
            <a:r>
              <a:rPr lang="en-GB" b="1" dirty="0"/>
              <a:t>assembler</a:t>
            </a:r>
            <a:r>
              <a:rPr lang="en-GB" dirty="0"/>
              <a:t>.</a:t>
            </a:r>
            <a:endParaRPr lang="en-US" altLang="en-US" dirty="0">
              <a:cs typeface="Times New Roman" panose="02020603050405020304" pitchFamily="18" charset="0"/>
            </a:endParaRPr>
          </a:p>
        </p:txBody>
      </p:sp>
      <p:sp>
        <p:nvSpPr>
          <p:cNvPr id="11267" name="Rectangle 3"/>
          <p:cNvSpPr>
            <a:spLocks noChangeArrowheads="1"/>
          </p:cNvSpPr>
          <p:nvPr/>
        </p:nvSpPr>
        <p:spPr bwMode="auto">
          <a:xfrm>
            <a:off x="0" y="3429000"/>
            <a:ext cx="9144000" cy="700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76176" rIns="0" bIns="76176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endParaRPr lang="en-US" altLang="en-US" sz="1200" i="1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endParaRPr lang="en-US" altLang="en-US"/>
          </a:p>
        </p:txBody>
      </p:sp>
      <p:sp>
        <p:nvSpPr>
          <p:cNvPr id="11268" name="Rectangle 4"/>
          <p:cNvSpPr>
            <a:spLocks noChangeArrowheads="1"/>
          </p:cNvSpPr>
          <p:nvPr/>
        </p:nvSpPr>
        <p:spPr bwMode="auto">
          <a:xfrm>
            <a:off x="0" y="685800"/>
            <a:ext cx="91440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9159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The Evolution of Programming Languages - </a:t>
            </a:r>
            <a:r>
              <a:rPr lang="en-US" altLang="en-US" sz="2800" u="sng">
                <a:solidFill>
                  <a:srgbClr val="FF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Assembly Languages</a:t>
            </a:r>
            <a:r>
              <a:rPr lang="en-US" altLang="en-US" sz="2800" u="sng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  <p:transition spd="slow">
    <p:split dir="in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ChangeArrowheads="1"/>
          </p:cNvSpPr>
          <p:nvPr/>
        </p:nvSpPr>
        <p:spPr bwMode="auto">
          <a:xfrm>
            <a:off x="0" y="1828800"/>
            <a:ext cx="8382000" cy="45858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76176" rIns="0" bIns="76176">
            <a:spAutoFit/>
          </a:bodyPr>
          <a:lstStyle>
            <a:lvl1pPr marL="1365250" indent="-395288" defTabSz="1698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1698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1698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1698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1698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169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169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169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169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just">
              <a:buFontTx/>
              <a:buChar char="•"/>
            </a:pPr>
            <a:r>
              <a:rPr lang="en-US" altLang="en-US" dirty="0">
                <a:cs typeface="Times New Roman" panose="02020603050405020304" pitchFamily="18" charset="0"/>
              </a:rPr>
              <a:t>Assembly languages.</a:t>
            </a:r>
          </a:p>
          <a:p>
            <a:pPr lvl="4" algn="just">
              <a:buFontTx/>
              <a:buChar char="•"/>
            </a:pPr>
            <a:r>
              <a:rPr lang="en-US" altLang="en-US" dirty="0">
                <a:cs typeface="Times New Roman" panose="02020603050405020304" pitchFamily="18" charset="0"/>
              </a:rPr>
              <a:t>Assembly language is somewhat easier to work with than machine languages.</a:t>
            </a:r>
          </a:p>
          <a:p>
            <a:pPr lvl="5" algn="just">
              <a:buFontTx/>
              <a:buChar char="•"/>
            </a:pPr>
            <a:r>
              <a:rPr lang="en-US" altLang="en-US" dirty="0">
                <a:cs typeface="Times New Roman" panose="02020603050405020304" pitchFamily="18" charset="0"/>
              </a:rPr>
              <a:t>As it uses shortened words in place of the numbers (the 0s and 1s)</a:t>
            </a:r>
          </a:p>
          <a:p>
            <a:pPr lvl="5" algn="just">
              <a:buFontTx/>
              <a:buChar char="•"/>
            </a:pPr>
            <a:r>
              <a:rPr lang="en-GB" dirty="0"/>
              <a:t>As machine language, assembly language is also machine dependant.</a:t>
            </a:r>
            <a:endParaRPr lang="en-US" dirty="0">
              <a:cs typeface="Times New Roman" panose="02020603050405020304" pitchFamily="18" charset="0"/>
            </a:endParaRPr>
          </a:p>
          <a:p>
            <a:pPr lvl="4" algn="just">
              <a:buFontTx/>
              <a:buChar char="•"/>
            </a:pPr>
            <a:r>
              <a:rPr lang="en-US" altLang="en-US" dirty="0">
                <a:cs typeface="Times New Roman" panose="02020603050405020304" pitchFamily="18" charset="0"/>
              </a:rPr>
              <a:t>To create programs in assembly language, developers use some shortened English-like words to represent strings of numbers.</a:t>
            </a:r>
          </a:p>
          <a:p>
            <a:pPr lvl="5" algn="just">
              <a:buFontTx/>
              <a:buChar char="•"/>
            </a:pPr>
            <a:r>
              <a:rPr lang="en-US" altLang="en-US" dirty="0">
                <a:cs typeface="Times New Roman" panose="02020603050405020304" pitchFamily="18" charset="0"/>
              </a:rPr>
              <a:t>The program is then translated into machine code, using a translator called an </a:t>
            </a:r>
            <a:r>
              <a:rPr lang="en-US" altLang="en-US" b="1" dirty="0">
                <a:cs typeface="Times New Roman" panose="02020603050405020304" pitchFamily="18" charset="0"/>
              </a:rPr>
              <a:t>assembler</a:t>
            </a:r>
            <a:r>
              <a:rPr lang="en-US" altLang="en-US" dirty="0"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1267" name="Rectangle 3"/>
          <p:cNvSpPr>
            <a:spLocks noChangeArrowheads="1"/>
          </p:cNvSpPr>
          <p:nvPr/>
        </p:nvSpPr>
        <p:spPr bwMode="auto">
          <a:xfrm>
            <a:off x="0" y="3429000"/>
            <a:ext cx="9144000" cy="700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76176" rIns="0" bIns="76176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endParaRPr lang="en-US" altLang="en-US" sz="1200" i="1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endParaRPr lang="en-US" altLang="en-US"/>
          </a:p>
        </p:txBody>
      </p:sp>
      <p:sp>
        <p:nvSpPr>
          <p:cNvPr id="11268" name="Rectangle 4"/>
          <p:cNvSpPr>
            <a:spLocks noChangeArrowheads="1"/>
          </p:cNvSpPr>
          <p:nvPr/>
        </p:nvSpPr>
        <p:spPr bwMode="auto">
          <a:xfrm>
            <a:off x="0" y="685800"/>
            <a:ext cx="91440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9159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The Evolution of Programming Languages - </a:t>
            </a:r>
            <a:r>
              <a:rPr lang="en-US" altLang="en-US" sz="2800" u="sng">
                <a:solidFill>
                  <a:srgbClr val="FF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Assembly Languages</a:t>
            </a:r>
            <a:r>
              <a:rPr lang="en-US" altLang="en-US" sz="2800" u="sng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08966878"/>
      </p:ext>
    </p:extLst>
  </p:cSld>
  <p:clrMapOvr>
    <a:masterClrMapping/>
  </p:clrMapOvr>
  <p:transition spd="slow">
    <p:split dir="in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ChangeArrowheads="1"/>
          </p:cNvSpPr>
          <p:nvPr/>
        </p:nvSpPr>
        <p:spPr bwMode="auto">
          <a:xfrm>
            <a:off x="0" y="1828800"/>
            <a:ext cx="8382000" cy="892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76176" rIns="0" bIns="76176">
            <a:spAutoFit/>
          </a:bodyPr>
          <a:lstStyle>
            <a:lvl1pPr marL="1365250" indent="-395288" defTabSz="1698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1698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1698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1698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1698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169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169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169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169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just">
              <a:buFontTx/>
              <a:buChar char="•"/>
            </a:pPr>
            <a:r>
              <a:rPr lang="en-US" altLang="en-US" dirty="0">
                <a:cs typeface="Times New Roman" panose="02020603050405020304" pitchFamily="18" charset="0"/>
              </a:rPr>
              <a:t>Assembly languages.</a:t>
            </a:r>
          </a:p>
          <a:p>
            <a:pPr algn="just">
              <a:buFontTx/>
              <a:buChar char="•"/>
            </a:pPr>
            <a:endParaRPr lang="en-US" altLang="en-US" dirty="0">
              <a:cs typeface="Times New Roman" panose="02020603050405020304" pitchFamily="18" charset="0"/>
            </a:endParaRPr>
          </a:p>
        </p:txBody>
      </p:sp>
      <p:sp>
        <p:nvSpPr>
          <p:cNvPr id="11267" name="Rectangle 3"/>
          <p:cNvSpPr>
            <a:spLocks noChangeArrowheads="1"/>
          </p:cNvSpPr>
          <p:nvPr/>
        </p:nvSpPr>
        <p:spPr bwMode="auto">
          <a:xfrm>
            <a:off x="0" y="3429000"/>
            <a:ext cx="9144000" cy="700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76176" rIns="0" bIns="76176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endParaRPr lang="en-US" altLang="en-US" sz="1200" i="1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endParaRPr lang="en-US" altLang="en-US"/>
          </a:p>
        </p:txBody>
      </p:sp>
      <p:sp>
        <p:nvSpPr>
          <p:cNvPr id="11268" name="Rectangle 4"/>
          <p:cNvSpPr>
            <a:spLocks noChangeArrowheads="1"/>
          </p:cNvSpPr>
          <p:nvPr/>
        </p:nvSpPr>
        <p:spPr bwMode="auto">
          <a:xfrm>
            <a:off x="0" y="685800"/>
            <a:ext cx="91440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9159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The Evolution of Programming Languages - </a:t>
            </a:r>
            <a:r>
              <a:rPr lang="en-US" altLang="en-US" sz="2800" u="sng">
                <a:solidFill>
                  <a:srgbClr val="FF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Assembly Languages</a:t>
            </a:r>
            <a:r>
              <a:rPr lang="en-US" altLang="en-US" sz="2800" u="sng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895600"/>
            <a:ext cx="8212667" cy="289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02602107"/>
      </p:ext>
    </p:extLst>
  </p:cSld>
  <p:clrMapOvr>
    <a:masterClrMapping/>
  </p:clrMapOvr>
  <p:transition spd="slow">
    <p:split dir="in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81" name="Group 9"/>
          <p:cNvGrpSpPr>
            <a:grpSpLocks/>
          </p:cNvGrpSpPr>
          <p:nvPr/>
        </p:nvGrpSpPr>
        <p:grpSpPr bwMode="auto">
          <a:xfrm>
            <a:off x="736600" y="4724400"/>
            <a:ext cx="2362200" cy="990600"/>
            <a:chOff x="432" y="2976"/>
            <a:chExt cx="1488" cy="624"/>
          </a:xfrm>
        </p:grpSpPr>
        <p:sp>
          <p:nvSpPr>
            <p:cNvPr id="12301" name="AutoShape 7"/>
            <p:cNvSpPr>
              <a:spLocks noChangeArrowheads="1"/>
            </p:cNvSpPr>
            <p:nvPr/>
          </p:nvSpPr>
          <p:spPr bwMode="auto">
            <a:xfrm>
              <a:off x="432" y="2976"/>
              <a:ext cx="1488" cy="624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107763" dir="189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2302" name="Text Box 6"/>
            <p:cNvSpPr txBox="1">
              <a:spLocks noChangeArrowheads="1"/>
            </p:cNvSpPr>
            <p:nvPr/>
          </p:nvSpPr>
          <p:spPr bwMode="auto">
            <a:xfrm>
              <a:off x="614" y="3145"/>
              <a:ext cx="109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>
                  <a:latin typeface="Arial" panose="020B0604020202020204" pitchFamily="34" charset="0"/>
                </a:rPr>
                <a:t>Assembler</a:t>
              </a:r>
            </a:p>
          </p:txBody>
        </p:sp>
      </p:grpSp>
      <p:grpSp>
        <p:nvGrpSpPr>
          <p:cNvPr id="3085" name="Group 13"/>
          <p:cNvGrpSpPr>
            <a:grpSpLocks/>
          </p:cNvGrpSpPr>
          <p:nvPr/>
        </p:nvGrpSpPr>
        <p:grpSpPr bwMode="auto">
          <a:xfrm>
            <a:off x="0" y="0"/>
            <a:ext cx="5562600" cy="3124200"/>
            <a:chOff x="0" y="0"/>
            <a:chExt cx="3504" cy="1968"/>
          </a:xfrm>
        </p:grpSpPr>
        <p:sp>
          <p:nvSpPr>
            <p:cNvPr id="12298" name="AutoShape 5"/>
            <p:cNvSpPr>
              <a:spLocks noChangeArrowheads="1"/>
            </p:cNvSpPr>
            <p:nvPr/>
          </p:nvSpPr>
          <p:spPr bwMode="auto">
            <a:xfrm>
              <a:off x="0" y="0"/>
              <a:ext cx="3504" cy="1968"/>
            </a:xfrm>
            <a:prstGeom prst="foldedCorner">
              <a:avLst>
                <a:gd name="adj" fmla="val 12500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pic>
          <p:nvPicPr>
            <p:cNvPr id="12299" name="Picture 3" descr="C:\NortonSlides\art28\Fig per Lesson\Lesson28\Figure28_2b.tif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2" y="192"/>
              <a:ext cx="3126" cy="1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00" name="Text Box 8"/>
            <p:cNvSpPr txBox="1">
              <a:spLocks noChangeArrowheads="1"/>
            </p:cNvSpPr>
            <p:nvPr/>
          </p:nvSpPr>
          <p:spPr bwMode="auto">
            <a:xfrm>
              <a:off x="2112" y="288"/>
              <a:ext cx="1024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Arial" panose="020B0604020202020204" pitchFamily="34" charset="0"/>
                </a:rPr>
                <a:t>Assembly</a:t>
              </a:r>
            </a:p>
            <a:p>
              <a:pPr algn="ctr"/>
              <a:r>
                <a:rPr lang="en-US" altLang="en-US">
                  <a:latin typeface="Arial" panose="020B0604020202020204" pitchFamily="34" charset="0"/>
                </a:rPr>
                <a:t>code</a:t>
              </a:r>
            </a:p>
          </p:txBody>
        </p:sp>
      </p:grpSp>
      <p:sp>
        <p:nvSpPr>
          <p:cNvPr id="3082" name="AutoShape 10"/>
          <p:cNvSpPr>
            <a:spLocks noChangeArrowheads="1"/>
          </p:cNvSpPr>
          <p:nvPr/>
        </p:nvSpPr>
        <p:spPr bwMode="auto">
          <a:xfrm>
            <a:off x="1676400" y="3124200"/>
            <a:ext cx="457200" cy="1524000"/>
          </a:xfrm>
          <a:prstGeom prst="downArrow">
            <a:avLst>
              <a:gd name="adj1" fmla="val 50000"/>
              <a:gd name="adj2" fmla="val 83333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3083" name="AutoShape 11"/>
          <p:cNvSpPr>
            <a:spLocks noChangeArrowheads="1"/>
          </p:cNvSpPr>
          <p:nvPr/>
        </p:nvSpPr>
        <p:spPr bwMode="auto">
          <a:xfrm>
            <a:off x="3124200" y="4953000"/>
            <a:ext cx="2438400" cy="457200"/>
          </a:xfrm>
          <a:prstGeom prst="rightArrow">
            <a:avLst>
              <a:gd name="adj1" fmla="val 50000"/>
              <a:gd name="adj2" fmla="val 133333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grpSp>
        <p:nvGrpSpPr>
          <p:cNvPr id="3086" name="Group 14"/>
          <p:cNvGrpSpPr>
            <a:grpSpLocks/>
          </p:cNvGrpSpPr>
          <p:nvPr/>
        </p:nvGrpSpPr>
        <p:grpSpPr bwMode="auto">
          <a:xfrm>
            <a:off x="5562600" y="4038600"/>
            <a:ext cx="3581400" cy="2819400"/>
            <a:chOff x="3504" y="2544"/>
            <a:chExt cx="2256" cy="1776"/>
          </a:xfrm>
        </p:grpSpPr>
        <p:sp>
          <p:nvSpPr>
            <p:cNvPr id="12295" name="AutoShape 4"/>
            <p:cNvSpPr>
              <a:spLocks noChangeArrowheads="1"/>
            </p:cNvSpPr>
            <p:nvPr/>
          </p:nvSpPr>
          <p:spPr bwMode="auto">
            <a:xfrm>
              <a:off x="3504" y="2544"/>
              <a:ext cx="2256" cy="1776"/>
            </a:xfrm>
            <a:prstGeom prst="foldedCorner">
              <a:avLst>
                <a:gd name="adj" fmla="val 12500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pic>
          <p:nvPicPr>
            <p:cNvPr id="12296" name="Picture 2" descr="C:\NortonSlides\art28\Fig per Lesson\Lesson28\Figure28_2a.tif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44" y="2880"/>
              <a:ext cx="1806" cy="7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297" name="Text Box 12"/>
            <p:cNvSpPr txBox="1">
              <a:spLocks noChangeArrowheads="1"/>
            </p:cNvSpPr>
            <p:nvPr/>
          </p:nvSpPr>
          <p:spPr bwMode="auto">
            <a:xfrm>
              <a:off x="4080" y="3696"/>
              <a:ext cx="121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>
                  <a:latin typeface="Arial" panose="020B0604020202020204" pitchFamily="34" charset="0"/>
                </a:rPr>
                <a:t>Object code</a:t>
              </a:r>
            </a:p>
          </p:txBody>
        </p:sp>
      </p:grpSp>
    </p:spTree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0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0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0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6" presetID="23" presetClass="entr" presetSubtype="3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0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0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0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0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7" presetID="23" presetClass="entr" presetSubtype="3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0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0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0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0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4"/>
          <p:cNvSpPr>
            <a:spLocks noChangeArrowheads="1"/>
          </p:cNvSpPr>
          <p:nvPr/>
        </p:nvSpPr>
        <p:spPr bwMode="auto">
          <a:xfrm>
            <a:off x="0" y="1600200"/>
            <a:ext cx="8610600" cy="4955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76176" rIns="0" bIns="76176">
            <a:spAutoFit/>
          </a:bodyPr>
          <a:lstStyle>
            <a:lvl1pPr marL="915988" defTabSz="136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136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136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136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136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1365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1365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1365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1365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1258888" indent="-342900">
              <a:buFont typeface="Arial" charset="0"/>
              <a:buChar char="•"/>
            </a:pPr>
            <a:r>
              <a:rPr lang="en-US" altLang="en-US" dirty="0">
                <a:cs typeface="Times New Roman" panose="02020603050405020304" pitchFamily="18" charset="0"/>
              </a:rPr>
              <a:t>Higher-level languages are more powerful than assembly language and allow the programmer to work in a more English-like environment.</a:t>
            </a:r>
          </a:p>
          <a:p>
            <a:pPr marL="1485900" lvl="2" indent="-342900">
              <a:buFont typeface="Arial" charset="0"/>
              <a:buChar char="•"/>
            </a:pPr>
            <a:r>
              <a:rPr lang="en-GB" dirty="0"/>
              <a:t>They</a:t>
            </a:r>
            <a:r>
              <a:rPr lang="en-US" dirty="0"/>
              <a:t> use English words.</a:t>
            </a:r>
          </a:p>
          <a:p>
            <a:pPr marL="1485900" lvl="2" indent="-342900">
              <a:buFont typeface="Arial" charset="0"/>
              <a:buChar char="•"/>
            </a:pPr>
            <a:r>
              <a:rPr lang="en-GB" dirty="0"/>
              <a:t>They are not limited by the computer.</a:t>
            </a:r>
          </a:p>
          <a:p>
            <a:pPr marL="1943100" lvl="3" indent="-342900">
              <a:buFont typeface="Arial" charset="0"/>
              <a:buChar char="•"/>
            </a:pPr>
            <a:r>
              <a:rPr lang="en-GB" dirty="0"/>
              <a:t>The same program can be executed on different computers.</a:t>
            </a:r>
          </a:p>
          <a:p>
            <a:pPr marL="2400300" lvl="4" indent="-342900">
              <a:buFont typeface="Arial" charset="0"/>
              <a:buChar char="•"/>
            </a:pPr>
            <a:r>
              <a:rPr lang="en-GB" dirty="0">
                <a:cs typeface="Times New Roman" panose="02020603050405020304" pitchFamily="18" charset="0"/>
              </a:rPr>
              <a:t>They are machine independent.</a:t>
            </a:r>
            <a:endParaRPr lang="en-US" dirty="0">
              <a:cs typeface="Times New Roman" panose="02020603050405020304" pitchFamily="18" charset="0"/>
            </a:endParaRPr>
          </a:p>
          <a:p>
            <a:pPr marL="1485900" lvl="2" indent="-342900">
              <a:buFont typeface="Arial" charset="0"/>
              <a:buChar char="•"/>
            </a:pPr>
            <a:r>
              <a:rPr lang="en-US" altLang="en-US" dirty="0">
                <a:cs typeface="Times New Roman" panose="02020603050405020304" pitchFamily="18" charset="0"/>
              </a:rPr>
              <a:t>Higher-level programming languages are divided into three "generations," each more powerful than the 	last:</a:t>
            </a:r>
          </a:p>
          <a:p>
            <a:pPr lvl="4">
              <a:buFontTx/>
              <a:buChar char="•"/>
            </a:pPr>
            <a:r>
              <a:rPr lang="en-US" altLang="en-US" dirty="0">
                <a:cs typeface="Times New Roman" panose="02020603050405020304" pitchFamily="18" charset="0"/>
              </a:rPr>
              <a:t>Third-generation languages</a:t>
            </a:r>
          </a:p>
          <a:p>
            <a:pPr lvl="4">
              <a:buFontTx/>
              <a:buChar char="•"/>
            </a:pPr>
            <a:r>
              <a:rPr lang="en-US" altLang="en-US" dirty="0">
                <a:cs typeface="Times New Roman" panose="02020603050405020304" pitchFamily="18" charset="0"/>
              </a:rPr>
              <a:t>Fourth-generation languages</a:t>
            </a:r>
          </a:p>
          <a:p>
            <a:pPr lvl="4">
              <a:buFontTx/>
              <a:buChar char="•"/>
            </a:pPr>
            <a:r>
              <a:rPr lang="en-US" altLang="en-US" dirty="0">
                <a:cs typeface="Times New Roman" panose="02020603050405020304" pitchFamily="18" charset="0"/>
              </a:rPr>
              <a:t>Fifth-generation languages</a:t>
            </a:r>
            <a:r>
              <a:rPr lang="en-US" altLang="en-US" dirty="0"/>
              <a:t> </a:t>
            </a:r>
          </a:p>
        </p:txBody>
      </p:sp>
      <p:sp>
        <p:nvSpPr>
          <p:cNvPr id="13316" name="Rectangle 5"/>
          <p:cNvSpPr>
            <a:spLocks noChangeArrowheads="1"/>
          </p:cNvSpPr>
          <p:nvPr/>
        </p:nvSpPr>
        <p:spPr bwMode="auto">
          <a:xfrm>
            <a:off x="0" y="381000"/>
            <a:ext cx="91440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9159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The Evolution of Programming Languages - </a:t>
            </a:r>
            <a:b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</a:br>
            <a:r>
              <a:rPr lang="en-US" altLang="en-US" sz="2800" u="sng">
                <a:solidFill>
                  <a:srgbClr val="FF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Higher-Level Languages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  <p:transition spd="slow">
    <p:strips dir="l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3"/>
          <p:cNvSpPr>
            <a:spLocks noChangeArrowheads="1"/>
          </p:cNvSpPr>
          <p:nvPr/>
        </p:nvSpPr>
        <p:spPr bwMode="auto">
          <a:xfrm>
            <a:off x="0" y="3063875"/>
            <a:ext cx="9144000" cy="547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228528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endParaRPr lang="en-US" altLang="en-US" sz="120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endParaRPr lang="en-US" altLang="en-US"/>
          </a:p>
        </p:txBody>
      </p:sp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0" y="3794125"/>
            <a:ext cx="9144000" cy="547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228528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endParaRPr lang="en-US" altLang="en-US" sz="120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endParaRPr lang="en-US" altLang="en-US"/>
          </a:p>
        </p:txBody>
      </p:sp>
      <p:sp>
        <p:nvSpPr>
          <p:cNvPr id="14341" name="Rectangle 5"/>
          <p:cNvSpPr>
            <a:spLocks noChangeArrowheads="1"/>
          </p:cNvSpPr>
          <p:nvPr/>
        </p:nvSpPr>
        <p:spPr bwMode="auto">
          <a:xfrm>
            <a:off x="76200" y="985956"/>
            <a:ext cx="8229600" cy="5693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76176" rIns="0" bIns="76176">
            <a:spAutoFit/>
          </a:bodyPr>
          <a:lstStyle>
            <a:lvl1pPr marL="1365250" indent="-341313" defTabSz="1698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1698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1698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1698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1698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169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169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169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169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buFontTx/>
              <a:buChar char="•"/>
            </a:pPr>
            <a:r>
              <a:rPr lang="en-US" altLang="en-US" dirty="0">
                <a:cs typeface="Times New Roman" panose="02020603050405020304" pitchFamily="18" charset="0"/>
              </a:rPr>
              <a:t>Third-generation languages (3GLs) are the first to use true English-like words, making them easier to 	use than previous languages.</a:t>
            </a:r>
          </a:p>
          <a:p>
            <a:pPr>
              <a:buFontTx/>
              <a:buChar char="•"/>
            </a:pPr>
            <a:r>
              <a:rPr lang="en-US" altLang="en-US" dirty="0">
                <a:cs typeface="Times New Roman" panose="02020603050405020304" pitchFamily="18" charset="0"/>
              </a:rPr>
              <a:t>3GLs are portable, meaning the object code created for one type of system can be translated for use on a different type of system.</a:t>
            </a:r>
          </a:p>
          <a:p>
            <a:pPr>
              <a:buFontTx/>
              <a:buChar char="•"/>
            </a:pPr>
            <a:r>
              <a:rPr lang="en-US" altLang="en-US" dirty="0">
                <a:cs typeface="Times New Roman" panose="02020603050405020304" pitchFamily="18" charset="0"/>
              </a:rPr>
              <a:t>The following languages are 3GLs:</a:t>
            </a:r>
          </a:p>
          <a:p>
            <a:pPr lvl="3">
              <a:buFontTx/>
              <a:buChar char="•"/>
            </a:pPr>
            <a:r>
              <a:rPr lang="en-US" altLang="en-US" dirty="0">
                <a:cs typeface="Times New Roman" panose="02020603050405020304" pitchFamily="18" charset="0"/>
              </a:rPr>
              <a:t>FORTAN			</a:t>
            </a:r>
          </a:p>
          <a:p>
            <a:pPr lvl="3">
              <a:buFontTx/>
              <a:buChar char="•"/>
            </a:pPr>
            <a:r>
              <a:rPr lang="en-US" altLang="en-US" dirty="0">
                <a:cs typeface="Times New Roman" panose="02020603050405020304" pitchFamily="18" charset="0"/>
              </a:rPr>
              <a:t>C</a:t>
            </a:r>
          </a:p>
          <a:p>
            <a:pPr lvl="3">
              <a:buFontTx/>
              <a:buChar char="•"/>
            </a:pPr>
            <a:r>
              <a:rPr lang="en-US" altLang="en-US" dirty="0">
                <a:cs typeface="Times New Roman" panose="02020603050405020304" pitchFamily="18" charset="0"/>
              </a:rPr>
              <a:t>COBOL			</a:t>
            </a:r>
          </a:p>
          <a:p>
            <a:pPr lvl="3">
              <a:buFontTx/>
              <a:buChar char="•"/>
            </a:pPr>
            <a:r>
              <a:rPr lang="en-US" altLang="en-US" dirty="0">
                <a:cs typeface="Times New Roman" panose="02020603050405020304" pitchFamily="18" charset="0"/>
              </a:rPr>
              <a:t>C++</a:t>
            </a:r>
          </a:p>
          <a:p>
            <a:pPr lvl="3">
              <a:buFontTx/>
              <a:buChar char="•"/>
            </a:pPr>
            <a:r>
              <a:rPr lang="en-US" altLang="en-US" dirty="0">
                <a:cs typeface="Times New Roman" panose="02020603050405020304" pitchFamily="18" charset="0"/>
              </a:rPr>
              <a:t>BASIC			</a:t>
            </a:r>
          </a:p>
          <a:p>
            <a:pPr lvl="3">
              <a:buFontTx/>
              <a:buChar char="•"/>
            </a:pPr>
            <a:r>
              <a:rPr lang="en-US" altLang="en-US" dirty="0">
                <a:cs typeface="Times New Roman" panose="02020603050405020304" pitchFamily="18" charset="0"/>
              </a:rPr>
              <a:t>Java</a:t>
            </a:r>
          </a:p>
          <a:p>
            <a:pPr lvl="3">
              <a:buFontTx/>
              <a:buChar char="•"/>
            </a:pPr>
            <a:r>
              <a:rPr lang="en-US" altLang="en-US" dirty="0">
                <a:cs typeface="Times New Roman" panose="02020603050405020304" pitchFamily="18" charset="0"/>
              </a:rPr>
              <a:t>Pascal			</a:t>
            </a:r>
          </a:p>
          <a:p>
            <a:pPr lvl="3">
              <a:buFontTx/>
              <a:buChar char="•"/>
            </a:pPr>
            <a:r>
              <a:rPr lang="en-US" altLang="en-US" dirty="0">
                <a:cs typeface="Times New Roman" panose="02020603050405020304" pitchFamily="18" charset="0"/>
              </a:rPr>
              <a:t>ActiveX</a:t>
            </a:r>
            <a:endParaRPr lang="en-US" altLang="en-US" dirty="0"/>
          </a:p>
        </p:txBody>
      </p:sp>
      <p:sp>
        <p:nvSpPr>
          <p:cNvPr id="14342" name="Rectangle 7"/>
          <p:cNvSpPr>
            <a:spLocks noChangeArrowheads="1"/>
          </p:cNvSpPr>
          <p:nvPr/>
        </p:nvSpPr>
        <p:spPr bwMode="auto">
          <a:xfrm>
            <a:off x="0" y="39806"/>
            <a:ext cx="91440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9159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Higher-Level Languages - </a:t>
            </a:r>
          </a:p>
          <a:p>
            <a:r>
              <a:rPr lang="en-US" altLang="en-US" sz="2800" u="sng" dirty="0">
                <a:solidFill>
                  <a:srgbClr val="FF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Third-Generation Languages</a:t>
            </a:r>
            <a:r>
              <a:rPr lang="en-US" altLang="en-US" sz="2800" u="sng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  <p:transition spd="slow">
    <p:pull dir="r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26158" y="966622"/>
            <a:ext cx="8229600" cy="5693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76176" rIns="0" bIns="76176">
            <a:spAutoFit/>
          </a:bodyPr>
          <a:lstStyle>
            <a:lvl1pPr marL="1311275" indent="-395288">
              <a:tabLst>
                <a:tab pos="915988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915988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915988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915988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915988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15988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15988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15988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15988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buFontTx/>
              <a:buChar char="•"/>
            </a:pPr>
            <a:r>
              <a:rPr lang="en-US" altLang="en-US" dirty="0">
                <a:cs typeface="Times New Roman" panose="02020603050405020304" pitchFamily="18" charset="0"/>
              </a:rPr>
              <a:t>Fourth-generation languages (4GLs) are even easier to use than 3GLs.</a:t>
            </a:r>
          </a:p>
          <a:p>
            <a:pPr lvl="3">
              <a:buFontTx/>
              <a:buChar char="•"/>
            </a:pPr>
            <a:r>
              <a:rPr lang="en-US" altLang="en-US" dirty="0">
                <a:cs typeface="Times New Roman" panose="02020603050405020304" pitchFamily="18" charset="0"/>
              </a:rPr>
              <a:t>4GLs may use a text-based environment (like a 3GL) or may allow the programmer to work in a visual environment, using graphical tools.</a:t>
            </a:r>
          </a:p>
          <a:p>
            <a:pPr lvl="4">
              <a:buFontTx/>
              <a:buChar char="•"/>
            </a:pPr>
            <a:r>
              <a:rPr lang="en-US" altLang="en-US" dirty="0">
                <a:cs typeface="Times New Roman" panose="02020603050405020304" pitchFamily="18" charset="0"/>
              </a:rPr>
              <a:t>Improved version of 3GLs in text-based environments.</a:t>
            </a:r>
          </a:p>
          <a:p>
            <a:pPr lvl="4">
              <a:buFontTx/>
              <a:buChar char="•"/>
            </a:pPr>
            <a:r>
              <a:rPr lang="en-US" altLang="en-US" dirty="0">
                <a:cs typeface="Times New Roman" panose="02020603050405020304" pitchFamily="18" charset="0"/>
              </a:rPr>
              <a:t>Can also allow the programmer to graphically create programs.</a:t>
            </a:r>
          </a:p>
          <a:p>
            <a:pPr lvl="5">
              <a:buFontTx/>
              <a:buChar char="•"/>
            </a:pPr>
            <a:r>
              <a:rPr lang="en-US" altLang="en-US" dirty="0">
                <a:cs typeface="Times New Roman" panose="02020603050405020304" pitchFamily="18" charset="0"/>
              </a:rPr>
              <a:t>Examples is the use of drag and drop to create a computer program</a:t>
            </a:r>
          </a:p>
          <a:p>
            <a:pPr lvl="3">
              <a:buFontTx/>
              <a:buChar char="•"/>
            </a:pPr>
            <a:r>
              <a:rPr lang="en-US" altLang="en-US" dirty="0">
                <a:cs typeface="Times New Roman" panose="02020603050405020304" pitchFamily="18" charset="0"/>
              </a:rPr>
              <a:t>The following languages are 4GLs:</a:t>
            </a:r>
          </a:p>
          <a:p>
            <a:pPr lvl="6">
              <a:buFontTx/>
              <a:buChar char="•"/>
            </a:pPr>
            <a:r>
              <a:rPr lang="en-US" altLang="en-US" dirty="0">
                <a:cs typeface="Times New Roman" panose="02020603050405020304" pitchFamily="18" charset="0"/>
              </a:rPr>
              <a:t>Visual Basic (VB)</a:t>
            </a:r>
          </a:p>
          <a:p>
            <a:pPr lvl="6">
              <a:buFontTx/>
              <a:buChar char="•"/>
            </a:pPr>
            <a:r>
              <a:rPr lang="en-US" altLang="en-US" dirty="0" err="1">
                <a:cs typeface="Times New Roman" panose="02020603050405020304" pitchFamily="18" charset="0"/>
              </a:rPr>
              <a:t>VisualAge</a:t>
            </a:r>
            <a:endParaRPr lang="en-US" altLang="en-US" dirty="0">
              <a:cs typeface="Times New Roman" panose="02020603050405020304" pitchFamily="18" charset="0"/>
            </a:endParaRPr>
          </a:p>
          <a:p>
            <a:pPr lvl="6">
              <a:buFontTx/>
              <a:buChar char="•"/>
            </a:pPr>
            <a:r>
              <a:rPr lang="en-US" altLang="en-US" dirty="0">
                <a:cs typeface="Times New Roman" panose="02020603050405020304" pitchFamily="18" charset="0"/>
              </a:rPr>
              <a:t>Authoring environments</a:t>
            </a:r>
          </a:p>
        </p:txBody>
      </p:sp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0" y="3338513"/>
            <a:ext cx="9144000" cy="700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76176" rIns="0" bIns="76176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endParaRPr lang="en-US" altLang="en-US" sz="1200" i="1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endParaRPr lang="en-US" altLang="en-US"/>
          </a:p>
        </p:txBody>
      </p:sp>
      <p:sp>
        <p:nvSpPr>
          <p:cNvPr id="15365" name="Rectangle 5"/>
          <p:cNvSpPr>
            <a:spLocks noChangeArrowheads="1"/>
          </p:cNvSpPr>
          <p:nvPr/>
        </p:nvSpPr>
        <p:spPr bwMode="auto">
          <a:xfrm>
            <a:off x="0" y="20472"/>
            <a:ext cx="91440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9159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Higher-Level Languages - </a:t>
            </a:r>
            <a:b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</a:br>
            <a:r>
              <a:rPr lang="en-US" altLang="en-US" sz="2800" u="sng" dirty="0">
                <a:solidFill>
                  <a:srgbClr val="FF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Fourth-Generation Languages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  <p:transition spd="slow">
    <p:randomBar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0" y="1676400"/>
            <a:ext cx="8458200" cy="3477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76176" rIns="0" bIns="76176">
            <a:spAutoFit/>
          </a:bodyPr>
          <a:lstStyle>
            <a:lvl1pPr marL="1365250" indent="-395288" defTabSz="2349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2349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2349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2349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2349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2349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2349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2349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2349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buFontTx/>
              <a:buChar char="•"/>
            </a:pPr>
            <a:r>
              <a:rPr lang="en-US" altLang="en-US" dirty="0">
                <a:cs typeface="Times New Roman" panose="02020603050405020304" pitchFamily="18" charset="0"/>
              </a:rPr>
              <a:t>Fifth-generation languages (5GLs):</a:t>
            </a:r>
          </a:p>
          <a:p>
            <a:pPr lvl="3">
              <a:buFontTx/>
              <a:buChar char="•"/>
            </a:pPr>
            <a:r>
              <a:rPr lang="en-US" altLang="en-US" dirty="0">
                <a:cs typeface="Times New Roman" panose="02020603050405020304" pitchFamily="18" charset="0"/>
              </a:rPr>
              <a:t>They are an issue of debate in the programming community.</a:t>
            </a:r>
          </a:p>
          <a:p>
            <a:pPr lvl="4">
              <a:buFontTx/>
              <a:buChar char="•"/>
            </a:pPr>
            <a:r>
              <a:rPr lang="en-US" altLang="en-US" dirty="0">
                <a:cs typeface="Times New Roman" panose="02020603050405020304" pitchFamily="18" charset="0"/>
              </a:rPr>
              <a:t>Some programmers cannot agree that they even exist.</a:t>
            </a:r>
          </a:p>
          <a:p>
            <a:pPr lvl="3">
              <a:buFontTx/>
              <a:buChar char="•"/>
            </a:pPr>
            <a:r>
              <a:rPr lang="en-US" altLang="en-US" dirty="0">
                <a:cs typeface="Times New Roman" panose="02020603050405020304" pitchFamily="18" charset="0"/>
              </a:rPr>
              <a:t>These high-level languages would use artificial intelligence to create software.</a:t>
            </a:r>
          </a:p>
          <a:p>
            <a:pPr lvl="4">
              <a:buFontTx/>
              <a:buChar char="•"/>
            </a:pPr>
            <a:r>
              <a:rPr lang="en-US" altLang="en-US" dirty="0">
                <a:cs typeface="Times New Roman" panose="02020603050405020304" pitchFamily="18" charset="0"/>
              </a:rPr>
              <a:t>This will make 5GLs extremely difficult to use in developing computer programs.</a:t>
            </a:r>
            <a:r>
              <a:rPr lang="en-US" altLang="en-US" dirty="0"/>
              <a:t> </a:t>
            </a:r>
          </a:p>
        </p:txBody>
      </p:sp>
      <p:sp>
        <p:nvSpPr>
          <p:cNvPr id="16387" name="Rectangle 3"/>
          <p:cNvSpPr>
            <a:spLocks noChangeArrowheads="1"/>
          </p:cNvSpPr>
          <p:nvPr/>
        </p:nvSpPr>
        <p:spPr bwMode="auto">
          <a:xfrm>
            <a:off x="0" y="457200"/>
            <a:ext cx="91440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9159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Higher-Level Languages - </a:t>
            </a:r>
            <a:b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</a:br>
            <a:r>
              <a:rPr lang="en-US" altLang="en-US" sz="2800" u="sng">
                <a:solidFill>
                  <a:srgbClr val="FF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Fifth-Generation Languages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  <p:transition spd="slow">
    <p:randomBar dir="vert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0" y="1676400"/>
            <a:ext cx="8458200" cy="20004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76176" rIns="0" bIns="76176">
            <a:spAutoFit/>
          </a:bodyPr>
          <a:lstStyle>
            <a:lvl1pPr marL="1365250" indent="-395288" defTabSz="2349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2349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2349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2349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2349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2349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2349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2349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2349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800100" lvl="1" indent="-342900">
              <a:buFont typeface="Arial" charset="0"/>
              <a:buChar char="•"/>
            </a:pPr>
            <a:r>
              <a:rPr lang="en-GB" dirty="0"/>
              <a:t>Programs written in a high-level language need to be translated into machine language/code before they can be executed by a computer.</a:t>
            </a:r>
          </a:p>
          <a:p>
            <a:pPr marL="1200150" lvl="2" indent="-342900">
              <a:buFont typeface="Arial" charset="0"/>
              <a:buChar char="•"/>
            </a:pPr>
            <a:r>
              <a:rPr lang="en-GB" dirty="0"/>
              <a:t>Some programming languages use a </a:t>
            </a:r>
            <a:r>
              <a:rPr lang="en-GB" b="1" dirty="0"/>
              <a:t>compiler</a:t>
            </a:r>
            <a:r>
              <a:rPr lang="en-GB" dirty="0"/>
              <a:t> to perform this translation and others use an </a:t>
            </a:r>
            <a:r>
              <a:rPr lang="en-GB" b="1" dirty="0"/>
              <a:t>interpreter</a:t>
            </a:r>
            <a:r>
              <a:rPr lang="en-GB" dirty="0"/>
              <a:t>.</a:t>
            </a:r>
          </a:p>
        </p:txBody>
      </p:sp>
      <p:sp>
        <p:nvSpPr>
          <p:cNvPr id="16387" name="Rectangle 3"/>
          <p:cNvSpPr>
            <a:spLocks noChangeArrowheads="1"/>
          </p:cNvSpPr>
          <p:nvPr/>
        </p:nvSpPr>
        <p:spPr bwMode="auto">
          <a:xfrm>
            <a:off x="0" y="457200"/>
            <a:ext cx="91440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9159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Higher-Level Languages</a:t>
            </a:r>
            <a:endParaRPr lang="en-US" altLang="en-US" sz="32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7662149"/>
      </p:ext>
    </p:extLst>
  </p:cSld>
  <p:clrMapOvr>
    <a:masterClrMapping/>
  </p:clrMapOvr>
  <p:transition spd="slow">
    <p:randomBar dir="vert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0" y="1371600"/>
            <a:ext cx="8077200" cy="39702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76176" rIns="0" bIns="76176">
            <a:spAutoFit/>
          </a:bodyPr>
          <a:lstStyle>
            <a:lvl1pPr marL="1365250" indent="-395288" defTabSz="2349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2349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2349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2349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2349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2349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2349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2349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2349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buFontTx/>
              <a:buChar char="•"/>
            </a:pPr>
            <a:r>
              <a:rPr lang="en-US" altLang="en-US" sz="2800" dirty="0">
                <a:cs typeface="Times New Roman" panose="02020603050405020304" pitchFamily="18" charset="0"/>
              </a:rPr>
              <a:t>Identify the three main categories of programming languages.</a:t>
            </a:r>
          </a:p>
          <a:p>
            <a:pPr marL="969962" indent="0"/>
            <a:endParaRPr lang="en-US" altLang="en-US" sz="2800" dirty="0">
              <a:cs typeface="Times New Roman" panose="02020603050405020304" pitchFamily="18" charset="0"/>
            </a:endParaRPr>
          </a:p>
          <a:p>
            <a:pPr>
              <a:buFontTx/>
              <a:buChar char="•"/>
            </a:pPr>
            <a:r>
              <a:rPr lang="en-US" altLang="en-US" sz="2800" dirty="0">
                <a:cs typeface="Times New Roman" panose="02020603050405020304" pitchFamily="18" charset="0"/>
              </a:rPr>
              <a:t>Describe the five generations of programming languages.</a:t>
            </a:r>
          </a:p>
          <a:p>
            <a:pPr>
              <a:buFontTx/>
              <a:buChar char="•"/>
            </a:pPr>
            <a:endParaRPr lang="en-US" altLang="en-US" sz="2800" dirty="0">
              <a:cs typeface="Times New Roman" panose="02020603050405020304" pitchFamily="18" charset="0"/>
            </a:endParaRPr>
          </a:p>
          <a:p>
            <a:pPr>
              <a:buFontTx/>
              <a:buChar char="•"/>
            </a:pPr>
            <a:r>
              <a:rPr lang="en-US" altLang="en-US" sz="2800" dirty="0">
                <a:cs typeface="Times New Roman" panose="02020603050405020304" pitchFamily="18" charset="0"/>
              </a:rPr>
              <a:t>Name at least five major programming languages.</a:t>
            </a:r>
          </a:p>
          <a:p>
            <a:pPr>
              <a:buFontTx/>
              <a:buChar char="•"/>
            </a:pPr>
            <a:endParaRPr lang="en-US" altLang="en-US" dirty="0">
              <a:solidFill>
                <a:schemeClr val="accent2"/>
              </a:solidFill>
              <a:cs typeface="Times New Roman" panose="02020603050405020304" pitchFamily="18" charset="0"/>
            </a:endParaRPr>
          </a:p>
        </p:txBody>
      </p:sp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0" y="2546350"/>
            <a:ext cx="9144000" cy="882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76176" rIns="0" bIns="76176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endParaRPr lang="en-US" altLang="en-US" sz="1200" i="1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endParaRPr lang="en-US" altLang="en-US" sz="1200" i="1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endParaRPr lang="en-US" altLang="en-US"/>
          </a:p>
        </p:txBody>
      </p:sp>
      <p:sp>
        <p:nvSpPr>
          <p:cNvPr id="17412" name="Rectangle 4"/>
          <p:cNvSpPr>
            <a:spLocks noChangeArrowheads="1"/>
          </p:cNvSpPr>
          <p:nvPr/>
        </p:nvSpPr>
        <p:spPr bwMode="auto">
          <a:xfrm>
            <a:off x="0" y="3429000"/>
            <a:ext cx="9144000" cy="700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76176" rIns="0" bIns="76176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endParaRPr lang="en-US" altLang="en-US" sz="1200" i="1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endParaRPr lang="en-US" altLang="en-US"/>
          </a:p>
        </p:txBody>
      </p:sp>
      <p:sp>
        <p:nvSpPr>
          <p:cNvPr id="17413" name="Rectangle 5"/>
          <p:cNvSpPr>
            <a:spLocks noChangeArrowheads="1"/>
          </p:cNvSpPr>
          <p:nvPr/>
        </p:nvSpPr>
        <p:spPr bwMode="auto">
          <a:xfrm>
            <a:off x="0" y="4311650"/>
            <a:ext cx="9144000" cy="700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76176" rIns="0" bIns="76176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endParaRPr lang="en-US" altLang="en-US" sz="1200" i="1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endParaRPr lang="en-US" altLang="en-US"/>
          </a:p>
        </p:txBody>
      </p:sp>
      <p:sp>
        <p:nvSpPr>
          <p:cNvPr id="13319" name="Text Box 7"/>
          <p:cNvSpPr txBox="1">
            <a:spLocks noChangeArrowheads="1"/>
          </p:cNvSpPr>
          <p:nvPr/>
        </p:nvSpPr>
        <p:spPr bwMode="auto">
          <a:xfrm>
            <a:off x="1066800" y="838200"/>
            <a:ext cx="9144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CBCBCB"/>
                    </a:gs>
                    <a:gs pos="13000">
                      <a:srgbClr val="5F5F5F"/>
                    </a:gs>
                    <a:gs pos="21001">
                      <a:srgbClr val="5F5F5F"/>
                    </a:gs>
                    <a:gs pos="63000">
                      <a:srgbClr val="FFFFFF"/>
                    </a:gs>
                    <a:gs pos="67000">
                      <a:srgbClr val="B2B2B2"/>
                    </a:gs>
                    <a:gs pos="69000">
                      <a:srgbClr val="292929"/>
                    </a:gs>
                    <a:gs pos="82001">
                      <a:srgbClr val="777777"/>
                    </a:gs>
                    <a:gs pos="100000">
                      <a:srgbClr val="EAEAEA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9144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800" dirty="0">
                <a:latin typeface="Blade Runner Movie Font" pitchFamily="34" charset="0"/>
              </a:rPr>
              <a:t>Assignment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9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>
          <a:xfrm>
            <a:off x="685800" y="2971800"/>
            <a:ext cx="7772400" cy="1143000"/>
          </a:xfrm>
        </p:spPr>
        <p:txBody>
          <a:bodyPr/>
          <a:lstStyle/>
          <a:p>
            <a:r>
              <a:rPr lang="en-US" altLang="en-US"/>
              <a:t>END</a:t>
            </a:r>
          </a:p>
        </p:txBody>
      </p:sp>
      <p:sp>
        <p:nvSpPr>
          <p:cNvPr id="34819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2E6825A-C4B2-4C0D-84C9-AFA77D0BA74D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en-US" sz="140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2633</TotalTime>
  <Words>1039</Words>
  <Application>Microsoft Office PowerPoint</Application>
  <PresentationFormat>On-screen Show (4:3)</PresentationFormat>
  <Paragraphs>129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ＭＳ Ｐゴシック</vt:lpstr>
      <vt:lpstr>Arial</vt:lpstr>
      <vt:lpstr>Blade Runner Movie Font</vt:lpstr>
      <vt:lpstr>Calibri</vt:lpstr>
      <vt:lpstr>Rockwell</vt:lpstr>
      <vt:lpstr>Rockwell Condensed</vt:lpstr>
      <vt:lpstr>Tahoma</vt:lpstr>
      <vt:lpstr>Times New Roman</vt:lpstr>
      <vt:lpstr>Wingdings</vt:lpstr>
      <vt:lpstr>Wood Type</vt:lpstr>
      <vt:lpstr>PRINCIPLES OF PROGRAMMING</vt:lpstr>
      <vt:lpstr>What are Program and programming language?</vt:lpstr>
      <vt:lpstr>Why study programming languages?</vt:lpstr>
      <vt:lpstr>Why study programming languages?   (cont.)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END</vt:lpstr>
    </vt:vector>
  </TitlesOfParts>
  <Company>UMBC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  -  CS 331, Principles of Programming Languages</dc:title>
  <dc:creator>Charles Nicholas</dc:creator>
  <cp:lastModifiedBy>Jospeter Jonathan</cp:lastModifiedBy>
  <cp:revision>95</cp:revision>
  <cp:lastPrinted>1999-09-02T18:11:19Z</cp:lastPrinted>
  <dcterms:created xsi:type="dcterms:W3CDTF">1999-01-26T17:19:22Z</dcterms:created>
  <dcterms:modified xsi:type="dcterms:W3CDTF">2026-01-12T08:15:57Z</dcterms:modified>
</cp:coreProperties>
</file>