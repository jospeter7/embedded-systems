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3" r:id="rId4"/>
    <p:sldId id="294" r:id="rId5"/>
    <p:sldId id="258" r:id="rId6"/>
    <p:sldId id="259" r:id="rId7"/>
    <p:sldId id="260" r:id="rId8"/>
    <p:sldId id="261" r:id="rId9"/>
    <p:sldId id="262" r:id="rId10"/>
    <p:sldId id="263" r:id="rId11"/>
    <p:sldId id="301" r:id="rId12"/>
    <p:sldId id="267" r:id="rId13"/>
    <p:sldId id="264" r:id="rId14"/>
    <p:sldId id="265" r:id="rId15"/>
    <p:sldId id="266" r:id="rId16"/>
    <p:sldId id="268" r:id="rId17"/>
    <p:sldId id="269" r:id="rId18"/>
    <p:sldId id="270" r:id="rId19"/>
    <p:sldId id="271" r:id="rId20"/>
    <p:sldId id="272" r:id="rId21"/>
    <p:sldId id="273" r:id="rId22"/>
    <p:sldId id="295" r:id="rId23"/>
    <p:sldId id="274" r:id="rId24"/>
    <p:sldId id="275" r:id="rId25"/>
    <p:sldId id="276" r:id="rId26"/>
    <p:sldId id="277" r:id="rId27"/>
    <p:sldId id="278" r:id="rId28"/>
    <p:sldId id="280" r:id="rId29"/>
    <p:sldId id="296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7" r:id="rId39"/>
    <p:sldId id="298" r:id="rId40"/>
    <p:sldId id="299" r:id="rId41"/>
    <p:sldId id="300" r:id="rId42"/>
    <p:sldId id="289" r:id="rId43"/>
    <p:sldId id="290" r:id="rId44"/>
    <p:sldId id="291" r:id="rId45"/>
    <p:sldId id="279" r:id="rId46"/>
    <p:sldId id="29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peter Jonathan" userId="cd218e847753ee0b" providerId="LiveId" clId="{E265E5F1-6FA0-4A49-A91B-C74A6338A149}"/>
    <pc:docChg chg="modSld">
      <pc:chgData name="Jospeter Jonathan" userId="cd218e847753ee0b" providerId="LiveId" clId="{E265E5F1-6FA0-4A49-A91B-C74A6338A149}" dt="2026-01-12T10:41:06.284" v="7" actId="20577"/>
      <pc:docMkLst>
        <pc:docMk/>
      </pc:docMkLst>
      <pc:sldChg chg="modSp mod">
        <pc:chgData name="Jospeter Jonathan" userId="cd218e847753ee0b" providerId="LiveId" clId="{E265E5F1-6FA0-4A49-A91B-C74A6338A149}" dt="2026-01-12T10:41:06.284" v="7" actId="20577"/>
        <pc:sldMkLst>
          <pc:docMk/>
          <pc:sldMk cId="402320638" sldId="256"/>
        </pc:sldMkLst>
        <pc:spChg chg="mod">
          <ac:chgData name="Jospeter Jonathan" userId="cd218e847753ee0b" providerId="LiveId" clId="{E265E5F1-6FA0-4A49-A91B-C74A6338A149}" dt="2026-01-12T10:41:06.284" v="7" actId="20577"/>
          <ac:spMkLst>
            <pc:docMk/>
            <pc:sldMk cId="402320638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8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48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2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0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9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98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7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2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8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1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479844A-43B4-4FD3-8701-35A71EB27A7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FD7C521-842F-43A1-977B-228BB2D35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8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Introduction%20To%20Problem%20Solving%20-%20IPO%20Charts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Principles of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40232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Algorithms </a:t>
            </a:r>
          </a:p>
          <a:p>
            <a:r>
              <a:rPr lang="en-US" sz="3600" dirty="0"/>
              <a:t> Pseudocode </a:t>
            </a:r>
          </a:p>
          <a:p>
            <a:r>
              <a:rPr lang="en-US" sz="3600" dirty="0"/>
              <a:t> Flowcharts</a:t>
            </a:r>
          </a:p>
        </p:txBody>
      </p:sp>
    </p:spTree>
    <p:extLst>
      <p:ext uri="{BB962C8B-B14F-4D97-AF65-F5344CB8AC3E}">
        <p14:creationId xmlns:p14="http://schemas.microsoft.com/office/powerpoint/2010/main" val="249753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program development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7227" y="2194790"/>
            <a:ext cx="7908842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60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program development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756" y="2001116"/>
            <a:ext cx="9029646" cy="297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8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A set of sequential steps usually written in Ordinary Language to solve a given problem is called Algorithm.</a:t>
            </a:r>
          </a:p>
          <a:p>
            <a:pPr algn="just"/>
            <a:r>
              <a:rPr lang="en-US" sz="3200" dirty="0"/>
              <a:t>It may be possible to solve to problem in more than one ways, resulting in more than one algorithm.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84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lvl="0" indent="-228600" algn="just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The choice of various algorithms depends on the factors like </a:t>
            </a:r>
            <a:r>
              <a:rPr lang="en-US" sz="3600" dirty="0">
                <a:solidFill>
                  <a:srgbClr val="FF0000"/>
                </a:solidFill>
                <a:latin typeface="Calibri" panose="020F0502020204030204"/>
              </a:rPr>
              <a:t>reliability</a:t>
            </a: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sz="3600" dirty="0">
                <a:solidFill>
                  <a:srgbClr val="FF0000"/>
                </a:solidFill>
                <a:latin typeface="Calibri" panose="020F0502020204030204"/>
              </a:rPr>
              <a:t>accuracy and easy to modify</a:t>
            </a: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. </a:t>
            </a:r>
          </a:p>
          <a:p>
            <a:pPr marL="228600" lvl="0" indent="-228600" algn="just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The most important factor in the choice of algorithm is the </a:t>
            </a:r>
            <a:r>
              <a:rPr lang="en-US" sz="3600" dirty="0">
                <a:solidFill>
                  <a:srgbClr val="FF0000"/>
                </a:solidFill>
                <a:latin typeface="Calibri" panose="020F0502020204030204"/>
              </a:rPr>
              <a:t>time requirement to execute it</a:t>
            </a: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, after writing code in High-level language with the help of a computer.  </a:t>
            </a:r>
          </a:p>
          <a:p>
            <a:pPr marL="228600" lvl="0" indent="-228600" algn="just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The algorithm which will need the least time when executed is considered the best.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62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>
              <a:spcBef>
                <a:spcPts val="1000"/>
              </a:spcBef>
              <a:buClrTx/>
              <a:buSzTx/>
            </a:pPr>
            <a:r>
              <a:rPr lang="en-US" sz="4000" b="1" dirty="0">
                <a:solidFill>
                  <a:prstClr val="black"/>
                </a:solidFill>
                <a:latin typeface="Calibri" panose="020F0502020204030204"/>
              </a:rPr>
              <a:t>Steps involved in algorithm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 algn="just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An algorithm can be defined as </a:t>
            </a:r>
            <a:r>
              <a:rPr lang="en-US" sz="3200" dirty="0">
                <a:solidFill>
                  <a:srgbClr val="FF0000"/>
                </a:solidFill>
                <a:latin typeface="Calibri" panose="020F0502020204030204"/>
              </a:rPr>
              <a:t>“a complete, unambiguous, finite number of logical steps for solving a specific problem “</a:t>
            </a:r>
          </a:p>
          <a:p>
            <a:pPr marL="0" lvl="0" indent="0" algn="just">
              <a:spcBef>
                <a:spcPts val="1000"/>
              </a:spcBef>
              <a:buClrTx/>
              <a:buSzTx/>
              <a:buNone/>
            </a:pPr>
            <a:r>
              <a:rPr lang="en-US" sz="3600" dirty="0">
                <a:solidFill>
                  <a:srgbClr val="0070C0"/>
                </a:solidFill>
                <a:latin typeface="Calibri" panose="020F0502020204030204"/>
              </a:rPr>
              <a:t>Step1. Identification of input: </a:t>
            </a: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228600" lvl="0" indent="-228600" algn="just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 For an algorithm, there are quantities to be supplied called input and these are fed externally. </a:t>
            </a:r>
          </a:p>
          <a:p>
            <a:pPr marL="228600" lvl="0" indent="-228600" algn="just"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The input is to be identified first for any specified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3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>
              <a:spcBef>
                <a:spcPts val="1000"/>
              </a:spcBef>
              <a:buClrTx/>
              <a:buSzTx/>
            </a:pPr>
            <a:r>
              <a:rPr lang="en-US" sz="4000" b="1" dirty="0">
                <a:solidFill>
                  <a:prstClr val="black"/>
                </a:solidFill>
                <a:latin typeface="Calibri" panose="020F0502020204030204"/>
              </a:rPr>
              <a:t>Steps involved in algorithm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1000"/>
              </a:spcBef>
              <a:buClrTx/>
              <a:buSzTx/>
              <a:buNone/>
            </a:pPr>
            <a:r>
              <a:rPr lang="en-US" sz="3200" dirty="0">
                <a:solidFill>
                  <a:srgbClr val="0070C0"/>
                </a:solidFill>
                <a:latin typeface="Calibri" panose="020F0502020204030204"/>
              </a:rPr>
              <a:t>Step1. Identification of input: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lang="en-US" sz="3200" b="1" dirty="0">
              <a:solidFill>
                <a:prstClr val="black"/>
              </a:solidFill>
              <a:latin typeface="Calibri" panose="020F0502020204030204"/>
            </a:endParaRPr>
          </a:p>
          <a:p>
            <a:pPr lvl="0" algn="just">
              <a:spcBef>
                <a:spcPts val="100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These are the parts/components/ingredients required to accomplish the task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462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>
              <a:spcBef>
                <a:spcPts val="1000"/>
              </a:spcBef>
              <a:buClrTx/>
              <a:buSzTx/>
            </a:pPr>
            <a:r>
              <a:rPr lang="en-US" sz="4000" b="1" dirty="0">
                <a:solidFill>
                  <a:prstClr val="black"/>
                </a:solidFill>
                <a:latin typeface="Calibri" panose="020F0502020204030204"/>
              </a:rPr>
              <a:t>Steps involved in algorithm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0070C0"/>
                </a:solidFill>
              </a:rPr>
              <a:t>Step2: Identification of output: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dirty="0"/>
              <a:t>From an algorithm, at least one quantity is produced, called for any specified problem.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0070C0"/>
                </a:solidFill>
              </a:rPr>
              <a:t>Step3 : Identification the processing operations 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All the calculations to be performed in order to lead to output from the input are to be  identified in an orderly manner.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6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>
              <a:spcBef>
                <a:spcPts val="1000"/>
              </a:spcBef>
              <a:buClrTx/>
              <a:buSzTx/>
            </a:pPr>
            <a:r>
              <a:rPr lang="en-US" sz="4000" b="1" dirty="0">
                <a:solidFill>
                  <a:prstClr val="black"/>
                </a:solidFill>
                <a:latin typeface="Calibri" panose="020F0502020204030204"/>
              </a:rPr>
              <a:t>Steps involved in algorithm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Algorithms for making things will often be divided into sections; </a:t>
            </a:r>
          </a:p>
          <a:p>
            <a:pPr marL="0" indent="0" algn="just">
              <a:buNone/>
            </a:pPr>
            <a:r>
              <a:rPr lang="en-US" sz="2800" dirty="0"/>
              <a:t>    – the parts/components/ingredients (</a:t>
            </a:r>
            <a:r>
              <a:rPr lang="en-US" sz="2800" dirty="0">
                <a:solidFill>
                  <a:srgbClr val="00B0F0"/>
                </a:solidFill>
              </a:rPr>
              <a:t>inputs</a:t>
            </a:r>
            <a:r>
              <a:rPr lang="en-US" sz="2800" dirty="0"/>
              <a:t>) required to accomplish the task </a:t>
            </a:r>
          </a:p>
          <a:p>
            <a:pPr marL="0" indent="0" algn="just">
              <a:buNone/>
            </a:pPr>
            <a:r>
              <a:rPr lang="en-US" sz="2800" dirty="0"/>
              <a:t>   – actions/steps/methods </a:t>
            </a:r>
            <a:r>
              <a:rPr lang="en-US" sz="2800" dirty="0">
                <a:solidFill>
                  <a:srgbClr val="00B0F0"/>
                </a:solidFill>
              </a:rPr>
              <a:t>(processing</a:t>
            </a:r>
            <a:r>
              <a:rPr lang="en-US" sz="2800" dirty="0"/>
              <a:t>) to produce the required outcome (</a:t>
            </a:r>
            <a:r>
              <a:rPr lang="en-US" sz="2800" dirty="0">
                <a:solidFill>
                  <a:srgbClr val="00B0F0"/>
                </a:solidFill>
              </a:rPr>
              <a:t>output</a:t>
            </a:r>
            <a:r>
              <a:rPr lang="en-US" sz="2800" dirty="0"/>
              <a:t>).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For example to build a model car, the parts (</a:t>
            </a:r>
            <a:r>
              <a:rPr lang="en-US" sz="2800" dirty="0">
                <a:solidFill>
                  <a:srgbClr val="00B0F0"/>
                </a:solidFill>
              </a:rPr>
              <a:t>inputs</a:t>
            </a:r>
            <a:r>
              <a:rPr lang="en-US" sz="2800" dirty="0"/>
              <a:t>) are needed plus instructions on how to assemble the car (</a:t>
            </a:r>
            <a:r>
              <a:rPr lang="en-US" sz="2800" dirty="0">
                <a:solidFill>
                  <a:srgbClr val="00B0F0"/>
                </a:solidFill>
              </a:rPr>
              <a:t>processing</a:t>
            </a:r>
            <a:r>
              <a:rPr lang="en-US" sz="2800" dirty="0"/>
              <a:t>) and the result is the car (</a:t>
            </a:r>
            <a:r>
              <a:rPr lang="en-US" sz="2800" dirty="0">
                <a:solidFill>
                  <a:srgbClr val="00B0F0"/>
                </a:solidFill>
              </a:rPr>
              <a:t>output</a:t>
            </a:r>
            <a:r>
              <a:rPr lang="en-US" sz="2800" dirty="0"/>
              <a:t>).</a:t>
            </a:r>
          </a:p>
          <a:p>
            <a:pPr marL="0" indent="0" algn="just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58919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IPO </a:t>
            </a:r>
            <a:r>
              <a:rPr lang="en-US" dirty="0">
                <a:hlinkClick r:id="rId2" action="ppaction://hlinkfile"/>
              </a:rPr>
              <a:t>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093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EXAMPLE</a:t>
            </a:r>
            <a:r>
              <a:rPr lang="en-US" dirty="0"/>
              <a:t> (</a:t>
            </a:r>
            <a:r>
              <a:rPr lang="en-CA" altLang="en-US" sz="3600" dirty="0">
                <a:solidFill>
                  <a:srgbClr val="FF0000"/>
                </a:solidFill>
              </a:rPr>
              <a:t>HOW TO EAT A BANANA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9015" y="2053948"/>
            <a:ext cx="9524873" cy="381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4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>
              <a:spcBef>
                <a:spcPts val="1000"/>
              </a:spcBef>
              <a:buClrTx/>
              <a:buSzTx/>
            </a:pPr>
            <a:r>
              <a:rPr lang="en-US" sz="4000" b="1" dirty="0">
                <a:solidFill>
                  <a:prstClr val="black"/>
                </a:solidFill>
                <a:latin typeface="Calibri" panose="020F0502020204030204"/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3600" dirty="0"/>
              <a:t>Two forms of Algorithm: </a:t>
            </a:r>
          </a:p>
          <a:p>
            <a:pPr marL="0" indent="0" algn="just">
              <a:buNone/>
            </a:pPr>
            <a:r>
              <a:rPr lang="en-US" sz="3600" dirty="0"/>
              <a:t>      – Pseudocode</a:t>
            </a:r>
          </a:p>
          <a:p>
            <a:pPr marL="0" indent="0" algn="just">
              <a:buNone/>
            </a:pPr>
            <a:r>
              <a:rPr lang="en-US" sz="3600" dirty="0"/>
              <a:t>      – Flow chart</a:t>
            </a:r>
          </a:p>
        </p:txBody>
      </p:sp>
    </p:spTree>
    <p:extLst>
      <p:ext uri="{BB962C8B-B14F-4D97-AF65-F5344CB8AC3E}">
        <p14:creationId xmlns:p14="http://schemas.microsoft.com/office/powerpoint/2010/main" val="357448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 An algorithm can be written in </a:t>
            </a:r>
            <a:r>
              <a:rPr lang="en-US" sz="2800" dirty="0">
                <a:solidFill>
                  <a:srgbClr val="FF0000"/>
                </a:solidFill>
              </a:rPr>
              <a:t>English like sentences </a:t>
            </a:r>
            <a:r>
              <a:rPr lang="en-US" sz="2800" dirty="0"/>
              <a:t>or in any standard representation sometimes, algorithm written in English like languages are called </a:t>
            </a:r>
            <a:r>
              <a:rPr lang="en-US" sz="2800" dirty="0">
                <a:solidFill>
                  <a:srgbClr val="FF0000"/>
                </a:solidFill>
              </a:rPr>
              <a:t>Pseudo Code</a:t>
            </a:r>
            <a:endParaRPr lang="en-US" sz="2800" dirty="0"/>
          </a:p>
          <a:p>
            <a:pPr algn="just"/>
            <a:r>
              <a:rPr lang="en-US" sz="2800" dirty="0"/>
              <a:t>Pseudocode (which means fake code, because its not really programming code) specifies the steps required to accomplish the task. </a:t>
            </a:r>
          </a:p>
          <a:p>
            <a:pPr algn="just"/>
            <a:r>
              <a:rPr lang="en-US" sz="2800" dirty="0"/>
              <a:t> Pseudocode is a type of structured </a:t>
            </a:r>
            <a:r>
              <a:rPr lang="en-US" sz="2800" dirty="0">
                <a:solidFill>
                  <a:srgbClr val="00B0F0"/>
                </a:solidFill>
              </a:rPr>
              <a:t>English</a:t>
            </a:r>
            <a:r>
              <a:rPr lang="en-US" sz="2800" dirty="0"/>
              <a:t> that is used to specify an algorithm. </a:t>
            </a:r>
          </a:p>
          <a:p>
            <a:pPr marL="0" indent="0" algn="just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8760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Pseudocode cannot be compiled nor executed, and there are no real formatting or syntax rules.</a:t>
            </a:r>
          </a:p>
          <a:p>
            <a:pPr algn="just"/>
            <a:r>
              <a:rPr lang="en-US" sz="2800" dirty="0"/>
              <a:t>In pseudo code, the program is represented in terms of words and phrases, </a:t>
            </a:r>
            <a:r>
              <a:rPr lang="en-US" sz="2800" dirty="0">
                <a:solidFill>
                  <a:srgbClr val="0070C0"/>
                </a:solidFill>
              </a:rPr>
              <a:t>but the syntax of program is not strictly followed.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78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Pseudocode Necessary?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/>
              <a:t>The programming process is a complicated one. </a:t>
            </a:r>
          </a:p>
          <a:p>
            <a:pPr algn="just"/>
            <a:r>
              <a:rPr lang="en-US" sz="2800" dirty="0"/>
              <a:t> You must first understand the program specifications. </a:t>
            </a:r>
          </a:p>
          <a:p>
            <a:pPr algn="just"/>
            <a:r>
              <a:rPr lang="en-US" sz="2800" dirty="0"/>
              <a:t> Then you need to organize your thoughts and create the program. </a:t>
            </a:r>
          </a:p>
          <a:p>
            <a:pPr algn="just"/>
            <a:r>
              <a:rPr lang="en-US" sz="2800" dirty="0"/>
              <a:t>You must break the main tasks that must be accomplished into smaller ones in order to be able to eventually write fully developed code. </a:t>
            </a:r>
          </a:p>
          <a:p>
            <a:pPr algn="just"/>
            <a:r>
              <a:rPr lang="en-US" sz="2800" dirty="0"/>
              <a:t>Writing Pseudocode will save you time later during the construction &amp; testing phase of a program's development. </a:t>
            </a:r>
          </a:p>
        </p:txBody>
      </p:sp>
    </p:spTree>
    <p:extLst>
      <p:ext uri="{BB962C8B-B14F-4D97-AF65-F5344CB8AC3E}">
        <p14:creationId xmlns:p14="http://schemas.microsoft.com/office/powerpoint/2010/main" val="954442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How to Write Pseudocode Statements?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There are six basic computer operations</a:t>
            </a:r>
          </a:p>
          <a:p>
            <a:pPr marL="457200" indent="-457200">
              <a:buAutoNum type="arabicPeriod"/>
            </a:pPr>
            <a:r>
              <a:rPr lang="en-US" sz="2800" dirty="0"/>
              <a:t>A computer can receive information Read (information from a file), Get (information from the keyboard)</a:t>
            </a:r>
          </a:p>
          <a:p>
            <a:pPr marL="457200" indent="-457200">
              <a:buAutoNum type="arabicPeriod"/>
            </a:pPr>
            <a:r>
              <a:rPr lang="en-US" sz="2800" dirty="0"/>
              <a:t> A computer can put out information Write (information to a file), Display (information to the screen)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34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How to Write Pseudocode Statements?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There are six basic computer operations</a:t>
            </a:r>
          </a:p>
          <a:p>
            <a:pPr marL="514350" indent="-514350">
              <a:buAutoNum type="arabicPeriod" startAt="3"/>
            </a:pPr>
            <a:r>
              <a:rPr lang="en-US" sz="2800" dirty="0"/>
              <a:t>A computer can perform arithmetic Use actual mathematical symbols or the words for the symbols Example:</a:t>
            </a:r>
          </a:p>
          <a:p>
            <a:pPr marL="0" indent="0">
              <a:buNone/>
            </a:pPr>
            <a:r>
              <a:rPr lang="en-US" sz="2800" dirty="0"/>
              <a:t>  Add number to total  </a:t>
            </a:r>
          </a:p>
          <a:p>
            <a:pPr marL="0" indent="0">
              <a:buNone/>
            </a:pPr>
            <a:r>
              <a:rPr lang="en-US" sz="2800" dirty="0"/>
              <a:t>     Total = total + number </a:t>
            </a:r>
          </a:p>
          <a:p>
            <a:pPr marL="0" indent="0">
              <a:buNone/>
            </a:pPr>
            <a:r>
              <a:rPr lang="en-US" sz="2800" dirty="0"/>
              <a:t>     +, -, *, / Calculate, Compute also be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692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How to Write Pseudocode Statements?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There are six basic computer operations</a:t>
            </a:r>
          </a:p>
          <a:p>
            <a:pPr marL="514350" indent="-514350">
              <a:buAutoNum type="arabicPeriod" startAt="4"/>
            </a:pPr>
            <a:r>
              <a:rPr lang="en-US" sz="2800" dirty="0"/>
              <a:t>A computer can assign a value to a piece of data</a:t>
            </a:r>
          </a:p>
          <a:p>
            <a:pPr marL="0" indent="0">
              <a:buNone/>
            </a:pPr>
            <a:r>
              <a:rPr lang="en-US" sz="2800" dirty="0"/>
              <a:t>   - to give data an initial value Initialize, Set</a:t>
            </a:r>
          </a:p>
          <a:p>
            <a:pPr marL="0" indent="0">
              <a:buNone/>
            </a:pPr>
            <a:r>
              <a:rPr lang="en-US" sz="2800" dirty="0"/>
              <a:t>  -to assign a value as a result of some processing </a:t>
            </a:r>
          </a:p>
          <a:p>
            <a:pPr marL="0" indent="0">
              <a:buNone/>
            </a:pPr>
            <a:r>
              <a:rPr lang="en-US" sz="2800" dirty="0"/>
              <a:t>                     x = 5+y</a:t>
            </a:r>
          </a:p>
          <a:p>
            <a:pPr marL="0" indent="0">
              <a:buNone/>
            </a:pPr>
            <a:r>
              <a:rPr lang="en-US" sz="2800" dirty="0"/>
              <a:t> - to keep a piece of information for later use Save, Store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840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How to Write Pseudocode Statements?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There are six basic computer operations</a:t>
            </a:r>
          </a:p>
          <a:p>
            <a:pPr marL="514350" indent="-514350">
              <a:buAutoNum type="arabicPeriod" startAt="5"/>
            </a:pPr>
            <a:r>
              <a:rPr lang="en-US" sz="2800" dirty="0"/>
              <a:t>A computer can compare two piece of information and select one of two alternative actions</a:t>
            </a:r>
          </a:p>
          <a:p>
            <a:pPr marL="0" indent="0">
              <a:buNone/>
            </a:pPr>
            <a:r>
              <a:rPr lang="en-US" dirty="0"/>
              <a:t>               IF condition THEN </a:t>
            </a:r>
          </a:p>
          <a:p>
            <a:pPr marL="0" indent="0">
              <a:buNone/>
            </a:pPr>
            <a:r>
              <a:rPr lang="en-US" dirty="0"/>
              <a:t>                  some action </a:t>
            </a:r>
          </a:p>
          <a:p>
            <a:pPr marL="0" indent="0">
              <a:buNone/>
            </a:pPr>
            <a:r>
              <a:rPr lang="en-US" dirty="0"/>
              <a:t>             ELSE alternative action </a:t>
            </a:r>
          </a:p>
          <a:p>
            <a:pPr marL="0" indent="0">
              <a:buNone/>
            </a:pPr>
            <a:r>
              <a:rPr lang="en-US" dirty="0"/>
              <a:t>       ENDIF</a:t>
            </a:r>
          </a:p>
        </p:txBody>
      </p:sp>
    </p:spTree>
    <p:extLst>
      <p:ext uri="{BB962C8B-B14F-4D97-AF65-F5344CB8AC3E}">
        <p14:creationId xmlns:p14="http://schemas.microsoft.com/office/powerpoint/2010/main" val="3610186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How to Write Pseudocode Statements?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There are six basic computer operations</a:t>
            </a:r>
          </a:p>
          <a:p>
            <a:pPr marL="514350" indent="-514350">
              <a:buAutoNum type="arabicPeriod" startAt="6"/>
            </a:pPr>
            <a:r>
              <a:rPr lang="en-US" sz="2800" dirty="0"/>
              <a:t>A computer  can repeat a group of actions</a:t>
            </a:r>
          </a:p>
          <a:p>
            <a:pPr marL="0" indent="0">
              <a:buNone/>
            </a:pPr>
            <a:r>
              <a:rPr lang="en-US" sz="2800" dirty="0"/>
              <a:t>     WHILE condition (is true) </a:t>
            </a:r>
          </a:p>
          <a:p>
            <a:pPr marL="0" indent="0">
              <a:buNone/>
            </a:pPr>
            <a:r>
              <a:rPr lang="en-US" sz="2800" dirty="0"/>
              <a:t>              some action </a:t>
            </a:r>
          </a:p>
          <a:p>
            <a:pPr marL="0" indent="0">
              <a:buNone/>
            </a:pPr>
            <a:r>
              <a:rPr lang="en-US" sz="2800" dirty="0"/>
              <a:t>   END  WHILE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33427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819" y="1899227"/>
            <a:ext cx="7992858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91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obtains two integer numbers from the user. It will print out the sum of those numbers.</a:t>
            </a:r>
          </a:p>
          <a:p>
            <a:pPr marL="0" indent="0">
              <a:buNone/>
            </a:pPr>
            <a:r>
              <a:rPr lang="en-US" dirty="0"/>
              <a:t>      Prompt the user to enter the first integer </a:t>
            </a:r>
          </a:p>
          <a:p>
            <a:pPr marL="0" indent="0">
              <a:buNone/>
            </a:pPr>
            <a:r>
              <a:rPr lang="en-US" dirty="0"/>
              <a:t>      Prompt the user to enter a second integer </a:t>
            </a:r>
          </a:p>
          <a:p>
            <a:pPr marL="0" indent="0">
              <a:buNone/>
            </a:pPr>
            <a:r>
              <a:rPr lang="en-US" dirty="0"/>
              <a:t>     Compute the sum of the two user inputs </a:t>
            </a:r>
          </a:p>
          <a:p>
            <a:pPr marL="0" indent="0">
              <a:buNone/>
            </a:pPr>
            <a:r>
              <a:rPr lang="en-US" dirty="0"/>
              <a:t>     Store the answer as  sum </a:t>
            </a:r>
          </a:p>
          <a:p>
            <a:pPr marL="0" indent="0">
              <a:buNone/>
            </a:pPr>
            <a:r>
              <a:rPr lang="en-US" dirty="0"/>
              <a:t>      Display the result </a:t>
            </a:r>
          </a:p>
        </p:txBody>
      </p:sp>
    </p:spTree>
    <p:extLst>
      <p:ext uri="{BB962C8B-B14F-4D97-AF65-F5344CB8AC3E}">
        <p14:creationId xmlns:p14="http://schemas.microsoft.com/office/powerpoint/2010/main" val="406913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1(</a:t>
            </a:r>
            <a:r>
              <a:rPr lang="en-US" dirty="0" err="1"/>
              <a:t>Pseucocode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Finding average of any three numbers</a:t>
            </a:r>
          </a:p>
          <a:p>
            <a:pPr marL="0" indent="0">
              <a:buNone/>
            </a:pPr>
            <a:r>
              <a:rPr lang="en-US" sz="2400" dirty="0"/>
              <a:t>Step 1:  Start </a:t>
            </a:r>
          </a:p>
          <a:p>
            <a:pPr marL="0" indent="0">
              <a:buNone/>
            </a:pPr>
            <a:r>
              <a:rPr lang="en-US" sz="2400" dirty="0"/>
              <a:t>Step 2:  Read values of X, Y, Z </a:t>
            </a:r>
          </a:p>
          <a:p>
            <a:pPr marL="0" indent="0">
              <a:buNone/>
            </a:pPr>
            <a:r>
              <a:rPr lang="en-US" sz="2400" dirty="0"/>
              <a:t>Step 3:   S = X + Y + Z </a:t>
            </a:r>
          </a:p>
          <a:p>
            <a:pPr marL="0" indent="0">
              <a:buNone/>
            </a:pPr>
            <a:r>
              <a:rPr lang="en-US" sz="2400" dirty="0"/>
              <a:t>Step 4:  A = S / 3 </a:t>
            </a:r>
          </a:p>
          <a:p>
            <a:pPr marL="0" indent="0">
              <a:buNone/>
            </a:pPr>
            <a:r>
              <a:rPr lang="en-US" sz="2400" dirty="0"/>
              <a:t>Step 5:  Write value of A </a:t>
            </a:r>
          </a:p>
          <a:p>
            <a:pPr marL="0" indent="0">
              <a:buNone/>
            </a:pPr>
            <a:r>
              <a:rPr lang="en-US" sz="2400" dirty="0"/>
              <a:t>Step 6:  Stop</a:t>
            </a:r>
          </a:p>
        </p:txBody>
      </p:sp>
    </p:spTree>
    <p:extLst>
      <p:ext uri="{BB962C8B-B14F-4D97-AF65-F5344CB8AC3E}">
        <p14:creationId xmlns:p14="http://schemas.microsoft.com/office/powerpoint/2010/main" val="624751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2(pseudocode)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Finding square and cube.</a:t>
            </a:r>
          </a:p>
          <a:p>
            <a:r>
              <a:rPr lang="en-US" sz="2800" dirty="0"/>
              <a:t>Step 1:  Start </a:t>
            </a:r>
          </a:p>
          <a:p>
            <a:r>
              <a:rPr lang="en-US" sz="2800" dirty="0"/>
              <a:t>Step 2:  Read value of N </a:t>
            </a:r>
          </a:p>
          <a:p>
            <a:r>
              <a:rPr lang="en-US" sz="2800" dirty="0"/>
              <a:t>Step 3:  S = N * N </a:t>
            </a:r>
          </a:p>
          <a:p>
            <a:r>
              <a:rPr lang="en-US" sz="2800" dirty="0"/>
              <a:t>Step 4:  C = S * N</a:t>
            </a:r>
          </a:p>
          <a:p>
            <a:r>
              <a:rPr lang="en-US" sz="2800" dirty="0"/>
              <a:t> Step 5:  Write values of S, C</a:t>
            </a:r>
          </a:p>
          <a:p>
            <a:r>
              <a:rPr lang="en-US" sz="2800" dirty="0"/>
              <a:t> Step 6:  Stop</a:t>
            </a:r>
          </a:p>
        </p:txBody>
      </p:sp>
    </p:spTree>
    <p:extLst>
      <p:ext uri="{BB962C8B-B14F-4D97-AF65-F5344CB8AC3E}">
        <p14:creationId xmlns:p14="http://schemas.microsoft.com/office/powerpoint/2010/main" val="169818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3(pseudocode)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Finding biggest of two numbers.</a:t>
            </a:r>
          </a:p>
          <a:p>
            <a:r>
              <a:rPr lang="en-US" sz="2800" dirty="0"/>
              <a:t>Step 1: Start</a:t>
            </a:r>
          </a:p>
          <a:p>
            <a:r>
              <a:rPr lang="en-US" sz="2800" dirty="0"/>
              <a:t> Step 2:  Read A, B </a:t>
            </a:r>
          </a:p>
          <a:p>
            <a:r>
              <a:rPr lang="en-US" sz="2800" dirty="0"/>
              <a:t>Step 3:  If A &gt; B, then BIG = A, otherwise BIG = B </a:t>
            </a:r>
          </a:p>
          <a:p>
            <a:r>
              <a:rPr lang="en-US" sz="2800" dirty="0"/>
              <a:t>Step 4:  Write BIG </a:t>
            </a:r>
          </a:p>
          <a:p>
            <a:r>
              <a:rPr lang="en-US" sz="2800" dirty="0"/>
              <a:t>Step 5:  Stop</a:t>
            </a:r>
          </a:p>
        </p:txBody>
      </p:sp>
    </p:spTree>
    <p:extLst>
      <p:ext uri="{BB962C8B-B14F-4D97-AF65-F5344CB8AC3E}">
        <p14:creationId xmlns:p14="http://schemas.microsoft.com/office/powerpoint/2010/main" val="2982017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4(pseudocode)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Calculate pay.</a:t>
            </a:r>
          </a:p>
          <a:p>
            <a:r>
              <a:rPr lang="en-US" sz="2800" dirty="0"/>
              <a:t>Step 1: Start</a:t>
            </a:r>
          </a:p>
          <a:p>
            <a:r>
              <a:rPr lang="en-US" sz="2800" dirty="0"/>
              <a:t> Step 2:  Input hours </a:t>
            </a:r>
          </a:p>
          <a:p>
            <a:r>
              <a:rPr lang="en-US" sz="2800" dirty="0"/>
              <a:t>Step 3:  Input rate </a:t>
            </a:r>
          </a:p>
          <a:p>
            <a:r>
              <a:rPr lang="en-US" sz="2800" dirty="0"/>
              <a:t>Step 4: pay = hours * rate </a:t>
            </a:r>
          </a:p>
          <a:p>
            <a:r>
              <a:rPr lang="en-US" sz="2800" dirty="0"/>
              <a:t>Step 5: Print pay </a:t>
            </a:r>
          </a:p>
          <a:p>
            <a:r>
              <a:rPr lang="en-US" sz="2800" dirty="0"/>
              <a:t>Step 6: End</a:t>
            </a:r>
          </a:p>
        </p:txBody>
      </p:sp>
    </p:spTree>
    <p:extLst>
      <p:ext uri="{BB962C8B-B14F-4D97-AF65-F5344CB8AC3E}">
        <p14:creationId xmlns:p14="http://schemas.microsoft.com/office/powerpoint/2010/main" val="252971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flowchart is a graphical representation of an algorithm. </a:t>
            </a:r>
          </a:p>
          <a:p>
            <a:pPr algn="just"/>
            <a:r>
              <a:rPr lang="en-US" sz="2400" dirty="0"/>
              <a:t>These flowcharts play a vital role in the programming of a problem and are quite helpful in understanding the logic of complicated and lengthy problems. </a:t>
            </a:r>
          </a:p>
          <a:p>
            <a:pPr algn="just"/>
            <a:r>
              <a:rPr lang="en-US" sz="2400" dirty="0"/>
              <a:t>Once the flowchart is drawn, it becomes easy to write the program in any high level language.</a:t>
            </a:r>
          </a:p>
        </p:txBody>
      </p:sp>
    </p:spTree>
    <p:extLst>
      <p:ext uri="{BB962C8B-B14F-4D97-AF65-F5344CB8AC3E}">
        <p14:creationId xmlns:p14="http://schemas.microsoft.com/office/powerpoint/2010/main" val="3911755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5"/>
            <a:ext cx="10025983" cy="326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75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flowchart can therefore be used to: </a:t>
            </a:r>
          </a:p>
          <a:p>
            <a:pPr marL="0" indent="0" algn="just">
              <a:buNone/>
            </a:pPr>
            <a:r>
              <a:rPr lang="en-US" sz="2400" dirty="0"/>
              <a:t>	– Define and analyze processes </a:t>
            </a:r>
          </a:p>
          <a:p>
            <a:pPr marL="0" indent="0" algn="just">
              <a:buNone/>
            </a:pPr>
            <a:r>
              <a:rPr lang="en-US" sz="2400" dirty="0"/>
              <a:t>	– Build a step-by-step picture of the process for analysis, discussion, or communication </a:t>
            </a:r>
          </a:p>
          <a:p>
            <a:pPr marL="0" indent="0" algn="just">
              <a:buNone/>
            </a:pPr>
            <a:r>
              <a:rPr lang="en-US" sz="2400" dirty="0"/>
              <a:t>	– Define, standardize or find areas for improvement in a process</a:t>
            </a:r>
          </a:p>
        </p:txBody>
      </p:sp>
    </p:spTree>
    <p:extLst>
      <p:ext uri="{BB962C8B-B14F-4D97-AF65-F5344CB8AC3E}">
        <p14:creationId xmlns:p14="http://schemas.microsoft.com/office/powerpoint/2010/main" val="761481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Symbols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/>
              <a:t>Start and end symbols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Represented as ovals or rounded rectangles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Usually containing the word “</a:t>
            </a:r>
            <a:r>
              <a:rPr lang="en-US" sz="2800" b="1" dirty="0"/>
              <a:t>Star:</a:t>
            </a:r>
            <a:r>
              <a:rPr lang="en-US" sz="2800" dirty="0"/>
              <a:t>” or “</a:t>
            </a:r>
            <a:r>
              <a:rPr lang="en-US" sz="2800" b="1" dirty="0"/>
              <a:t>End</a:t>
            </a:r>
            <a:r>
              <a:rPr lang="en-US" sz="2800" dirty="0"/>
              <a:t>”, or another phrase signaling the start or end of a process, such as “</a:t>
            </a:r>
            <a:r>
              <a:rPr lang="en-US" sz="2800" b="1" dirty="0"/>
              <a:t>submit enquiry</a:t>
            </a:r>
            <a:r>
              <a:rPr lang="en-US" sz="2800" dirty="0"/>
              <a:t>” or “</a:t>
            </a:r>
            <a:r>
              <a:rPr lang="en-US" sz="2800" b="1" dirty="0"/>
              <a:t>receive product</a:t>
            </a:r>
            <a:r>
              <a:rPr lang="en-US" sz="2800" dirty="0"/>
              <a:t>”.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97" y="2601468"/>
            <a:ext cx="27527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01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Symbols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/>
              <a:t>Arrows  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Showing what's called "flow of control" in computer science.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An arrow coming from one symbol and ending at another symbol.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Represents that control passes to the symbol the arrow points to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011" y="2261997"/>
            <a:ext cx="12382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79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Symbols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/>
              <a:t>Processing steps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/>
              <a:t>Represented as rectangles.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/>
              <a:t>Examples: “Add 1 to X"; "replace identified part"; "save changes" or similar.</a:t>
            </a:r>
          </a:p>
          <a:p>
            <a:pPr marL="0" indent="0">
              <a:buNone/>
            </a:pPr>
            <a:r>
              <a:rPr lang="en-US" sz="2800" b="1" dirty="0"/>
              <a:t> 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63" y="2701671"/>
            <a:ext cx="218122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44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Symbols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/>
              <a:t>Input/output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Represented as a parallelogram.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Examples:  Get X from the user; display X.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 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315" y="2641473"/>
            <a:ext cx="34004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24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Symbols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/>
              <a:t>Conditional or decision</a:t>
            </a:r>
          </a:p>
          <a:p>
            <a:pPr marL="0" indent="0">
              <a:buNone/>
            </a:pPr>
            <a:endParaRPr lang="en-US" sz="2800" b="1" dirty="0"/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q"/>
            </a:pPr>
            <a:endParaRPr lang="en-US" sz="28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 Represented as a diamond (rhombus).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/>
              <a:t>These typically contain a Yes/No question or True/False test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 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148" y="2580132"/>
            <a:ext cx="40386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63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Flowcharts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/>
              <a:t>Communication: </a:t>
            </a:r>
            <a:r>
              <a:rPr lang="en-US" sz="2400" dirty="0"/>
              <a:t>Flowcharts are better way of communicating the logic of a system to all concerned. </a:t>
            </a:r>
          </a:p>
          <a:p>
            <a:pPr algn="just"/>
            <a:r>
              <a:rPr lang="en-US" sz="2400" dirty="0"/>
              <a:t> </a:t>
            </a:r>
            <a:r>
              <a:rPr lang="en-US" sz="2400" b="1" dirty="0"/>
              <a:t>Effective analysis: </a:t>
            </a:r>
            <a:r>
              <a:rPr lang="en-US" sz="2400" dirty="0"/>
              <a:t>With the help of flowchart, problem can be analyzed in more effective way. </a:t>
            </a:r>
          </a:p>
          <a:p>
            <a:pPr algn="just"/>
            <a:r>
              <a:rPr lang="en-US" sz="2400" dirty="0"/>
              <a:t> </a:t>
            </a:r>
            <a:r>
              <a:rPr lang="en-US" sz="2400" b="1" dirty="0"/>
              <a:t>Proper documentation</a:t>
            </a:r>
            <a:r>
              <a:rPr lang="en-US" sz="2400" dirty="0"/>
              <a:t>: Program flowcharts serve as a good program documentation, which is needed for various purposes. </a:t>
            </a:r>
          </a:p>
          <a:p>
            <a:pPr algn="just"/>
            <a:r>
              <a:rPr lang="en-US" sz="2400" b="1" dirty="0"/>
              <a:t> Efficient Coding: </a:t>
            </a:r>
            <a:r>
              <a:rPr lang="en-US" sz="2400" dirty="0"/>
              <a:t>The flowcharts act as a guide or blueprint during the systems analysis and program development phase.</a:t>
            </a:r>
          </a:p>
        </p:txBody>
      </p:sp>
    </p:spTree>
    <p:extLst>
      <p:ext uri="{BB962C8B-B14F-4D97-AF65-F5344CB8AC3E}">
        <p14:creationId xmlns:p14="http://schemas.microsoft.com/office/powerpoint/2010/main" val="2091050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Flowcharts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1" dirty="0"/>
              <a:t>Proper Debugging: </a:t>
            </a:r>
            <a:r>
              <a:rPr lang="en-US" sz="2800" dirty="0"/>
              <a:t>The flowchart helps in debugging process. </a:t>
            </a:r>
          </a:p>
          <a:p>
            <a:pPr algn="just"/>
            <a:r>
              <a:rPr lang="en-US" sz="2800" dirty="0"/>
              <a:t> </a:t>
            </a:r>
            <a:r>
              <a:rPr lang="en-US" sz="2800" b="1" dirty="0"/>
              <a:t>Efficient Program Maintenance: </a:t>
            </a:r>
            <a:r>
              <a:rPr lang="en-US" sz="2800" dirty="0"/>
              <a:t>The maintenance of operating program becomes easy with the help of flowchart. It helps the programmer to put efforts more efficiently on that part.</a:t>
            </a:r>
          </a:p>
        </p:txBody>
      </p:sp>
    </p:spTree>
    <p:extLst>
      <p:ext uri="{BB962C8B-B14F-4D97-AF65-F5344CB8AC3E}">
        <p14:creationId xmlns:p14="http://schemas.microsoft.com/office/powerpoint/2010/main" val="7253258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2191" y="1659081"/>
            <a:ext cx="7266100" cy="456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02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433"/>
          <a:stretch/>
        </p:blipFill>
        <p:spPr>
          <a:xfrm>
            <a:off x="3703782" y="772390"/>
            <a:ext cx="2955636" cy="536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254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437" y="2093976"/>
            <a:ext cx="799147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483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7725" y="2289175"/>
            <a:ext cx="7962900" cy="3714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79" y="936625"/>
            <a:ext cx="30289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840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example 1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Algorithm:</a:t>
            </a:r>
          </a:p>
          <a:p>
            <a:r>
              <a:rPr lang="en-US" dirty="0"/>
              <a:t>Input: two numbers x and y </a:t>
            </a:r>
          </a:p>
          <a:p>
            <a:r>
              <a:rPr lang="en-US" dirty="0"/>
              <a:t>Output: the average of x and y </a:t>
            </a:r>
          </a:p>
          <a:p>
            <a:pPr marL="0" indent="0">
              <a:buNone/>
            </a:pPr>
            <a:r>
              <a:rPr lang="en-US" dirty="0"/>
              <a:t>     Steps: </a:t>
            </a:r>
          </a:p>
          <a:p>
            <a:pPr marL="0" indent="0">
              <a:buNone/>
            </a:pPr>
            <a:r>
              <a:rPr lang="en-US" dirty="0"/>
              <a:t>       1. input x </a:t>
            </a:r>
          </a:p>
          <a:p>
            <a:pPr marL="0" indent="0">
              <a:buNone/>
            </a:pPr>
            <a:r>
              <a:rPr lang="en-US" dirty="0"/>
              <a:t>       2. input y </a:t>
            </a:r>
          </a:p>
          <a:p>
            <a:pPr marL="0" indent="0">
              <a:buNone/>
            </a:pPr>
            <a:r>
              <a:rPr lang="en-US" dirty="0"/>
              <a:t>       3. sum = x + y </a:t>
            </a:r>
          </a:p>
          <a:p>
            <a:pPr marL="0" indent="0">
              <a:buNone/>
            </a:pPr>
            <a:r>
              <a:rPr lang="en-US" dirty="0"/>
              <a:t>      4. average = sum /2 </a:t>
            </a:r>
          </a:p>
          <a:p>
            <a:pPr marL="0" indent="0">
              <a:buNone/>
            </a:pPr>
            <a:r>
              <a:rPr lang="en-US" dirty="0"/>
              <a:t>       5. output average</a:t>
            </a:r>
          </a:p>
        </p:txBody>
      </p:sp>
    </p:spTree>
    <p:extLst>
      <p:ext uri="{BB962C8B-B14F-4D97-AF65-F5344CB8AC3E}">
        <p14:creationId xmlns:p14="http://schemas.microsoft.com/office/powerpoint/2010/main" val="2165407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6919" y="828547"/>
            <a:ext cx="4479001" cy="525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64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Draw a flowchart to find the</a:t>
            </a:r>
          </a:p>
          <a:p>
            <a:pPr marL="0" indent="0" algn="just">
              <a:buNone/>
            </a:pPr>
            <a:r>
              <a:rPr lang="en-US" dirty="0"/>
              <a:t> largest of three </a:t>
            </a:r>
          </a:p>
          <a:p>
            <a:pPr marL="0" indent="0" algn="just">
              <a:buNone/>
            </a:pPr>
            <a:r>
              <a:rPr lang="en-US" dirty="0"/>
              <a:t>numbers A, B, and C.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2" y="942213"/>
            <a:ext cx="695706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66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a Pseudocode for these problems</a:t>
                </a:r>
              </a:p>
              <a:p>
                <a:pPr marL="457200" indent="-457200">
                  <a:buAutoNum type="arabicPeriod"/>
                </a:pPr>
                <a:r>
                  <a:rPr lang="en-US" dirty="0"/>
                  <a:t>S = (A + B + C) / Y</a:t>
                </a:r>
              </a:p>
              <a:p>
                <a:pPr marL="457200" indent="-457200">
                  <a:buAutoNum type="arabicPeriod"/>
                </a:pPr>
                <a:r>
                  <a:rPr lang="en-US" dirty="0"/>
                  <a:t> Convert from Celsius to Fahrenheit (</a:t>
                </a:r>
                <a:r>
                  <a:rPr lang="en-US" sz="1800" dirty="0"/>
                  <a:t>Multiply by 9, then divide by 5, then add 32 )</a:t>
                </a:r>
              </a:p>
              <a:p>
                <a:pPr marL="457200" indent="-457200">
                  <a:buAutoNum type="arabicPeriod"/>
                </a:pPr>
                <a:r>
                  <a:rPr lang="en-US" dirty="0"/>
                  <a:t> Area of Circle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marL="457200" indent="-457200">
                  <a:buAutoNum type="arabicPeriod"/>
                </a:pPr>
                <a:r>
                  <a:rPr lang="en-US" dirty="0"/>
                  <a:t>Volume of Sphere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l-GR" i="1" dirty="0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marL="457200" indent="-457200">
                  <a:buAutoNum type="arabicPeriod"/>
                </a:pPr>
                <a:r>
                  <a:rPr lang="en-US" dirty="0"/>
                  <a:t>Average speed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𝐷𝑖𝑠𝑡𝑎𝑛𝑐𝑒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𝑇𝑟𝑎𝑣𝑒𝑙𝑒𝑑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𝑇𝑖𝑚𝑒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𝑡𝑎𝑘𝑒𝑛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4" t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037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025701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288</TotalTime>
  <Words>1610</Words>
  <Application>Microsoft Office PowerPoint</Application>
  <PresentationFormat>Widescreen</PresentationFormat>
  <Paragraphs>204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Cambria Math</vt:lpstr>
      <vt:lpstr>Rockwell</vt:lpstr>
      <vt:lpstr>Rockwell Condensed</vt:lpstr>
      <vt:lpstr>Wingdings</vt:lpstr>
      <vt:lpstr>Wood Type</vt:lpstr>
      <vt:lpstr>Principles of programming</vt:lpstr>
      <vt:lpstr>Contents</vt:lpstr>
      <vt:lpstr>Levels of program development</vt:lpstr>
      <vt:lpstr>Levels of program development</vt:lpstr>
      <vt:lpstr>Algorithms</vt:lpstr>
      <vt:lpstr>Algorithms</vt:lpstr>
      <vt:lpstr>Steps involved in algorithm development</vt:lpstr>
      <vt:lpstr>Steps involved in algorithm development</vt:lpstr>
      <vt:lpstr>Steps involved in algorithm development</vt:lpstr>
      <vt:lpstr>Steps involved in algorithm development</vt:lpstr>
      <vt:lpstr>PowerPoint Presentation</vt:lpstr>
      <vt:lpstr>EXAMPLE (HOW TO EAT A BANANA)</vt:lpstr>
      <vt:lpstr>Algorithms</vt:lpstr>
      <vt:lpstr>Pseudocode</vt:lpstr>
      <vt:lpstr>Pseudocode</vt:lpstr>
      <vt:lpstr>Why is Pseudocode Necessary?</vt:lpstr>
      <vt:lpstr>How to Write Pseudocode Statements?</vt:lpstr>
      <vt:lpstr>How to Write Pseudocode Statements?</vt:lpstr>
      <vt:lpstr>How to Write Pseudocode Statements?</vt:lpstr>
      <vt:lpstr>How to Write Pseudocode Statements?</vt:lpstr>
      <vt:lpstr>How to Write Pseudocode Statements?</vt:lpstr>
      <vt:lpstr>Example</vt:lpstr>
      <vt:lpstr>Example </vt:lpstr>
      <vt:lpstr>Example 1(Pseucocode)</vt:lpstr>
      <vt:lpstr>Example 2(pseudocode)</vt:lpstr>
      <vt:lpstr>Example 3(pseudocode)</vt:lpstr>
      <vt:lpstr>Example 4(pseudocode)</vt:lpstr>
      <vt:lpstr>Flowchart</vt:lpstr>
      <vt:lpstr>Flowchart</vt:lpstr>
      <vt:lpstr>Flowchart</vt:lpstr>
      <vt:lpstr>Flowchart Symbols </vt:lpstr>
      <vt:lpstr>Flowchart Symbols </vt:lpstr>
      <vt:lpstr>Flowchart Symbols </vt:lpstr>
      <vt:lpstr>Flowchart Symbols </vt:lpstr>
      <vt:lpstr>Flowchart Symbols </vt:lpstr>
      <vt:lpstr>Advantages of Using Flowcharts </vt:lpstr>
      <vt:lpstr>Advantages of Using Flowcharts </vt:lpstr>
      <vt:lpstr>Example</vt:lpstr>
      <vt:lpstr>PowerPoint Presentation</vt:lpstr>
      <vt:lpstr>Example</vt:lpstr>
      <vt:lpstr>Solution</vt:lpstr>
      <vt:lpstr> example 1 </vt:lpstr>
      <vt:lpstr>Flow chart</vt:lpstr>
      <vt:lpstr>Example 2</vt:lpstr>
      <vt:lpstr>Exercise</vt:lpstr>
      <vt:lpstr>end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Siphael Betuel</dc:creator>
  <cp:lastModifiedBy>Jospeter Jonathan</cp:lastModifiedBy>
  <cp:revision>50</cp:revision>
  <dcterms:created xsi:type="dcterms:W3CDTF">2021-01-02T07:36:30Z</dcterms:created>
  <dcterms:modified xsi:type="dcterms:W3CDTF">2026-01-12T10:44:11Z</dcterms:modified>
</cp:coreProperties>
</file>